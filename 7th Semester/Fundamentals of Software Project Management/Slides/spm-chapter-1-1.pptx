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6858000" cx="9144000"/>
  <p:notesSz cx="6858000" cy="9144000"/>
  <p:embeddedFontLst>
    <p:embeddedFont>
      <p:font typeface="Tahoma"/>
      <p:regular r:id="rId64"/>
      <p:bold r:id="rId65"/>
    </p:embeddedFont>
    <p:embeddedFont>
      <p:font typeface="Book Antiqua"/>
      <p:regular r:id="rId66"/>
      <p:bold r:id="rId67"/>
      <p:italic r:id="rId68"/>
      <p:boldItalic r:id="rId69"/>
    </p:embeddedFont>
    <p:embeddedFont>
      <p:font typeface="Helvetica Neue"/>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64">
          <p15:clr>
            <a:srgbClr val="A4A3A4"/>
          </p15:clr>
        </p15:guide>
      </p15:sldGuideLst>
    </p:ext>
    <p:ext uri="GoogleSlidesCustomDataVersion2">
      <go:slidesCustomData xmlns:go="http://customooxmlschemas.google.com/" r:id="rId74" roundtripDataSignature="AMtx7mh+Txw6MxZ8gyz4CsT6Z1wpY2Ea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6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HelveticaNeue-boldItalic.fntdata"/><Relationship Id="rId72" Type="http://schemas.openxmlformats.org/officeDocument/2006/relationships/font" Target="fonts/HelveticaNeue-italic.fntdata"/><Relationship Id="rId31" Type="http://schemas.openxmlformats.org/officeDocument/2006/relationships/slide" Target="slides/slide25.xml"/><Relationship Id="rId30" Type="http://schemas.openxmlformats.org/officeDocument/2006/relationships/slide" Target="slides/slide24.xml"/><Relationship Id="rId74" Type="http://customschemas.google.com/relationships/presentationmetadata" Target="meta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HelveticaNeue-bold.fntdata"/><Relationship Id="rId70" Type="http://schemas.openxmlformats.org/officeDocument/2006/relationships/font" Target="fonts/HelveticaNeue-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Tahoma-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BookAntiqua-regular.fntdata"/><Relationship Id="rId21" Type="http://schemas.openxmlformats.org/officeDocument/2006/relationships/slide" Target="slides/slide15.xml"/><Relationship Id="rId65" Type="http://schemas.openxmlformats.org/officeDocument/2006/relationships/font" Target="fonts/Tahoma-bold.fntdata"/><Relationship Id="rId24" Type="http://schemas.openxmlformats.org/officeDocument/2006/relationships/slide" Target="slides/slide18.xml"/><Relationship Id="rId68" Type="http://schemas.openxmlformats.org/officeDocument/2006/relationships/font" Target="fonts/BookAntiqua-italic.fntdata"/><Relationship Id="rId23" Type="http://schemas.openxmlformats.org/officeDocument/2006/relationships/slide" Target="slides/slide17.xml"/><Relationship Id="rId67" Type="http://schemas.openxmlformats.org/officeDocument/2006/relationships/font" Target="fonts/BookAntiqua-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BookAntiqua-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7" name="Google Shape;12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140" name="Google Shape;14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41" name="Google Shape;14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None/>
            </a:pPr>
            <a:r>
              <a:t/>
            </a:r>
            <a:endParaRPr/>
          </a:p>
          <a:p>
            <a:pPr indent="-228600" lvl="0" marL="228600" rtl="0" algn="l">
              <a:spcBef>
                <a:spcPts val="36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183" name="Google Shape;18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4" name="Google Shape;18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None/>
            </a:pPr>
            <a:r>
              <a:rPr lang="en-US"/>
              <a:t>The two key questions are:</a:t>
            </a:r>
            <a:endParaRPr/>
          </a:p>
          <a:p>
            <a:pPr indent="-228600" lvl="0" marL="228600" rtl="0" algn="l">
              <a:spcBef>
                <a:spcPts val="360"/>
              </a:spcBef>
              <a:spcAft>
                <a:spcPts val="0"/>
              </a:spcAft>
              <a:buClr>
                <a:schemeClr val="dk1"/>
              </a:buClr>
              <a:buSzPts val="1200"/>
              <a:buFont typeface="Arial"/>
              <a:buAutoNum type="arabicPeriod"/>
            </a:pPr>
            <a:r>
              <a:rPr lang="en-US"/>
              <a:t>What exactly is software project management?</a:t>
            </a:r>
            <a:endParaRPr/>
          </a:p>
          <a:p>
            <a:pPr indent="-228600" lvl="0" marL="228600" rtl="0" algn="l">
              <a:spcBef>
                <a:spcPts val="360"/>
              </a:spcBef>
              <a:spcAft>
                <a:spcPts val="0"/>
              </a:spcAft>
              <a:buNone/>
            </a:pPr>
            <a:r>
              <a:rPr lang="en-US"/>
              <a:t>This is going to be tackled by looking firstly at what is meant by ‘project’. We are then going to examine whether ‘software project management’ is really different from ‘normal’ project management. Is there anything special about software as opposed to other engineered artefacts?</a:t>
            </a:r>
            <a:endParaRPr/>
          </a:p>
          <a:p>
            <a:pPr indent="-228600" lvl="0" marL="228600" rtl="0" algn="l">
              <a:spcBef>
                <a:spcPts val="360"/>
              </a:spcBef>
              <a:spcAft>
                <a:spcPts val="0"/>
              </a:spcAft>
              <a:buNone/>
            </a:pPr>
            <a:r>
              <a:t/>
            </a:r>
            <a:endParaRPr/>
          </a:p>
          <a:p>
            <a:pPr indent="-228600" lvl="0" marL="228600" rtl="0" algn="l">
              <a:spcBef>
                <a:spcPts val="360"/>
              </a:spcBef>
              <a:spcAft>
                <a:spcPts val="0"/>
              </a:spcAft>
              <a:buNone/>
            </a:pPr>
            <a:r>
              <a:rPr lang="en-US"/>
              <a:t>2. How do we define whether a project is a success or not?</a:t>
            </a:r>
            <a:endParaRPr/>
          </a:p>
          <a:p>
            <a:pPr indent="-228600" lvl="0" marL="228600" rtl="0" algn="l">
              <a:spcBef>
                <a:spcPts val="360"/>
              </a:spcBef>
              <a:spcAft>
                <a:spcPts val="0"/>
              </a:spcAft>
              <a:buNone/>
            </a:pPr>
            <a:r>
              <a:rPr lang="en-US"/>
              <a:t>The point about studying project management is to be able to have successful projects. So how do we know if we have been successful?</a:t>
            </a:r>
            <a:endParaRPr/>
          </a:p>
          <a:p>
            <a:pPr indent="-228600" lvl="0" marL="228600" rtl="0" algn="l">
              <a:spcBef>
                <a:spcPts val="360"/>
              </a:spcBef>
              <a:spcAft>
                <a:spcPts val="0"/>
              </a:spcAft>
              <a:buNone/>
            </a:pPr>
            <a:r>
              <a:t/>
            </a:r>
            <a:endParaRPr/>
          </a:p>
          <a:p>
            <a:pPr indent="-228600" lvl="0" marL="228600" rtl="0" algn="l">
              <a:spcBef>
                <a:spcPts val="36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91" name="Google Shape;19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2" name="Google Shape;19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None/>
            </a:pPr>
            <a:r>
              <a:rPr lang="en-US"/>
              <a:t>The two key questions are:</a:t>
            </a:r>
            <a:endParaRPr/>
          </a:p>
          <a:p>
            <a:pPr indent="-228600" lvl="0" marL="228600" rtl="0" algn="l">
              <a:spcBef>
                <a:spcPts val="360"/>
              </a:spcBef>
              <a:spcAft>
                <a:spcPts val="0"/>
              </a:spcAft>
              <a:buClr>
                <a:schemeClr val="dk1"/>
              </a:buClr>
              <a:buSzPts val="1200"/>
              <a:buFont typeface="Arial"/>
              <a:buAutoNum type="arabicPeriod"/>
            </a:pPr>
            <a:r>
              <a:rPr lang="en-US"/>
              <a:t>What exactly is software project management?</a:t>
            </a:r>
            <a:endParaRPr/>
          </a:p>
          <a:p>
            <a:pPr indent="-228600" lvl="0" marL="228600" rtl="0" algn="l">
              <a:spcBef>
                <a:spcPts val="360"/>
              </a:spcBef>
              <a:spcAft>
                <a:spcPts val="0"/>
              </a:spcAft>
              <a:buNone/>
            </a:pPr>
            <a:r>
              <a:rPr lang="en-US"/>
              <a:t>This is going to be tackled by looking firstly at what is meant by ‘project’. We are then going to examine whether ‘software project management’ is really different from ‘normal’ project management. Is there anything special about software as opposed to other engineered artefacts?</a:t>
            </a:r>
            <a:endParaRPr/>
          </a:p>
          <a:p>
            <a:pPr indent="-228600" lvl="0" marL="228600" rtl="0" algn="l">
              <a:spcBef>
                <a:spcPts val="360"/>
              </a:spcBef>
              <a:spcAft>
                <a:spcPts val="0"/>
              </a:spcAft>
              <a:buNone/>
            </a:pPr>
            <a:r>
              <a:t/>
            </a:r>
            <a:endParaRPr/>
          </a:p>
          <a:p>
            <a:pPr indent="-228600" lvl="0" marL="228600" rtl="0" algn="l">
              <a:spcBef>
                <a:spcPts val="360"/>
              </a:spcBef>
              <a:spcAft>
                <a:spcPts val="0"/>
              </a:spcAft>
              <a:buNone/>
            </a:pPr>
            <a:r>
              <a:rPr lang="en-US"/>
              <a:t>2. How do we define whether a project is a success or not?</a:t>
            </a:r>
            <a:endParaRPr/>
          </a:p>
          <a:p>
            <a:pPr indent="-228600" lvl="0" marL="228600" rtl="0" algn="l">
              <a:spcBef>
                <a:spcPts val="360"/>
              </a:spcBef>
              <a:spcAft>
                <a:spcPts val="0"/>
              </a:spcAft>
              <a:buNone/>
            </a:pPr>
            <a:r>
              <a:rPr lang="en-US"/>
              <a:t>The point about studying project management is to be able to have successful projects. So how do we know if we have been successful?</a:t>
            </a:r>
            <a:endParaRPr/>
          </a:p>
          <a:p>
            <a:pPr indent="-228600" lvl="0" marL="228600" rtl="0" algn="l">
              <a:spcBef>
                <a:spcPts val="360"/>
              </a:spcBef>
              <a:spcAft>
                <a:spcPts val="0"/>
              </a:spcAft>
              <a:buNone/>
            </a:pPr>
            <a:r>
              <a:t/>
            </a:r>
            <a:endParaRPr/>
          </a:p>
          <a:p>
            <a:pPr indent="-228600" lvl="0" marL="228600" rtl="0" algn="l">
              <a:spcBef>
                <a:spcPts val="36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9" name="Google Shape;19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 name="Google Shape;20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 name="Google Shape;21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7" name="Google Shape;21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5" name="Google Shape;23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41" name="Google Shape;24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8" name="Google Shape;24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4" name="Google Shape;25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0" name="Google Shape;26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6" name="Google Shape;26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2" name="Google Shape;27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278" name="Google Shape;27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79" name="Google Shape;27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are some definitions of ‘project’. No doubt there are other ones: for example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‘Unique process, consisting of a set of coordinated and controlled activities with start and finish dates, undertaken to achieve an objective conforming to specific requirements, including constraints of time, cost and resources’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BSO ISO 10006: 1997</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286" name="Google Shape;28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87" name="Google Shape;28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 the one hand there are repetitive jobs a similar task is carried out repeatedly, for example Kwikfit replacing a tyre on a car or a lecturer giving an introductory talk on project management. The task is well-defined and there is very little uncertainty. In some organizations, software development might tend to be like this – in these environments software </a:t>
            </a:r>
            <a:r>
              <a:rPr i="1" lang="en-US"/>
              <a:t>process</a:t>
            </a:r>
            <a:r>
              <a:rPr lang="en-US"/>
              <a:t> management might be more important than software </a:t>
            </a:r>
            <a:r>
              <a:rPr i="1" lang="en-US"/>
              <a:t>project </a:t>
            </a:r>
            <a:r>
              <a:rPr lang="en-US"/>
              <a:t>management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other hand some exploratory activities are very uncertain. Some research projects can be like this – we may not be sure what the outcome will be, but we hope that we will learn some things of importance. It may be very difficult to come up with precise plans, although we would probably have some idea of a general approach.</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Projects seem to come somewhere between these two extremes. There are usually well-defined hoped-for outcomes but there are risks and uncertainties about achieving those outcomes.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5" name="Google Shape;29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02" name="Google Shape;302;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3" name="Google Shape;303;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9" name="Google Shape;30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15" name="Google Shape;31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16" name="Google Shape;31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based on Fred Brooks’ paper </a:t>
            </a:r>
            <a:r>
              <a:rPr i="1" lang="en-US"/>
              <a:t>No Silver Bullet: Essence and Accidents of Software Engineering </a:t>
            </a:r>
            <a:r>
              <a:rPr lang="en-US"/>
              <a:t>which appeared in IEEE Computer 20(4) pp10-19 April 1987</a:t>
            </a:r>
            <a:endParaRPr i="1"/>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23" name="Google Shape;32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24" name="Google Shape;32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rtl="0" algn="just">
              <a:spcBef>
                <a:spcPts val="0"/>
              </a:spcBef>
              <a:spcAft>
                <a:spcPts val="0"/>
              </a:spcAft>
              <a:buNone/>
            </a:pPr>
            <a:r>
              <a:rPr lang="en-US"/>
              <a:t>There are twAssesses whether a project is worth starting</a:t>
            </a:r>
            <a:endParaRPr/>
          </a:p>
          <a:p>
            <a:pPr indent="0" lvl="1" marL="457200" rtl="0" algn="just">
              <a:spcBef>
                <a:spcPts val="360"/>
              </a:spcBef>
              <a:spcAft>
                <a:spcPts val="0"/>
              </a:spcAft>
              <a:buNone/>
            </a:pPr>
            <a:r>
              <a:rPr lang="en-US"/>
              <a:t>Information is gathered about the requirements of the proposed application and this process can be complex and difficult.</a:t>
            </a:r>
            <a:endParaRPr/>
          </a:p>
          <a:p>
            <a:pPr indent="0" lvl="1" marL="457200" rtl="0" algn="just">
              <a:spcBef>
                <a:spcPts val="360"/>
              </a:spcBef>
              <a:spcAft>
                <a:spcPts val="0"/>
              </a:spcAft>
              <a:buNone/>
            </a:pPr>
            <a:r>
              <a:rPr lang="en-US"/>
              <a:t>Developmental and operational costs are estimated</a:t>
            </a:r>
            <a:endParaRPr/>
          </a:p>
          <a:p>
            <a:pPr indent="0" lvl="1" marL="457200" rtl="0" algn="just">
              <a:spcBef>
                <a:spcPts val="360"/>
              </a:spcBef>
              <a:spcAft>
                <a:spcPts val="0"/>
              </a:spcAft>
              <a:buNone/>
            </a:pPr>
            <a:r>
              <a:rPr lang="en-US"/>
              <a:t>Benefits of new systems will be estimated</a:t>
            </a:r>
            <a:endParaRPr/>
          </a:p>
          <a:p>
            <a:pPr indent="-228600" lvl="0" marL="228600" rtl="0" algn="l">
              <a:spcBef>
                <a:spcPts val="360"/>
              </a:spcBef>
              <a:spcAft>
                <a:spcPts val="0"/>
              </a:spcAft>
              <a:buNone/>
            </a:pPr>
            <a:r>
              <a:rPr lang="en-US"/>
              <a:t>o key points here.</a:t>
            </a:r>
            <a:endParaRPr/>
          </a:p>
          <a:p>
            <a:pPr indent="0" lvl="0" marL="0" rtl="0" algn="just">
              <a:spcBef>
                <a:spcPts val="360"/>
              </a:spcBef>
              <a:spcAft>
                <a:spcPts val="0"/>
              </a:spcAft>
              <a:buNone/>
            </a:pPr>
            <a:r>
              <a:rPr lang="en-US"/>
              <a:t>Planning</a:t>
            </a:r>
            <a:endParaRPr/>
          </a:p>
          <a:p>
            <a:pPr indent="0" lvl="1" marL="457200" rtl="0" algn="just">
              <a:spcBef>
                <a:spcPts val="360"/>
              </a:spcBef>
              <a:spcAft>
                <a:spcPts val="0"/>
              </a:spcAft>
              <a:buNone/>
            </a:pPr>
            <a:r>
              <a:rPr lang="en-US"/>
              <a:t>If feasibility study indicates the project as worthy, planning starts</a:t>
            </a:r>
            <a:endParaRPr/>
          </a:p>
          <a:p>
            <a:pPr indent="0" lvl="1" marL="457200" rtl="0" algn="just">
              <a:spcBef>
                <a:spcPts val="360"/>
              </a:spcBef>
              <a:spcAft>
                <a:spcPts val="0"/>
              </a:spcAft>
              <a:buNone/>
            </a:pPr>
            <a:r>
              <a:rPr lang="en-US"/>
              <a:t>Normally a complete detailed plan is created for smaller projects.</a:t>
            </a:r>
            <a:endParaRPr/>
          </a:p>
          <a:p>
            <a:pPr indent="0" lvl="1" marL="457200" rtl="0" algn="just">
              <a:spcBef>
                <a:spcPts val="360"/>
              </a:spcBef>
              <a:spcAft>
                <a:spcPts val="0"/>
              </a:spcAft>
              <a:buNone/>
            </a:pPr>
            <a:r>
              <a:rPr lang="en-US"/>
              <a:t>For larger projects, an outline plan for whole project and a detailed one for the first stage will be created. </a:t>
            </a:r>
            <a:endParaRPr/>
          </a:p>
          <a:p>
            <a:pPr indent="0" lvl="1" marL="457200" rtl="0" algn="just">
              <a:spcBef>
                <a:spcPts val="360"/>
              </a:spcBef>
              <a:spcAft>
                <a:spcPts val="0"/>
              </a:spcAft>
              <a:buNone/>
            </a:pPr>
            <a:r>
              <a:t/>
            </a:r>
            <a:endParaRPr/>
          </a:p>
          <a:p>
            <a:pPr indent="0" lvl="0" marL="0" rtl="0" algn="just">
              <a:spcBef>
                <a:spcPts val="360"/>
              </a:spcBef>
              <a:spcAft>
                <a:spcPts val="0"/>
              </a:spcAft>
              <a:buNone/>
            </a:pPr>
            <a:r>
              <a:rPr lang="en-US"/>
              <a:t>Project Execution</a:t>
            </a:r>
            <a:endParaRPr/>
          </a:p>
          <a:p>
            <a:pPr indent="0" lvl="1" marL="457200" rtl="0" algn="just">
              <a:spcBef>
                <a:spcPts val="360"/>
              </a:spcBef>
              <a:spcAft>
                <a:spcPts val="0"/>
              </a:spcAft>
              <a:buNone/>
            </a:pPr>
            <a:r>
              <a:rPr lang="en-US"/>
              <a:t>Execution often contains design and implementation sub phases.</a:t>
            </a:r>
            <a:endParaRPr/>
          </a:p>
          <a:p>
            <a:pPr indent="0" lvl="1" marL="457200" rtl="0" algn="just">
              <a:spcBef>
                <a:spcPts val="360"/>
              </a:spcBef>
              <a:spcAft>
                <a:spcPts val="0"/>
              </a:spcAft>
              <a:buNone/>
            </a:pPr>
            <a:r>
              <a:rPr lang="en-US"/>
              <a:t>Design is making desicions about the form of the products to be created.</a:t>
            </a:r>
            <a:endParaRPr/>
          </a:p>
          <a:p>
            <a:pPr indent="0" lvl="1" marL="457200" rtl="0" algn="just">
              <a:spcBef>
                <a:spcPts val="360"/>
              </a:spcBef>
              <a:spcAft>
                <a:spcPts val="0"/>
              </a:spcAft>
              <a:buNone/>
            </a:pPr>
            <a:r>
              <a:rPr lang="en-US"/>
              <a:t>External appearance of the software, UI.</a:t>
            </a:r>
            <a:endParaRPr/>
          </a:p>
          <a:p>
            <a:pPr indent="0" lvl="1" marL="457200" rtl="0" algn="just">
              <a:spcBef>
                <a:spcPts val="360"/>
              </a:spcBef>
              <a:spcAft>
                <a:spcPts val="0"/>
              </a:spcAft>
              <a:buNone/>
            </a:pPr>
            <a:r>
              <a:rPr lang="en-US"/>
              <a:t>Plan details the activities to be carried out to create the products.</a:t>
            </a:r>
            <a:endParaRPr/>
          </a:p>
          <a:p>
            <a:pPr indent="0" lvl="1" marL="457200" rtl="0" algn="just">
              <a:spcBef>
                <a:spcPts val="360"/>
              </a:spcBef>
              <a:spcAft>
                <a:spcPts val="0"/>
              </a:spcAft>
              <a:buNone/>
            </a:pPr>
            <a:r>
              <a:t/>
            </a:r>
            <a:endParaRPr/>
          </a:p>
          <a:p>
            <a:pPr indent="-228600" lvl="0" marL="228600" rtl="0" algn="l">
              <a:spcBef>
                <a:spcPts val="360"/>
              </a:spcBef>
              <a:spcAft>
                <a:spcPts val="0"/>
              </a:spcAft>
              <a:buNone/>
            </a:pPr>
            <a:r>
              <a:t/>
            </a:r>
            <a:endParaRPr/>
          </a:p>
          <a:p>
            <a:pPr indent="-228600" lvl="0" marL="228600" rtl="0" algn="l">
              <a:spcBef>
                <a:spcPts val="360"/>
              </a:spcBef>
              <a:spcAft>
                <a:spcPts val="0"/>
              </a:spcAft>
              <a:buNone/>
            </a:pPr>
            <a:r>
              <a:t/>
            </a:r>
            <a:endParaRPr/>
          </a:p>
          <a:p>
            <a:pPr indent="-228600" lvl="0" marL="228600" rtl="0" algn="l">
              <a:spcBef>
                <a:spcPts val="360"/>
              </a:spcBef>
              <a:spcAft>
                <a:spcPts val="0"/>
              </a:spcAft>
              <a:buNone/>
            </a:pPr>
            <a:r>
              <a:t/>
            </a:r>
            <a:endParaRPr/>
          </a:p>
          <a:p>
            <a:pPr indent="-228600" lvl="0" marL="228600" rtl="0" algn="l">
              <a:spcBef>
                <a:spcPts val="360"/>
              </a:spcBef>
              <a:spcAft>
                <a:spcPts val="0"/>
              </a:spcAft>
              <a:buClr>
                <a:schemeClr val="dk1"/>
              </a:buClr>
              <a:buSzPts val="1200"/>
              <a:buFont typeface="Arial"/>
              <a:buAutoNum type="arabicPeriod"/>
            </a:pPr>
            <a:r>
              <a:rPr lang="en-US"/>
              <a:t>Often you see something like ‘feasibility study’ being put as the first stage of development life cycle, and indeed it might be. However, the outcome of the feasibility study might be not to carry out the proposed project. Planning of the project should therefore take place after the feasibility study (or as a part of the feasibility study perhaps). Clearly the feasibility study itself might need a plan.</a:t>
            </a:r>
            <a:endParaRPr/>
          </a:p>
          <a:p>
            <a:pPr indent="-228600" lvl="0" marL="228600" rtl="0" algn="l">
              <a:spcBef>
                <a:spcPts val="360"/>
              </a:spcBef>
              <a:spcAft>
                <a:spcPts val="0"/>
              </a:spcAft>
              <a:buClr>
                <a:schemeClr val="dk1"/>
              </a:buClr>
              <a:buSzPts val="1200"/>
              <a:buFont typeface="Arial"/>
              <a:buAutoNum type="arabicPeriod"/>
            </a:pPr>
            <a:r>
              <a:rPr lang="en-US"/>
              <a:t>All plans are to some extent provisional and subject to change. The key point is that the evolving plan allows us to </a:t>
            </a:r>
            <a:r>
              <a:rPr i="1" lang="en-US"/>
              <a:t>control</a:t>
            </a:r>
            <a:r>
              <a:rPr lang="en-US"/>
              <a:t> the project.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1" name="Google Shape;33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37" name="Google Shape;33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38" name="Google Shape;33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section of the lecture discusses the software development life cycle. Note that this is a </a:t>
            </a:r>
            <a:r>
              <a:rPr i="1" lang="en-US"/>
              <a:t>technical</a:t>
            </a:r>
            <a:r>
              <a:rPr lang="en-US"/>
              <a:t> model. It identifies the technical constraints on the order activities are done. This does NOT imply that a ‘waterfall’ approach is the only way to organize projects. The technical model could be implemented as increments or in an evolutionary manner.</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46" name="Google Shape;34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47" name="Google Shape;34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point here is that requirement analysis has to face in (at least) two different directions. It needs to communicate and elicit the requirements of the users, speaking in their language. It needs to organize and translate those requirements into a form that developers can understand and relate to.</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54" name="Google Shape;35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55" name="Google Shape;355;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software project will almost certainly be part of a larger project which has non-software elements. In a software engineering environment it could be the software will be embedded in hardware product of some kind. Thus there are system requirements for the product as a whole and software requirements for the software element.</a:t>
            </a:r>
            <a:endParaRPr/>
          </a:p>
          <a:p>
            <a:pPr indent="0" lvl="0" marL="0" rtl="0" algn="l">
              <a:spcBef>
                <a:spcPts val="360"/>
              </a:spcBef>
              <a:spcAft>
                <a:spcPts val="0"/>
              </a:spcAft>
              <a:buNone/>
            </a:pPr>
            <a:r>
              <a:rPr lang="en-US"/>
              <a:t>In a business information systems environment, the software development could be a relatively minor part of a much larger organizational change project.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62" name="Google Shape;36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63" name="Google Shape;36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confusion about what ‘implementation’ really means could be mentioned. Does it mean implementing the design (that is, coding) or implementing the complete system in its user environment? It is best to use ‘installation’ to describe the latter in order to avoid confusion.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70" name="Google Shape;37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71" name="Google Shape;37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objective-based projects, a general objective or problem is defined, and there are several different ways in which that objective could be reached. The project team have freedom to select what appears to be the most appropriate approach.</a:t>
            </a:r>
            <a:endParaRPr/>
          </a:p>
          <a:p>
            <a:pPr indent="0" lvl="0" marL="0" rtl="0" algn="l">
              <a:spcBef>
                <a:spcPts val="360"/>
              </a:spcBef>
              <a:spcAft>
                <a:spcPts val="0"/>
              </a:spcAft>
              <a:buNone/>
            </a:pPr>
            <a:r>
              <a:rPr lang="en-US"/>
              <a:t>With product-based projects, the product is already very strictly defined and the development team’s job is to implement the specification with which they have been presented.</a:t>
            </a:r>
            <a:endParaRPr/>
          </a:p>
          <a:p>
            <a:pPr indent="0" lvl="0" marL="0" rtl="0" algn="l">
              <a:spcBef>
                <a:spcPts val="360"/>
              </a:spcBef>
              <a:spcAft>
                <a:spcPts val="0"/>
              </a:spcAft>
              <a:buNone/>
            </a:pPr>
            <a:r>
              <a:rPr lang="en-US"/>
              <a:t>Arguably, information systems projects are more likely to be objective-based than is the case with software engineering.</a:t>
            </a:r>
            <a:endParaRPr/>
          </a:p>
          <a:p>
            <a:pPr indent="0" lvl="0" marL="0" rtl="0" algn="l">
              <a:spcBef>
                <a:spcPts val="360"/>
              </a:spcBef>
              <a:spcAft>
                <a:spcPts val="0"/>
              </a:spcAft>
              <a:buNone/>
            </a:pPr>
            <a:r>
              <a:rPr lang="en-US"/>
              <a:t>In many cases, an objective-based project could consider a problem and recommend a solution that is then implemented by a product-based project.</a:t>
            </a:r>
            <a:endParaRPr/>
          </a:p>
          <a:p>
            <a:pPr indent="0" lvl="0" marL="0" rtl="0" algn="l">
              <a:spcBef>
                <a:spcPts val="360"/>
              </a:spcBef>
              <a:spcAft>
                <a:spcPts val="0"/>
              </a:spcAft>
              <a:buNone/>
            </a:pPr>
            <a:r>
              <a:rPr lang="en-US"/>
              <a:t>Exercise 1.5 in the text is relevant here.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78" name="Google Shape;37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79" name="Google Shape;37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 people who are involved in a project (Stakeholders) will have different interests in the project and are likely to see different outcomes as being important.</a:t>
            </a:r>
            <a:endParaRPr/>
          </a:p>
          <a:p>
            <a:pPr indent="0" lvl="0" marL="0" rtl="0" algn="l">
              <a:spcBef>
                <a:spcPts val="360"/>
              </a:spcBef>
              <a:spcAft>
                <a:spcPts val="0"/>
              </a:spcAft>
              <a:buNone/>
            </a:pPr>
            <a:r>
              <a:rPr lang="en-US"/>
              <a:t>For example, end-users would want a system that is ‘user-friendly’, that is, easy to learn and to use, and a system that helps rather than hinders them from doing their jobs. Their managers may be more interested in whether the new system would allow them to reduce staffing levels.</a:t>
            </a:r>
            <a:endParaRPr/>
          </a:p>
          <a:p>
            <a:pPr indent="0" lvl="0" marL="0" rtl="0" algn="l">
              <a:spcBef>
                <a:spcPts val="360"/>
              </a:spcBef>
              <a:spcAft>
                <a:spcPts val="0"/>
              </a:spcAft>
              <a:buNone/>
            </a:pPr>
            <a:r>
              <a:rPr lang="en-US"/>
              <a:t>It is important therefore that a set of clearly defined objectives are identified and published for the project. Some individual or group needs to be pinpointed who acts as the main client for the project.</a:t>
            </a:r>
            <a:endParaRPr/>
          </a:p>
          <a:p>
            <a:pPr indent="0" lvl="0" marL="0" rtl="0" algn="l">
              <a:spcBef>
                <a:spcPts val="360"/>
              </a:spcBef>
              <a:spcAft>
                <a:spcPts val="0"/>
              </a:spcAft>
              <a:buNone/>
            </a:pPr>
            <a:r>
              <a:rPr lang="en-US"/>
              <a:t>See Exercise 1.7 in the text.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86" name="Google Shape;38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87" name="Google Shape;387;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focus here needs to be on what the situation will be when the project is completed. In what ways will the world be different? The objectives should avoid describing activities: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e.g. ‘a new payroll application will be operational by 4</a:t>
            </a:r>
            <a:r>
              <a:rPr baseline="30000" lang="en-US"/>
              <a:t>th</a:t>
            </a:r>
            <a:r>
              <a:rPr lang="en-US"/>
              <a:t> April’ </a:t>
            </a:r>
            <a:r>
              <a:rPr i="1" lang="en-US"/>
              <a:t>not</a:t>
            </a:r>
            <a:r>
              <a:rPr lang="en-US"/>
              <a:t> ‘design and code a new payroll application’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394" name="Google Shape;39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95" name="Google Shape;395;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have seen some places where the R is said to stand for ‘resource-constrained’, that is that there is a target cost associated with the achievement of the objective.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402" name="Google Shape;402;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03" name="Google Shape;403;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Scoring a goal in football is a ‘goal’ or sub-objective on the way to achieving the overall objective of winning the match. Sub-objectives and objectives can be nested in a hierarchy, so that the objective of winning the match could itself be a goal or sub-objective on the way to winning the league etc.</a:t>
            </a:r>
            <a:endParaRPr/>
          </a:p>
          <a:p>
            <a:pPr indent="0" lvl="0" marL="0" rtl="0" algn="l">
              <a:spcBef>
                <a:spcPts val="36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410" name="Google Shape;41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11" name="Google Shape;411;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Goals can be formulated in such a way that they represent what an individual or group need to do to contribute to the success of the project’s objectives. </a:t>
            </a:r>
            <a:endParaRPr/>
          </a:p>
          <a:p>
            <a:pPr indent="0" lvl="0" marL="0" rtl="0" algn="l">
              <a:spcBef>
                <a:spcPts val="360"/>
              </a:spcBef>
              <a:spcAft>
                <a:spcPts val="0"/>
              </a:spcAft>
              <a:buNone/>
            </a:pPr>
            <a:r>
              <a:rPr lang="en-US"/>
              <a:t>In the example above, the analyst or developer, by themselves, cannot guarantee user satisfaction. However, the analyst can contribute to the achievement  of the objective by making sure the users’ requirements are accurately recorded and the developer by making sure that the software is reliable.</a:t>
            </a:r>
            <a:endParaRPr/>
          </a:p>
          <a:p>
            <a:pPr indent="0" lvl="0" marL="0" rtl="0" algn="l">
              <a:spcBef>
                <a:spcPts val="360"/>
              </a:spcBef>
              <a:spcAft>
                <a:spcPts val="0"/>
              </a:spcAft>
              <a:buNone/>
            </a:pPr>
            <a:r>
              <a:rPr lang="en-US"/>
              <a:t>See Exercise 1.7 in the text.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419" name="Google Shape;41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20" name="Google Shape;420;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Exercise 1.8 in the text.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427" name="Google Shape;42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28" name="Google Shape;428;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stakeholder will have their own goals and concerns in relation to the project which may be different from those of the project as a whole. For example,  a software developer might work to make a living, pay the mortgage, learn new things, solve interesting problems. The main stakeholders need, however, to understand and accept the overall project objectives.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t>‹#›</a:t>
            </a:fld>
            <a:endParaRPr sz="1200"/>
          </a:p>
        </p:txBody>
      </p:sp>
      <p:sp>
        <p:nvSpPr>
          <p:cNvPr id="435" name="Google Shape;43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36" name="Google Shape;436;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 is not always possible to put a precise financial on the benefits of a project. The client’s willingness to pay up to a certain price to get a project implemented implies that they have informally identified a value to them of getting that project implemented.</a:t>
            </a:r>
            <a:endParaRPr/>
          </a:p>
          <a:p>
            <a:pPr indent="0" lvl="0" marL="0" rtl="0" algn="l">
              <a:spcBef>
                <a:spcPts val="36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8" name="Google Shape;44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4" name="Google Shape;45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0" name="Google Shape;46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6" name="Google Shape;46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1" name="Google Shape;48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7" name="Google Shape;487;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3" name="Google Shape;493;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9" name="Google Shape;49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05" name="Google Shape;505;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Project charter is an important outcome of project initiation phase.</a:t>
            </a:r>
            <a:endParaRPr/>
          </a:p>
        </p:txBody>
      </p:sp>
      <p:sp>
        <p:nvSpPr>
          <p:cNvPr id="506" name="Google Shape;506;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2" name="Google Shape;51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8" name="Google Shape;518;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4" name="Google Shape;524;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30" name="Google Shape;53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36" name="Google Shape;536;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2" name="Google Shape;542;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48" name="Google Shape;548;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Planning, prioritizing and controlling different releases of a software.</a:t>
            </a:r>
            <a:endParaRPr/>
          </a:p>
        </p:txBody>
      </p:sp>
      <p:sp>
        <p:nvSpPr>
          <p:cNvPr id="549" name="Google Shape;549;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55" name="Google Shape;55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62" name="Google Shape;56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5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Tahoma"/>
              <a:buNone/>
              <a:defRPr sz="2400"/>
            </a:lvl1pPr>
            <a:lvl2pPr lvl="1" algn="ctr">
              <a:spcBef>
                <a:spcPts val="400"/>
              </a:spcBef>
              <a:spcAft>
                <a:spcPts val="0"/>
              </a:spcAft>
              <a:buClr>
                <a:schemeClr val="dk1"/>
              </a:buClr>
              <a:buSzPts val="2000"/>
              <a:buFont typeface="Tahoma"/>
              <a:buNone/>
              <a:defRPr sz="2000"/>
            </a:lvl2pPr>
            <a:lvl3pPr lvl="2" algn="ctr">
              <a:spcBef>
                <a:spcPts val="360"/>
              </a:spcBef>
              <a:spcAft>
                <a:spcPts val="0"/>
              </a:spcAft>
              <a:buClr>
                <a:schemeClr val="dk1"/>
              </a:buClr>
              <a:buSzPts val="1800"/>
              <a:buFont typeface="Tahoma"/>
              <a:buNone/>
              <a:defRPr sz="1800"/>
            </a:lvl3pPr>
            <a:lvl4pPr lvl="3" algn="ctr">
              <a:spcBef>
                <a:spcPts val="320"/>
              </a:spcBef>
              <a:spcAft>
                <a:spcPts val="0"/>
              </a:spcAft>
              <a:buClr>
                <a:schemeClr val="dk1"/>
              </a:buClr>
              <a:buSzPts val="1600"/>
              <a:buFont typeface="Tahoma"/>
              <a:buNone/>
              <a:defRPr sz="1600"/>
            </a:lvl4pPr>
            <a:lvl5pPr lvl="4" algn="ctr">
              <a:spcBef>
                <a:spcPts val="320"/>
              </a:spcBef>
              <a:spcAft>
                <a:spcPts val="0"/>
              </a:spcAft>
              <a:buClr>
                <a:schemeClr val="dk1"/>
              </a:buClr>
              <a:buSzPts val="1600"/>
              <a:buFont typeface="Tahoma"/>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8" name="Google Shape;18;p59"/>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6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6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60"/>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6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61"/>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6" name="Shape 26"/>
        <p:cNvGrpSpPr/>
        <p:nvPr/>
      </p:nvGrpSpPr>
      <p:grpSpPr>
        <a:xfrm>
          <a:off x="0" y="0"/>
          <a:ext cx="0" cy="0"/>
          <a:chOff x="0" y="0"/>
          <a:chExt cx="0" cy="0"/>
        </a:xfrm>
      </p:grpSpPr>
      <p:sp>
        <p:nvSpPr>
          <p:cNvPr id="27" name="Google Shape;27;p6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6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9" name="Google Shape;29;p62"/>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0" name="Google Shape;30;p62"/>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5"/>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65"/>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sz="2400"/>
            </a:lvl1pPr>
            <a:lvl2pPr indent="-228600" lvl="1" marL="914400" algn="l">
              <a:spcBef>
                <a:spcPts val="400"/>
              </a:spcBef>
              <a:spcAft>
                <a:spcPts val="0"/>
              </a:spcAft>
              <a:buClr>
                <a:schemeClr val="dk1"/>
              </a:buClr>
              <a:buSzPts val="2000"/>
              <a:buFont typeface="Tahoma"/>
              <a:buNone/>
              <a:defRPr sz="2000"/>
            </a:lvl2pPr>
            <a:lvl3pPr indent="-228600" lvl="2" marL="1371600" algn="l">
              <a:spcBef>
                <a:spcPts val="360"/>
              </a:spcBef>
              <a:spcAft>
                <a:spcPts val="0"/>
              </a:spcAft>
              <a:buClr>
                <a:schemeClr val="dk1"/>
              </a:buClr>
              <a:buSzPts val="1800"/>
              <a:buFont typeface="Tahoma"/>
              <a:buNone/>
              <a:defRPr sz="1800"/>
            </a:lvl3pPr>
            <a:lvl4pPr indent="-228600" lvl="3" marL="1828800" algn="l">
              <a:spcBef>
                <a:spcPts val="320"/>
              </a:spcBef>
              <a:spcAft>
                <a:spcPts val="0"/>
              </a:spcAft>
              <a:buClr>
                <a:schemeClr val="dk1"/>
              </a:buClr>
              <a:buSzPts val="1600"/>
              <a:buFont typeface="Tahoma"/>
              <a:buNone/>
              <a:defRPr sz="1600"/>
            </a:lvl4pPr>
            <a:lvl5pPr indent="-228600" lvl="4" marL="2286000" algn="l">
              <a:spcBef>
                <a:spcPts val="320"/>
              </a:spcBef>
              <a:spcAft>
                <a:spcPts val="0"/>
              </a:spcAft>
              <a:buClr>
                <a:schemeClr val="dk1"/>
              </a:buClr>
              <a:buSzPts val="1600"/>
              <a:buFont typeface="Tahoma"/>
              <a:buNone/>
              <a:defRPr sz="1600"/>
            </a:lvl5pPr>
            <a:lvl6pPr indent="-228600" lvl="5" marL="2743200" algn="l">
              <a:lnSpc>
                <a:spcPct val="90000"/>
              </a:lnSpc>
              <a:spcBef>
                <a:spcPts val="500"/>
              </a:spcBef>
              <a:spcAft>
                <a:spcPts val="0"/>
              </a:spcAft>
              <a:buClr>
                <a:schemeClr val="lt1"/>
              </a:buClr>
              <a:buSzPts val="1600"/>
              <a:buNone/>
              <a:defRPr sz="1600"/>
            </a:lvl6pPr>
            <a:lvl7pPr indent="-228600" lvl="6" marL="3200400" algn="l">
              <a:lnSpc>
                <a:spcPct val="90000"/>
              </a:lnSpc>
              <a:spcBef>
                <a:spcPts val="500"/>
              </a:spcBef>
              <a:spcAft>
                <a:spcPts val="0"/>
              </a:spcAft>
              <a:buClr>
                <a:schemeClr val="lt1"/>
              </a:buClr>
              <a:buSzPts val="1600"/>
              <a:buNone/>
              <a:defRPr sz="1600"/>
            </a:lvl7pPr>
            <a:lvl8pPr indent="-228600" lvl="7" marL="3657600" algn="l">
              <a:lnSpc>
                <a:spcPct val="90000"/>
              </a:lnSpc>
              <a:spcBef>
                <a:spcPts val="500"/>
              </a:spcBef>
              <a:spcAft>
                <a:spcPts val="0"/>
              </a:spcAft>
              <a:buClr>
                <a:schemeClr val="lt1"/>
              </a:buClr>
              <a:buSzPts val="1600"/>
              <a:buNone/>
              <a:defRPr sz="1600"/>
            </a:lvl8pPr>
            <a:lvl9pPr indent="-228600" lvl="8" marL="4114800" algn="l">
              <a:lnSpc>
                <a:spcPct val="90000"/>
              </a:lnSpc>
              <a:spcBef>
                <a:spcPts val="500"/>
              </a:spcBef>
              <a:spcAft>
                <a:spcPts val="0"/>
              </a:spcAft>
              <a:buClr>
                <a:schemeClr val="lt1"/>
              </a:buClr>
              <a:buSzPts val="1600"/>
              <a:buNone/>
              <a:defRPr sz="1600"/>
            </a:lvl9pPr>
          </a:lstStyle>
          <a:p/>
        </p:txBody>
      </p:sp>
      <p:sp>
        <p:nvSpPr>
          <p:cNvPr id="34" name="Google Shape;34;p65"/>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6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6"/>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8" name="Google Shape;38;p66"/>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9" name="Google Shape;39;p66"/>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7"/>
          <p:cNvSpPr txBox="1"/>
          <p:nvPr>
            <p:ph type="title"/>
          </p:nvPr>
        </p:nvSpPr>
        <p:spPr>
          <a:xfrm>
            <a:off x="630238" y="365125"/>
            <a:ext cx="78867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7"/>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b="1" sz="2400"/>
            </a:lvl1pPr>
            <a:lvl2pPr indent="-228600" lvl="1" marL="914400" algn="l">
              <a:spcBef>
                <a:spcPts val="400"/>
              </a:spcBef>
              <a:spcAft>
                <a:spcPts val="0"/>
              </a:spcAft>
              <a:buClr>
                <a:schemeClr val="dk1"/>
              </a:buClr>
              <a:buSzPts val="2000"/>
              <a:buFont typeface="Tahoma"/>
              <a:buNone/>
              <a:defRPr b="1" sz="2000"/>
            </a:lvl2pPr>
            <a:lvl3pPr indent="-228600" lvl="2" marL="1371600" algn="l">
              <a:spcBef>
                <a:spcPts val="360"/>
              </a:spcBef>
              <a:spcAft>
                <a:spcPts val="0"/>
              </a:spcAft>
              <a:buClr>
                <a:schemeClr val="dk1"/>
              </a:buClr>
              <a:buSzPts val="1800"/>
              <a:buFont typeface="Tahoma"/>
              <a:buNone/>
              <a:defRPr b="1" sz="1800"/>
            </a:lvl3pPr>
            <a:lvl4pPr indent="-228600" lvl="3" marL="1828800" algn="l">
              <a:spcBef>
                <a:spcPts val="320"/>
              </a:spcBef>
              <a:spcAft>
                <a:spcPts val="0"/>
              </a:spcAft>
              <a:buClr>
                <a:schemeClr val="dk1"/>
              </a:buClr>
              <a:buSzPts val="1600"/>
              <a:buFont typeface="Tahoma"/>
              <a:buNone/>
              <a:defRPr b="1" sz="1600"/>
            </a:lvl4pPr>
            <a:lvl5pPr indent="-228600" lvl="4" marL="2286000" algn="l">
              <a:spcBef>
                <a:spcPts val="320"/>
              </a:spcBef>
              <a:spcAft>
                <a:spcPts val="0"/>
              </a:spcAft>
              <a:buClr>
                <a:schemeClr val="dk1"/>
              </a:buClr>
              <a:buSzPts val="1600"/>
              <a:buFont typeface="Tahoma"/>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3" name="Google Shape;43;p67"/>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4" name="Google Shape;44;p67"/>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b="1" sz="2400"/>
            </a:lvl1pPr>
            <a:lvl2pPr indent="-228600" lvl="1" marL="914400" algn="l">
              <a:spcBef>
                <a:spcPts val="400"/>
              </a:spcBef>
              <a:spcAft>
                <a:spcPts val="0"/>
              </a:spcAft>
              <a:buClr>
                <a:schemeClr val="dk1"/>
              </a:buClr>
              <a:buSzPts val="2000"/>
              <a:buFont typeface="Tahoma"/>
              <a:buNone/>
              <a:defRPr b="1" sz="2000"/>
            </a:lvl2pPr>
            <a:lvl3pPr indent="-228600" lvl="2" marL="1371600" algn="l">
              <a:spcBef>
                <a:spcPts val="360"/>
              </a:spcBef>
              <a:spcAft>
                <a:spcPts val="0"/>
              </a:spcAft>
              <a:buClr>
                <a:schemeClr val="dk1"/>
              </a:buClr>
              <a:buSzPts val="1800"/>
              <a:buFont typeface="Tahoma"/>
              <a:buNone/>
              <a:defRPr b="1" sz="1800"/>
            </a:lvl3pPr>
            <a:lvl4pPr indent="-228600" lvl="3" marL="1828800" algn="l">
              <a:spcBef>
                <a:spcPts val="320"/>
              </a:spcBef>
              <a:spcAft>
                <a:spcPts val="0"/>
              </a:spcAft>
              <a:buClr>
                <a:schemeClr val="dk1"/>
              </a:buClr>
              <a:buSzPts val="1600"/>
              <a:buFont typeface="Tahoma"/>
              <a:buNone/>
              <a:defRPr b="1" sz="1600"/>
            </a:lvl4pPr>
            <a:lvl5pPr indent="-228600" lvl="4" marL="2286000" algn="l">
              <a:spcBef>
                <a:spcPts val="320"/>
              </a:spcBef>
              <a:spcAft>
                <a:spcPts val="0"/>
              </a:spcAft>
              <a:buClr>
                <a:schemeClr val="dk1"/>
              </a:buClr>
              <a:buSzPts val="1600"/>
              <a:buFont typeface="Tahoma"/>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5" name="Google Shape;45;p67"/>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6" name="Google Shape;46;p67"/>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68"/>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69"/>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69"/>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ahoma"/>
              <a:buChar char="•"/>
              <a:defRPr sz="3200"/>
            </a:lvl1pPr>
            <a:lvl2pPr indent="-406400" lvl="1" marL="914400" algn="l">
              <a:spcBef>
                <a:spcPts val="560"/>
              </a:spcBef>
              <a:spcAft>
                <a:spcPts val="0"/>
              </a:spcAft>
              <a:buClr>
                <a:schemeClr val="dk1"/>
              </a:buClr>
              <a:buSzPts val="2800"/>
              <a:buFont typeface="Tahoma"/>
              <a:buChar char="–"/>
              <a:defRPr sz="2800"/>
            </a:lvl2pPr>
            <a:lvl3pPr indent="-381000" lvl="2" marL="1371600" algn="l">
              <a:spcBef>
                <a:spcPts val="480"/>
              </a:spcBef>
              <a:spcAft>
                <a:spcPts val="0"/>
              </a:spcAft>
              <a:buClr>
                <a:schemeClr val="dk1"/>
              </a:buClr>
              <a:buSzPts val="2400"/>
              <a:buFont typeface="Tahoma"/>
              <a:buChar char="•"/>
              <a:defRPr sz="2400"/>
            </a:lvl3pPr>
            <a:lvl4pPr indent="-355600" lvl="3" marL="1828800" algn="l">
              <a:spcBef>
                <a:spcPts val="400"/>
              </a:spcBef>
              <a:spcAft>
                <a:spcPts val="0"/>
              </a:spcAft>
              <a:buClr>
                <a:schemeClr val="dk1"/>
              </a:buClr>
              <a:buSzPts val="2000"/>
              <a:buFont typeface="Tahoma"/>
              <a:buChar char="–"/>
              <a:defRPr sz="2000"/>
            </a:lvl4pPr>
            <a:lvl5pPr indent="-355600" lvl="4" marL="2286000" algn="l">
              <a:spcBef>
                <a:spcPts val="400"/>
              </a:spcBef>
              <a:spcAft>
                <a:spcPts val="0"/>
              </a:spcAft>
              <a:buClr>
                <a:schemeClr val="dk1"/>
              </a:buClr>
              <a:buSzPts val="2000"/>
              <a:buFont typeface="Tahoma"/>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52" name="Google Shape;52;p69"/>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ahoma"/>
              <a:buNone/>
              <a:defRPr sz="1600"/>
            </a:lvl1pPr>
            <a:lvl2pPr indent="-228600" lvl="1" marL="914400" algn="l">
              <a:spcBef>
                <a:spcPts val="280"/>
              </a:spcBef>
              <a:spcAft>
                <a:spcPts val="0"/>
              </a:spcAft>
              <a:buClr>
                <a:schemeClr val="dk1"/>
              </a:buClr>
              <a:buSzPts val="1400"/>
              <a:buFont typeface="Tahoma"/>
              <a:buNone/>
              <a:defRPr sz="1400"/>
            </a:lvl2pPr>
            <a:lvl3pPr indent="-228600" lvl="2" marL="1371600" algn="l">
              <a:spcBef>
                <a:spcPts val="240"/>
              </a:spcBef>
              <a:spcAft>
                <a:spcPts val="0"/>
              </a:spcAft>
              <a:buClr>
                <a:schemeClr val="dk1"/>
              </a:buClr>
              <a:buSzPts val="1200"/>
              <a:buFont typeface="Tahoma"/>
              <a:buNone/>
              <a:defRPr sz="1200"/>
            </a:lvl3pPr>
            <a:lvl4pPr indent="-228600" lvl="3" marL="1828800" algn="l">
              <a:spcBef>
                <a:spcPts val="200"/>
              </a:spcBef>
              <a:spcAft>
                <a:spcPts val="0"/>
              </a:spcAft>
              <a:buClr>
                <a:schemeClr val="dk1"/>
              </a:buClr>
              <a:buSzPts val="1000"/>
              <a:buFont typeface="Tahoma"/>
              <a:buNone/>
              <a:defRPr sz="1000"/>
            </a:lvl4pPr>
            <a:lvl5pPr indent="-228600" lvl="4" marL="2286000" algn="l">
              <a:spcBef>
                <a:spcPts val="200"/>
              </a:spcBef>
              <a:spcAft>
                <a:spcPts val="0"/>
              </a:spcAft>
              <a:buClr>
                <a:schemeClr val="dk1"/>
              </a:buClr>
              <a:buSzPts val="1000"/>
              <a:buFont typeface="Tahoma"/>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53" name="Google Shape;53;p69"/>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70"/>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70"/>
          <p:cNvSpPr/>
          <p:nvPr>
            <p:ph idx="2" type="pic"/>
          </p:nvPr>
        </p:nvSpPr>
        <p:spPr>
          <a:xfrm>
            <a:off x="3887788" y="987425"/>
            <a:ext cx="4629150" cy="4873625"/>
          </a:xfrm>
          <a:prstGeom prst="rect">
            <a:avLst/>
          </a:prstGeom>
          <a:noFill/>
          <a:ln>
            <a:noFill/>
          </a:ln>
        </p:spPr>
      </p:sp>
      <p:sp>
        <p:nvSpPr>
          <p:cNvPr id="57" name="Google Shape;57;p70"/>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ahoma"/>
              <a:buNone/>
              <a:defRPr sz="1600"/>
            </a:lvl1pPr>
            <a:lvl2pPr indent="-228600" lvl="1" marL="914400" algn="l">
              <a:spcBef>
                <a:spcPts val="280"/>
              </a:spcBef>
              <a:spcAft>
                <a:spcPts val="0"/>
              </a:spcAft>
              <a:buClr>
                <a:schemeClr val="dk1"/>
              </a:buClr>
              <a:buSzPts val="1400"/>
              <a:buFont typeface="Tahoma"/>
              <a:buNone/>
              <a:defRPr sz="1400"/>
            </a:lvl2pPr>
            <a:lvl3pPr indent="-228600" lvl="2" marL="1371600" algn="l">
              <a:spcBef>
                <a:spcPts val="240"/>
              </a:spcBef>
              <a:spcAft>
                <a:spcPts val="0"/>
              </a:spcAft>
              <a:buClr>
                <a:schemeClr val="dk1"/>
              </a:buClr>
              <a:buSzPts val="1200"/>
              <a:buFont typeface="Tahoma"/>
              <a:buNone/>
              <a:defRPr sz="1200"/>
            </a:lvl3pPr>
            <a:lvl4pPr indent="-228600" lvl="3" marL="1828800" algn="l">
              <a:spcBef>
                <a:spcPts val="200"/>
              </a:spcBef>
              <a:spcAft>
                <a:spcPts val="0"/>
              </a:spcAft>
              <a:buClr>
                <a:schemeClr val="dk1"/>
              </a:buClr>
              <a:buSzPts val="1000"/>
              <a:buFont typeface="Tahoma"/>
              <a:buNone/>
              <a:defRPr sz="1000"/>
            </a:lvl4pPr>
            <a:lvl5pPr indent="-228600" lvl="4" marL="2286000" algn="l">
              <a:spcBef>
                <a:spcPts val="200"/>
              </a:spcBef>
              <a:spcAft>
                <a:spcPts val="0"/>
              </a:spcAft>
              <a:buClr>
                <a:schemeClr val="dk1"/>
              </a:buClr>
              <a:buSzPts val="1000"/>
              <a:buFont typeface="Tahoma"/>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58" name="Google Shape;58;p70"/>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9" name="Shape 59"/>
        <p:cNvGrpSpPr/>
        <p:nvPr/>
      </p:nvGrpSpPr>
      <p:grpSpPr>
        <a:xfrm>
          <a:off x="0" y="0"/>
          <a:ext cx="0" cy="0"/>
          <a:chOff x="0" y="0"/>
          <a:chExt cx="0" cy="0"/>
        </a:xfrm>
      </p:grpSpPr>
      <p:sp>
        <p:nvSpPr>
          <p:cNvPr id="60" name="Google Shape;60;p7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71"/>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2" name="Google Shape;62;p71"/>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3" name="Shape 63"/>
        <p:cNvGrpSpPr/>
        <p:nvPr/>
      </p:nvGrpSpPr>
      <p:grpSpPr>
        <a:xfrm>
          <a:off x="0" y="0"/>
          <a:ext cx="0" cy="0"/>
          <a:chOff x="0" y="0"/>
          <a:chExt cx="0" cy="0"/>
        </a:xfrm>
      </p:grpSpPr>
      <p:sp>
        <p:nvSpPr>
          <p:cNvPr id="64" name="Google Shape;64;p72"/>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5" name="Google Shape;65;p72"/>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6" name="Google Shape;66;p72"/>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3" name="Shape 73"/>
        <p:cNvGrpSpPr/>
        <p:nvPr/>
      </p:nvGrpSpPr>
      <p:grpSpPr>
        <a:xfrm>
          <a:off x="0" y="0"/>
          <a:ext cx="0" cy="0"/>
          <a:chOff x="0" y="0"/>
          <a:chExt cx="0" cy="0"/>
        </a:xfrm>
      </p:grpSpPr>
      <p:sp>
        <p:nvSpPr>
          <p:cNvPr id="74" name="Google Shape;74;p6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6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64"/>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7" name="Shape 77"/>
        <p:cNvGrpSpPr/>
        <p:nvPr/>
      </p:nvGrpSpPr>
      <p:grpSpPr>
        <a:xfrm>
          <a:off x="0" y="0"/>
          <a:ext cx="0" cy="0"/>
          <a:chOff x="0" y="0"/>
          <a:chExt cx="0" cy="0"/>
        </a:xfrm>
      </p:grpSpPr>
      <p:sp>
        <p:nvSpPr>
          <p:cNvPr id="78" name="Google Shape;78;p73"/>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9" name="Google Shape;79;p73"/>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Tahoma"/>
              <a:buNone/>
              <a:defRPr sz="2400"/>
            </a:lvl1pPr>
            <a:lvl2pPr lvl="1" algn="ctr">
              <a:spcBef>
                <a:spcPts val="400"/>
              </a:spcBef>
              <a:spcAft>
                <a:spcPts val="0"/>
              </a:spcAft>
              <a:buClr>
                <a:schemeClr val="dk1"/>
              </a:buClr>
              <a:buSzPts val="2000"/>
              <a:buFont typeface="Tahoma"/>
              <a:buNone/>
              <a:defRPr sz="2000"/>
            </a:lvl2pPr>
            <a:lvl3pPr lvl="2" algn="ctr">
              <a:spcBef>
                <a:spcPts val="360"/>
              </a:spcBef>
              <a:spcAft>
                <a:spcPts val="0"/>
              </a:spcAft>
              <a:buClr>
                <a:schemeClr val="dk1"/>
              </a:buClr>
              <a:buSzPts val="1800"/>
              <a:buFont typeface="Tahoma"/>
              <a:buNone/>
              <a:defRPr sz="1800"/>
            </a:lvl3pPr>
            <a:lvl4pPr lvl="3" algn="ctr">
              <a:spcBef>
                <a:spcPts val="320"/>
              </a:spcBef>
              <a:spcAft>
                <a:spcPts val="0"/>
              </a:spcAft>
              <a:buClr>
                <a:schemeClr val="dk1"/>
              </a:buClr>
              <a:buSzPts val="1600"/>
              <a:buFont typeface="Tahoma"/>
              <a:buNone/>
              <a:defRPr sz="1600"/>
            </a:lvl4pPr>
            <a:lvl5pPr lvl="4" algn="ctr">
              <a:spcBef>
                <a:spcPts val="320"/>
              </a:spcBef>
              <a:spcAft>
                <a:spcPts val="0"/>
              </a:spcAft>
              <a:buClr>
                <a:schemeClr val="dk1"/>
              </a:buClr>
              <a:buSzPts val="1600"/>
              <a:buFont typeface="Tahoma"/>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80" name="Google Shape;80;p73"/>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p74"/>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 name="Google Shape;83;p74"/>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sz="2400"/>
            </a:lvl1pPr>
            <a:lvl2pPr indent="-228600" lvl="1" marL="914400" algn="l">
              <a:spcBef>
                <a:spcPts val="400"/>
              </a:spcBef>
              <a:spcAft>
                <a:spcPts val="0"/>
              </a:spcAft>
              <a:buClr>
                <a:schemeClr val="dk1"/>
              </a:buClr>
              <a:buSzPts val="2000"/>
              <a:buFont typeface="Tahoma"/>
              <a:buNone/>
              <a:defRPr sz="2000"/>
            </a:lvl2pPr>
            <a:lvl3pPr indent="-228600" lvl="2" marL="1371600" algn="l">
              <a:spcBef>
                <a:spcPts val="360"/>
              </a:spcBef>
              <a:spcAft>
                <a:spcPts val="0"/>
              </a:spcAft>
              <a:buClr>
                <a:schemeClr val="dk1"/>
              </a:buClr>
              <a:buSzPts val="1800"/>
              <a:buFont typeface="Tahoma"/>
              <a:buNone/>
              <a:defRPr sz="1800"/>
            </a:lvl3pPr>
            <a:lvl4pPr indent="-228600" lvl="3" marL="1828800" algn="l">
              <a:spcBef>
                <a:spcPts val="320"/>
              </a:spcBef>
              <a:spcAft>
                <a:spcPts val="0"/>
              </a:spcAft>
              <a:buClr>
                <a:schemeClr val="dk1"/>
              </a:buClr>
              <a:buSzPts val="1600"/>
              <a:buFont typeface="Tahoma"/>
              <a:buNone/>
              <a:defRPr sz="1600"/>
            </a:lvl4pPr>
            <a:lvl5pPr indent="-228600" lvl="4" marL="2286000" algn="l">
              <a:spcBef>
                <a:spcPts val="320"/>
              </a:spcBef>
              <a:spcAft>
                <a:spcPts val="0"/>
              </a:spcAft>
              <a:buClr>
                <a:schemeClr val="dk1"/>
              </a:buClr>
              <a:buSzPts val="1600"/>
              <a:buFont typeface="Tahoma"/>
              <a:buNone/>
              <a:defRPr sz="1600"/>
            </a:lvl5pPr>
            <a:lvl6pPr indent="-228600" lvl="5" marL="2743200" algn="l">
              <a:lnSpc>
                <a:spcPct val="90000"/>
              </a:lnSpc>
              <a:spcBef>
                <a:spcPts val="500"/>
              </a:spcBef>
              <a:spcAft>
                <a:spcPts val="0"/>
              </a:spcAft>
              <a:buClr>
                <a:schemeClr val="lt1"/>
              </a:buClr>
              <a:buSzPts val="1600"/>
              <a:buNone/>
              <a:defRPr sz="1600"/>
            </a:lvl6pPr>
            <a:lvl7pPr indent="-228600" lvl="6" marL="3200400" algn="l">
              <a:lnSpc>
                <a:spcPct val="90000"/>
              </a:lnSpc>
              <a:spcBef>
                <a:spcPts val="500"/>
              </a:spcBef>
              <a:spcAft>
                <a:spcPts val="0"/>
              </a:spcAft>
              <a:buClr>
                <a:schemeClr val="lt1"/>
              </a:buClr>
              <a:buSzPts val="1600"/>
              <a:buNone/>
              <a:defRPr sz="1600"/>
            </a:lvl7pPr>
            <a:lvl8pPr indent="-228600" lvl="7" marL="3657600" algn="l">
              <a:lnSpc>
                <a:spcPct val="90000"/>
              </a:lnSpc>
              <a:spcBef>
                <a:spcPts val="500"/>
              </a:spcBef>
              <a:spcAft>
                <a:spcPts val="0"/>
              </a:spcAft>
              <a:buClr>
                <a:schemeClr val="lt1"/>
              </a:buClr>
              <a:buSzPts val="1600"/>
              <a:buNone/>
              <a:defRPr sz="1600"/>
            </a:lvl8pPr>
            <a:lvl9pPr indent="-228600" lvl="8" marL="4114800" algn="l">
              <a:lnSpc>
                <a:spcPct val="90000"/>
              </a:lnSpc>
              <a:spcBef>
                <a:spcPts val="500"/>
              </a:spcBef>
              <a:spcAft>
                <a:spcPts val="0"/>
              </a:spcAft>
              <a:buClr>
                <a:schemeClr val="lt1"/>
              </a:buClr>
              <a:buSzPts val="1600"/>
              <a:buNone/>
              <a:defRPr sz="1600"/>
            </a:lvl9pPr>
          </a:lstStyle>
          <a:p/>
        </p:txBody>
      </p:sp>
      <p:sp>
        <p:nvSpPr>
          <p:cNvPr id="84" name="Google Shape;84;p74"/>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5" name="Shape 85"/>
        <p:cNvGrpSpPr/>
        <p:nvPr/>
      </p:nvGrpSpPr>
      <p:grpSpPr>
        <a:xfrm>
          <a:off x="0" y="0"/>
          <a:ext cx="0" cy="0"/>
          <a:chOff x="0" y="0"/>
          <a:chExt cx="0" cy="0"/>
        </a:xfrm>
      </p:grpSpPr>
      <p:sp>
        <p:nvSpPr>
          <p:cNvPr id="86" name="Google Shape;86;p7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7" name="Google Shape;87;p75"/>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8" name="Google Shape;88;p75"/>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9" name="Google Shape;89;p75"/>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0" name="Shape 90"/>
        <p:cNvGrpSpPr/>
        <p:nvPr/>
      </p:nvGrpSpPr>
      <p:grpSpPr>
        <a:xfrm>
          <a:off x="0" y="0"/>
          <a:ext cx="0" cy="0"/>
          <a:chOff x="0" y="0"/>
          <a:chExt cx="0" cy="0"/>
        </a:xfrm>
      </p:grpSpPr>
      <p:sp>
        <p:nvSpPr>
          <p:cNvPr id="91" name="Google Shape;91;p76"/>
          <p:cNvSpPr txBox="1"/>
          <p:nvPr>
            <p:ph type="title"/>
          </p:nvPr>
        </p:nvSpPr>
        <p:spPr>
          <a:xfrm>
            <a:off x="630238" y="365125"/>
            <a:ext cx="78867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76"/>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b="1" sz="2400"/>
            </a:lvl1pPr>
            <a:lvl2pPr indent="-228600" lvl="1" marL="914400" algn="l">
              <a:spcBef>
                <a:spcPts val="400"/>
              </a:spcBef>
              <a:spcAft>
                <a:spcPts val="0"/>
              </a:spcAft>
              <a:buClr>
                <a:schemeClr val="dk1"/>
              </a:buClr>
              <a:buSzPts val="2000"/>
              <a:buFont typeface="Tahoma"/>
              <a:buNone/>
              <a:defRPr b="1" sz="2000"/>
            </a:lvl2pPr>
            <a:lvl3pPr indent="-228600" lvl="2" marL="1371600" algn="l">
              <a:spcBef>
                <a:spcPts val="360"/>
              </a:spcBef>
              <a:spcAft>
                <a:spcPts val="0"/>
              </a:spcAft>
              <a:buClr>
                <a:schemeClr val="dk1"/>
              </a:buClr>
              <a:buSzPts val="1800"/>
              <a:buFont typeface="Tahoma"/>
              <a:buNone/>
              <a:defRPr b="1" sz="1800"/>
            </a:lvl3pPr>
            <a:lvl4pPr indent="-228600" lvl="3" marL="1828800" algn="l">
              <a:spcBef>
                <a:spcPts val="320"/>
              </a:spcBef>
              <a:spcAft>
                <a:spcPts val="0"/>
              </a:spcAft>
              <a:buClr>
                <a:schemeClr val="dk1"/>
              </a:buClr>
              <a:buSzPts val="1600"/>
              <a:buFont typeface="Tahoma"/>
              <a:buNone/>
              <a:defRPr b="1" sz="1600"/>
            </a:lvl4pPr>
            <a:lvl5pPr indent="-228600" lvl="4" marL="2286000" algn="l">
              <a:spcBef>
                <a:spcPts val="320"/>
              </a:spcBef>
              <a:spcAft>
                <a:spcPts val="0"/>
              </a:spcAft>
              <a:buClr>
                <a:schemeClr val="dk1"/>
              </a:buClr>
              <a:buSzPts val="1600"/>
              <a:buFont typeface="Tahoma"/>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3" name="Google Shape;93;p76"/>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4" name="Google Shape;94;p76"/>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b="1" sz="2400"/>
            </a:lvl1pPr>
            <a:lvl2pPr indent="-228600" lvl="1" marL="914400" algn="l">
              <a:spcBef>
                <a:spcPts val="400"/>
              </a:spcBef>
              <a:spcAft>
                <a:spcPts val="0"/>
              </a:spcAft>
              <a:buClr>
                <a:schemeClr val="dk1"/>
              </a:buClr>
              <a:buSzPts val="2000"/>
              <a:buFont typeface="Tahoma"/>
              <a:buNone/>
              <a:defRPr b="1" sz="2000"/>
            </a:lvl2pPr>
            <a:lvl3pPr indent="-228600" lvl="2" marL="1371600" algn="l">
              <a:spcBef>
                <a:spcPts val="360"/>
              </a:spcBef>
              <a:spcAft>
                <a:spcPts val="0"/>
              </a:spcAft>
              <a:buClr>
                <a:schemeClr val="dk1"/>
              </a:buClr>
              <a:buSzPts val="1800"/>
              <a:buFont typeface="Tahoma"/>
              <a:buNone/>
              <a:defRPr b="1" sz="1800"/>
            </a:lvl3pPr>
            <a:lvl4pPr indent="-228600" lvl="3" marL="1828800" algn="l">
              <a:spcBef>
                <a:spcPts val="320"/>
              </a:spcBef>
              <a:spcAft>
                <a:spcPts val="0"/>
              </a:spcAft>
              <a:buClr>
                <a:schemeClr val="dk1"/>
              </a:buClr>
              <a:buSzPts val="1600"/>
              <a:buFont typeface="Tahoma"/>
              <a:buNone/>
              <a:defRPr b="1" sz="1600"/>
            </a:lvl4pPr>
            <a:lvl5pPr indent="-228600" lvl="4" marL="2286000" algn="l">
              <a:spcBef>
                <a:spcPts val="320"/>
              </a:spcBef>
              <a:spcAft>
                <a:spcPts val="0"/>
              </a:spcAft>
              <a:buClr>
                <a:schemeClr val="dk1"/>
              </a:buClr>
              <a:buSzPts val="1600"/>
              <a:buFont typeface="Tahoma"/>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5" name="Google Shape;95;p76"/>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6" name="Google Shape;96;p76"/>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7" name="Shape 97"/>
        <p:cNvGrpSpPr/>
        <p:nvPr/>
      </p:nvGrpSpPr>
      <p:grpSpPr>
        <a:xfrm>
          <a:off x="0" y="0"/>
          <a:ext cx="0" cy="0"/>
          <a:chOff x="0" y="0"/>
          <a:chExt cx="0" cy="0"/>
        </a:xfrm>
      </p:grpSpPr>
      <p:sp>
        <p:nvSpPr>
          <p:cNvPr id="98" name="Google Shape;98;p7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77"/>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 name="Shape 100"/>
        <p:cNvGrpSpPr/>
        <p:nvPr/>
      </p:nvGrpSpPr>
      <p:grpSpPr>
        <a:xfrm>
          <a:off x="0" y="0"/>
          <a:ext cx="0" cy="0"/>
          <a:chOff x="0" y="0"/>
          <a:chExt cx="0" cy="0"/>
        </a:xfrm>
      </p:grpSpPr>
      <p:sp>
        <p:nvSpPr>
          <p:cNvPr id="101" name="Google Shape;101;p78"/>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 name="Shape 102"/>
        <p:cNvGrpSpPr/>
        <p:nvPr/>
      </p:nvGrpSpPr>
      <p:grpSpPr>
        <a:xfrm>
          <a:off x="0" y="0"/>
          <a:ext cx="0" cy="0"/>
          <a:chOff x="0" y="0"/>
          <a:chExt cx="0" cy="0"/>
        </a:xfrm>
      </p:grpSpPr>
      <p:sp>
        <p:nvSpPr>
          <p:cNvPr id="103" name="Google Shape;103;p79"/>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4" name="Google Shape;104;p79"/>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ahoma"/>
              <a:buChar char="•"/>
              <a:defRPr sz="3200"/>
            </a:lvl1pPr>
            <a:lvl2pPr indent="-406400" lvl="1" marL="914400" algn="l">
              <a:spcBef>
                <a:spcPts val="560"/>
              </a:spcBef>
              <a:spcAft>
                <a:spcPts val="0"/>
              </a:spcAft>
              <a:buClr>
                <a:schemeClr val="dk1"/>
              </a:buClr>
              <a:buSzPts val="2800"/>
              <a:buFont typeface="Tahoma"/>
              <a:buChar char="–"/>
              <a:defRPr sz="2800"/>
            </a:lvl2pPr>
            <a:lvl3pPr indent="-381000" lvl="2" marL="1371600" algn="l">
              <a:spcBef>
                <a:spcPts val="480"/>
              </a:spcBef>
              <a:spcAft>
                <a:spcPts val="0"/>
              </a:spcAft>
              <a:buClr>
                <a:schemeClr val="dk1"/>
              </a:buClr>
              <a:buSzPts val="2400"/>
              <a:buFont typeface="Tahoma"/>
              <a:buChar char="•"/>
              <a:defRPr sz="2400"/>
            </a:lvl3pPr>
            <a:lvl4pPr indent="-355600" lvl="3" marL="1828800" algn="l">
              <a:spcBef>
                <a:spcPts val="400"/>
              </a:spcBef>
              <a:spcAft>
                <a:spcPts val="0"/>
              </a:spcAft>
              <a:buClr>
                <a:schemeClr val="dk1"/>
              </a:buClr>
              <a:buSzPts val="2000"/>
              <a:buFont typeface="Tahoma"/>
              <a:buChar char="–"/>
              <a:defRPr sz="2000"/>
            </a:lvl4pPr>
            <a:lvl5pPr indent="-355600" lvl="4" marL="2286000" algn="l">
              <a:spcBef>
                <a:spcPts val="400"/>
              </a:spcBef>
              <a:spcAft>
                <a:spcPts val="0"/>
              </a:spcAft>
              <a:buClr>
                <a:schemeClr val="dk1"/>
              </a:buClr>
              <a:buSzPts val="2000"/>
              <a:buFont typeface="Tahoma"/>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105" name="Google Shape;105;p79"/>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ahoma"/>
              <a:buNone/>
              <a:defRPr sz="1600"/>
            </a:lvl1pPr>
            <a:lvl2pPr indent="-228600" lvl="1" marL="914400" algn="l">
              <a:spcBef>
                <a:spcPts val="280"/>
              </a:spcBef>
              <a:spcAft>
                <a:spcPts val="0"/>
              </a:spcAft>
              <a:buClr>
                <a:schemeClr val="dk1"/>
              </a:buClr>
              <a:buSzPts val="1400"/>
              <a:buFont typeface="Tahoma"/>
              <a:buNone/>
              <a:defRPr sz="1400"/>
            </a:lvl2pPr>
            <a:lvl3pPr indent="-228600" lvl="2" marL="1371600" algn="l">
              <a:spcBef>
                <a:spcPts val="240"/>
              </a:spcBef>
              <a:spcAft>
                <a:spcPts val="0"/>
              </a:spcAft>
              <a:buClr>
                <a:schemeClr val="dk1"/>
              </a:buClr>
              <a:buSzPts val="1200"/>
              <a:buFont typeface="Tahoma"/>
              <a:buNone/>
              <a:defRPr sz="1200"/>
            </a:lvl3pPr>
            <a:lvl4pPr indent="-228600" lvl="3" marL="1828800" algn="l">
              <a:spcBef>
                <a:spcPts val="200"/>
              </a:spcBef>
              <a:spcAft>
                <a:spcPts val="0"/>
              </a:spcAft>
              <a:buClr>
                <a:schemeClr val="dk1"/>
              </a:buClr>
              <a:buSzPts val="1000"/>
              <a:buFont typeface="Tahoma"/>
              <a:buNone/>
              <a:defRPr sz="1000"/>
            </a:lvl4pPr>
            <a:lvl5pPr indent="-228600" lvl="4" marL="2286000" algn="l">
              <a:spcBef>
                <a:spcPts val="200"/>
              </a:spcBef>
              <a:spcAft>
                <a:spcPts val="0"/>
              </a:spcAft>
              <a:buClr>
                <a:schemeClr val="dk1"/>
              </a:buClr>
              <a:buSzPts val="1000"/>
              <a:buFont typeface="Tahoma"/>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06" name="Google Shape;106;p79"/>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80"/>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9" name="Google Shape;109;p80"/>
          <p:cNvSpPr/>
          <p:nvPr>
            <p:ph idx="2" type="pic"/>
          </p:nvPr>
        </p:nvSpPr>
        <p:spPr>
          <a:xfrm>
            <a:off x="3887788" y="987425"/>
            <a:ext cx="4629150" cy="4873625"/>
          </a:xfrm>
          <a:prstGeom prst="rect">
            <a:avLst/>
          </a:prstGeom>
          <a:noFill/>
          <a:ln>
            <a:noFill/>
          </a:ln>
        </p:spPr>
      </p:sp>
      <p:sp>
        <p:nvSpPr>
          <p:cNvPr id="110" name="Google Shape;110;p80"/>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ahoma"/>
              <a:buNone/>
              <a:defRPr sz="1600"/>
            </a:lvl1pPr>
            <a:lvl2pPr indent="-228600" lvl="1" marL="914400" algn="l">
              <a:spcBef>
                <a:spcPts val="280"/>
              </a:spcBef>
              <a:spcAft>
                <a:spcPts val="0"/>
              </a:spcAft>
              <a:buClr>
                <a:schemeClr val="dk1"/>
              </a:buClr>
              <a:buSzPts val="1400"/>
              <a:buFont typeface="Tahoma"/>
              <a:buNone/>
              <a:defRPr sz="1400"/>
            </a:lvl2pPr>
            <a:lvl3pPr indent="-228600" lvl="2" marL="1371600" algn="l">
              <a:spcBef>
                <a:spcPts val="240"/>
              </a:spcBef>
              <a:spcAft>
                <a:spcPts val="0"/>
              </a:spcAft>
              <a:buClr>
                <a:schemeClr val="dk1"/>
              </a:buClr>
              <a:buSzPts val="1200"/>
              <a:buFont typeface="Tahoma"/>
              <a:buNone/>
              <a:defRPr sz="1200"/>
            </a:lvl3pPr>
            <a:lvl4pPr indent="-228600" lvl="3" marL="1828800" algn="l">
              <a:spcBef>
                <a:spcPts val="200"/>
              </a:spcBef>
              <a:spcAft>
                <a:spcPts val="0"/>
              </a:spcAft>
              <a:buClr>
                <a:schemeClr val="dk1"/>
              </a:buClr>
              <a:buSzPts val="1000"/>
              <a:buFont typeface="Tahoma"/>
              <a:buNone/>
              <a:defRPr sz="1000"/>
            </a:lvl4pPr>
            <a:lvl5pPr indent="-228600" lvl="4" marL="2286000" algn="l">
              <a:spcBef>
                <a:spcPts val="200"/>
              </a:spcBef>
              <a:spcAft>
                <a:spcPts val="0"/>
              </a:spcAft>
              <a:buClr>
                <a:schemeClr val="dk1"/>
              </a:buClr>
              <a:buSzPts val="1000"/>
              <a:buFont typeface="Tahoma"/>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1" name="Google Shape;111;p80"/>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2" name="Shape 112"/>
        <p:cNvGrpSpPr/>
        <p:nvPr/>
      </p:nvGrpSpPr>
      <p:grpSpPr>
        <a:xfrm>
          <a:off x="0" y="0"/>
          <a:ext cx="0" cy="0"/>
          <a:chOff x="0" y="0"/>
          <a:chExt cx="0" cy="0"/>
        </a:xfrm>
      </p:grpSpPr>
      <p:sp>
        <p:nvSpPr>
          <p:cNvPr id="113" name="Google Shape;113;p8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4" name="Google Shape;114;p81"/>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5" name="Google Shape;115;p81"/>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6" name="Shape 116"/>
        <p:cNvGrpSpPr/>
        <p:nvPr/>
      </p:nvGrpSpPr>
      <p:grpSpPr>
        <a:xfrm>
          <a:off x="0" y="0"/>
          <a:ext cx="0" cy="0"/>
          <a:chOff x="0" y="0"/>
          <a:chExt cx="0" cy="0"/>
        </a:xfrm>
      </p:grpSpPr>
      <p:sp>
        <p:nvSpPr>
          <p:cNvPr id="117" name="Google Shape;117;p82"/>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82"/>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9" name="Google Shape;119;p82"/>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20" name="Shape 120"/>
        <p:cNvGrpSpPr/>
        <p:nvPr/>
      </p:nvGrpSpPr>
      <p:grpSpPr>
        <a:xfrm>
          <a:off x="0" y="0"/>
          <a:ext cx="0" cy="0"/>
          <a:chOff x="0" y="0"/>
          <a:chExt cx="0" cy="0"/>
        </a:xfrm>
      </p:grpSpPr>
      <p:sp>
        <p:nvSpPr>
          <p:cNvPr id="121" name="Google Shape;121;p8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2" name="Google Shape;122;p83"/>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3" name="Google Shape;123;p83"/>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4" name="Google Shape;124;p83"/>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F6D5"/>
        </a:solidFill>
      </p:bgPr>
    </p:bg>
    <p:spTree>
      <p:nvGrpSpPr>
        <p:cNvPr id="9" name="Shape 9"/>
        <p:cNvGrpSpPr/>
        <p:nvPr/>
      </p:nvGrpSpPr>
      <p:grpSpPr>
        <a:xfrm>
          <a:off x="0" y="0"/>
          <a:ext cx="0" cy="0"/>
          <a:chOff x="0" y="0"/>
          <a:chExt cx="0" cy="0"/>
        </a:xfrm>
      </p:grpSpPr>
      <p:sp>
        <p:nvSpPr>
          <p:cNvPr id="10" name="Google Shape;10;p5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1pPr>
            <a:lvl2pPr lvl="1"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2pPr>
            <a:lvl3pPr lvl="2"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3pPr>
            <a:lvl4pPr lvl="3"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4pPr>
            <a:lvl5pPr lvl="4"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5pPr>
            <a:lvl6pPr lvl="5"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6pPr>
            <a:lvl7pPr lvl="6"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7pPr>
            <a:lvl8pPr lvl="7"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8pPr>
            <a:lvl9pPr lvl="8"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9pPr>
          </a:lstStyle>
          <a:p/>
        </p:txBody>
      </p:sp>
      <p:sp>
        <p:nvSpPr>
          <p:cNvPr id="11" name="Google Shape;11;p5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ahoma"/>
              <a:buChar char="•"/>
              <a:defRPr b="0" i="0" sz="3200" u="none" cap="none" strike="noStrike">
                <a:solidFill>
                  <a:schemeClr val="dk1"/>
                </a:solidFill>
                <a:latin typeface="Tahoma"/>
                <a:ea typeface="Tahoma"/>
                <a:cs typeface="Tahoma"/>
                <a:sym typeface="Tahoma"/>
              </a:defRPr>
            </a:lvl1pPr>
            <a:lvl2pPr indent="-406400" lvl="1" marL="914400" marR="0" rtl="0" algn="l">
              <a:spcBef>
                <a:spcPts val="560"/>
              </a:spcBef>
              <a:spcAft>
                <a:spcPts val="0"/>
              </a:spcAft>
              <a:buClr>
                <a:schemeClr val="dk1"/>
              </a:buClr>
              <a:buSzPts val="2800"/>
              <a:buFont typeface="Tahoma"/>
              <a:buChar char="–"/>
              <a:defRPr b="0" i="0" sz="2800" u="none" cap="none" strike="noStrike">
                <a:solidFill>
                  <a:schemeClr val="dk1"/>
                </a:solidFill>
                <a:latin typeface="Tahoma"/>
                <a:ea typeface="Tahoma"/>
                <a:cs typeface="Tahoma"/>
                <a:sym typeface="Tahoma"/>
              </a:defRPr>
            </a:lvl2pPr>
            <a:lvl3pPr indent="-381000" lvl="2" marL="1371600" marR="0" rtl="0" algn="l">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9pPr>
          </a:lstStyle>
          <a:p/>
        </p:txBody>
      </p:sp>
      <p:sp>
        <p:nvSpPr>
          <p:cNvPr id="12" name="Google Shape;12;p58"/>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logo_tp" id="13" name="Google Shape;13;p58"/>
          <p:cNvPicPr preferRelativeResize="0"/>
          <p:nvPr/>
        </p:nvPicPr>
        <p:blipFill rotWithShape="1">
          <a:blip r:embed="rId1">
            <a:alphaModFix/>
          </a:blip>
          <a:srcRect b="0" l="0" r="0" t="0"/>
          <a:stretch/>
        </p:blipFill>
        <p:spPr>
          <a:xfrm>
            <a:off x="76200" y="6400800"/>
            <a:ext cx="1295400" cy="358775"/>
          </a:xfrm>
          <a:prstGeom prst="rect">
            <a:avLst/>
          </a:prstGeom>
          <a:noFill/>
          <a:ln>
            <a:noFill/>
          </a:ln>
        </p:spPr>
      </p:pic>
      <p:sp>
        <p:nvSpPr>
          <p:cNvPr id="14" name="Google Shape;14;p58"/>
          <p:cNvSpPr/>
          <p:nvPr/>
        </p:nvSpPr>
        <p:spPr>
          <a:xfrm>
            <a:off x="7315200" y="6478588"/>
            <a:ext cx="1828800" cy="227013"/>
          </a:xfrm>
          <a:prstGeom prst="rect">
            <a:avLst/>
          </a:prstGeom>
          <a:noFill/>
          <a:ln>
            <a:noFill/>
          </a:ln>
        </p:spPr>
        <p:txBody>
          <a:bodyPr anchorCtr="0" anchor="ctr" bIns="44450" lIns="90475" spcFirstLastPara="1" rIns="90475" wrap="square" tIns="44450">
            <a:noAutofit/>
          </a:bodyPr>
          <a:lstStyle/>
          <a:p>
            <a:pPr indent="-76200" lvl="0" marL="0" marR="0" rtl="0" algn="r">
              <a:lnSpc>
                <a:spcPct val="100000"/>
              </a:lnSpc>
              <a:spcBef>
                <a:spcPts val="0"/>
              </a:spcBef>
              <a:spcAft>
                <a:spcPts val="0"/>
              </a:spcAft>
              <a:buClr>
                <a:schemeClr val="lt1"/>
              </a:buClr>
              <a:buSzPts val="1200"/>
              <a:buFont typeface="Book Antiqua"/>
              <a:buChar char="©"/>
            </a:pPr>
            <a:r>
              <a:rPr b="1" i="1" lang="en-US" sz="1200" u="none" cap="none" strike="noStrike">
                <a:solidFill>
                  <a:schemeClr val="lt1"/>
                </a:solidFill>
                <a:latin typeface="Book Antiqua"/>
                <a:ea typeface="Book Antiqua"/>
                <a:cs typeface="Book Antiqua"/>
                <a:sym typeface="Book Antiqua"/>
              </a:rPr>
              <a:t>The McGraw-Hill Companies, 2005</a:t>
            </a:r>
            <a:endParaRPr b="1" i="1" sz="1200" u="none" cap="none" strike="noStrike">
              <a:solidFill>
                <a:schemeClr val="lt1"/>
              </a:solidFill>
              <a:latin typeface="Book Antiqua"/>
              <a:ea typeface="Book Antiqua"/>
              <a:cs typeface="Book Antiqua"/>
              <a:sym typeface="Book Antiqua"/>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F6D5"/>
        </a:solidFill>
      </p:bgPr>
    </p:bg>
    <p:spTree>
      <p:nvGrpSpPr>
        <p:cNvPr id="67" name="Shape 67"/>
        <p:cNvGrpSpPr/>
        <p:nvPr/>
      </p:nvGrpSpPr>
      <p:grpSpPr>
        <a:xfrm>
          <a:off x="0" y="0"/>
          <a:ext cx="0" cy="0"/>
          <a:chOff x="0" y="0"/>
          <a:chExt cx="0" cy="0"/>
        </a:xfrm>
      </p:grpSpPr>
      <p:sp>
        <p:nvSpPr>
          <p:cNvPr id="68" name="Google Shape;68;p6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1pPr>
            <a:lvl2pPr lvl="1"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2pPr>
            <a:lvl3pPr lvl="2"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3pPr>
            <a:lvl4pPr lvl="3"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4pPr>
            <a:lvl5pPr lvl="4"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5pPr>
            <a:lvl6pPr lvl="5"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6pPr>
            <a:lvl7pPr lvl="6"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7pPr>
            <a:lvl8pPr lvl="7"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8pPr>
            <a:lvl9pPr lvl="8" marR="0" rtl="0" algn="ctr">
              <a:spcBef>
                <a:spcPts val="0"/>
              </a:spcBef>
              <a:spcAft>
                <a:spcPts val="0"/>
              </a:spcAft>
              <a:buSzPts val="1400"/>
              <a:buNone/>
              <a:defRPr b="0" i="0" sz="4400" u="none" cap="none" strike="noStrike">
                <a:solidFill>
                  <a:schemeClr val="dk1"/>
                </a:solidFill>
                <a:latin typeface="Tahoma"/>
                <a:ea typeface="Tahoma"/>
                <a:cs typeface="Tahoma"/>
                <a:sym typeface="Tahoma"/>
              </a:defRPr>
            </a:lvl9pPr>
          </a:lstStyle>
          <a:p/>
        </p:txBody>
      </p:sp>
      <p:sp>
        <p:nvSpPr>
          <p:cNvPr id="69" name="Google Shape;69;p6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ahoma"/>
              <a:buChar char="•"/>
              <a:defRPr b="0" i="0" sz="3200" u="none" cap="none" strike="noStrike">
                <a:solidFill>
                  <a:schemeClr val="dk1"/>
                </a:solidFill>
                <a:latin typeface="Tahoma"/>
                <a:ea typeface="Tahoma"/>
                <a:cs typeface="Tahoma"/>
                <a:sym typeface="Tahoma"/>
              </a:defRPr>
            </a:lvl1pPr>
            <a:lvl2pPr indent="-406400" lvl="1" marL="914400" marR="0" rtl="0" algn="l">
              <a:spcBef>
                <a:spcPts val="560"/>
              </a:spcBef>
              <a:spcAft>
                <a:spcPts val="0"/>
              </a:spcAft>
              <a:buClr>
                <a:schemeClr val="dk1"/>
              </a:buClr>
              <a:buSzPts val="2800"/>
              <a:buFont typeface="Tahoma"/>
              <a:buChar char="–"/>
              <a:defRPr b="0" i="0" sz="2800" u="none" cap="none" strike="noStrike">
                <a:solidFill>
                  <a:schemeClr val="dk1"/>
                </a:solidFill>
                <a:latin typeface="Tahoma"/>
                <a:ea typeface="Tahoma"/>
                <a:cs typeface="Tahoma"/>
                <a:sym typeface="Tahoma"/>
              </a:defRPr>
            </a:lvl2pPr>
            <a:lvl3pPr indent="-381000" lvl="2" marL="1371600" marR="0" rtl="0" algn="l">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ahoma"/>
                <a:ea typeface="Tahoma"/>
                <a:cs typeface="Tahoma"/>
                <a:sym typeface="Tahoma"/>
              </a:defRPr>
            </a:lvl9pPr>
          </a:lstStyle>
          <a:p/>
        </p:txBody>
      </p:sp>
      <p:sp>
        <p:nvSpPr>
          <p:cNvPr id="70" name="Google Shape;70;p63"/>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lt1"/>
              </a:buClr>
              <a:buSzPts val="1400"/>
              <a:buFont typeface="Times New Roman"/>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logo_tp" id="71" name="Google Shape;71;p63"/>
          <p:cNvPicPr preferRelativeResize="0"/>
          <p:nvPr/>
        </p:nvPicPr>
        <p:blipFill rotWithShape="1">
          <a:blip r:embed="rId1">
            <a:alphaModFix/>
          </a:blip>
          <a:srcRect b="0" l="0" r="0" t="0"/>
          <a:stretch/>
        </p:blipFill>
        <p:spPr>
          <a:xfrm>
            <a:off x="76200" y="6400800"/>
            <a:ext cx="1295400" cy="358775"/>
          </a:xfrm>
          <a:prstGeom prst="rect">
            <a:avLst/>
          </a:prstGeom>
          <a:noFill/>
          <a:ln>
            <a:noFill/>
          </a:ln>
        </p:spPr>
      </p:pic>
      <p:sp>
        <p:nvSpPr>
          <p:cNvPr id="72" name="Google Shape;72;p63"/>
          <p:cNvSpPr/>
          <p:nvPr/>
        </p:nvSpPr>
        <p:spPr>
          <a:xfrm>
            <a:off x="7315200" y="6478588"/>
            <a:ext cx="1828800" cy="227013"/>
          </a:xfrm>
          <a:prstGeom prst="rect">
            <a:avLst/>
          </a:prstGeom>
          <a:noFill/>
          <a:ln>
            <a:noFill/>
          </a:ln>
        </p:spPr>
        <p:txBody>
          <a:bodyPr anchorCtr="0" anchor="ctr" bIns="44450" lIns="90475" spcFirstLastPara="1" rIns="90475" wrap="square" tIns="44450">
            <a:noAutofit/>
          </a:bodyPr>
          <a:lstStyle/>
          <a:p>
            <a:pPr indent="-76200" lvl="0" marL="0" marR="0" rtl="0" algn="r">
              <a:lnSpc>
                <a:spcPct val="100000"/>
              </a:lnSpc>
              <a:spcBef>
                <a:spcPts val="0"/>
              </a:spcBef>
              <a:spcAft>
                <a:spcPts val="0"/>
              </a:spcAft>
              <a:buClr>
                <a:schemeClr val="lt1"/>
              </a:buClr>
              <a:buSzPts val="1200"/>
              <a:buFont typeface="Book Antiqua"/>
              <a:buChar char="©"/>
            </a:pPr>
            <a:r>
              <a:rPr b="1" i="1" lang="en-US" sz="1200" u="none" cap="none" strike="noStrike">
                <a:solidFill>
                  <a:schemeClr val="lt1"/>
                </a:solidFill>
                <a:latin typeface="Book Antiqua"/>
                <a:ea typeface="Book Antiqua"/>
                <a:cs typeface="Book Antiqua"/>
                <a:sym typeface="Book Antiqua"/>
              </a:rPr>
              <a:t>The McGraw-Hill Companies, 2005</a:t>
            </a:r>
            <a:endParaRPr b="1" i="1" sz="1200" u="none" cap="none" strike="noStrike">
              <a:solidFill>
                <a:schemeClr val="lt1"/>
              </a:solidFill>
              <a:latin typeface="Book Antiqua"/>
              <a:ea typeface="Book Antiqua"/>
              <a:cs typeface="Book Antiqua"/>
              <a:sym typeface="Book Antiqua"/>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131" name="Google Shape;131;p1"/>
          <p:cNvSpPr/>
          <p:nvPr/>
        </p:nvSpPr>
        <p:spPr>
          <a:xfrm>
            <a:off x="5219700" y="476250"/>
            <a:ext cx="3600450" cy="5473700"/>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t/>
            </a:r>
            <a:endParaRPr b="0" i="0" sz="1800" u="none" cap="none" strike="noStrike">
              <a:solidFill>
                <a:schemeClr val="lt1"/>
              </a:solidFill>
              <a:latin typeface="Arial"/>
              <a:ea typeface="Arial"/>
              <a:cs typeface="Arial"/>
              <a:sym typeface="Arial"/>
            </a:endParaRPr>
          </a:p>
        </p:txBody>
      </p:sp>
      <p:sp>
        <p:nvSpPr>
          <p:cNvPr id="132" name="Google Shape;132;p1"/>
          <p:cNvSpPr/>
          <p:nvPr/>
        </p:nvSpPr>
        <p:spPr>
          <a:xfrm>
            <a:off x="5364163" y="2276475"/>
            <a:ext cx="3311525" cy="592138"/>
          </a:xfrm>
          <a:prstGeom prst="rect">
            <a:avLst/>
          </a:prstGeom>
          <a:noFill/>
          <a:ln>
            <a:noFill/>
          </a:ln>
        </p:spPr>
        <p:txBody>
          <a:bodyPr anchorCtr="0" anchor="t" bIns="44450" lIns="90475" spcFirstLastPara="1" rIns="90475" wrap="square" tIns="44450">
            <a:spAutoFit/>
          </a:bodyPr>
          <a:lstStyle/>
          <a:p>
            <a:pPr indent="0" lvl="0" marL="0" marR="0" rtl="0" algn="r">
              <a:lnSpc>
                <a:spcPct val="100000"/>
              </a:lnSpc>
              <a:spcBef>
                <a:spcPts val="0"/>
              </a:spcBef>
              <a:spcAft>
                <a:spcPts val="0"/>
              </a:spcAft>
              <a:buClr>
                <a:schemeClr val="dk1"/>
              </a:buClr>
              <a:buSzPts val="3300"/>
              <a:buFont typeface="Arial"/>
              <a:buNone/>
            </a:pPr>
            <a:r>
              <a:rPr b="1" i="0" lang="en-US" sz="3300" u="none" cap="none" strike="noStrike">
                <a:solidFill>
                  <a:schemeClr val="dk1"/>
                </a:solidFill>
                <a:latin typeface="Arial"/>
                <a:ea typeface="Arial"/>
                <a:cs typeface="Arial"/>
                <a:sym typeface="Arial"/>
              </a:rPr>
              <a:t>An Introduction</a:t>
            </a:r>
            <a:endParaRPr b="1" i="0" sz="3300" u="none" cap="none" strike="noStrike">
              <a:solidFill>
                <a:schemeClr val="dk1"/>
              </a:solidFill>
              <a:latin typeface="Arial"/>
              <a:ea typeface="Arial"/>
              <a:cs typeface="Arial"/>
              <a:sym typeface="Arial"/>
            </a:endParaRPr>
          </a:p>
        </p:txBody>
      </p:sp>
      <p:sp>
        <p:nvSpPr>
          <p:cNvPr id="133" name="Google Shape;133;p1"/>
          <p:cNvSpPr/>
          <p:nvPr/>
        </p:nvSpPr>
        <p:spPr>
          <a:xfrm>
            <a:off x="5724525" y="836613"/>
            <a:ext cx="2509838" cy="609600"/>
          </a:xfrm>
          <a:prstGeom prst="rect">
            <a:avLst/>
          </a:prstGeom>
          <a:noFill/>
          <a:ln>
            <a:noFill/>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3600"/>
              <a:buFont typeface="Tahoma"/>
              <a:buNone/>
            </a:pPr>
            <a:r>
              <a:rPr b="1" i="0" lang="en-US" sz="3600" u="none" cap="none" strike="noStrike">
                <a:solidFill>
                  <a:schemeClr val="dk1"/>
                </a:solidFill>
                <a:latin typeface="Tahoma"/>
                <a:ea typeface="Tahoma"/>
                <a:cs typeface="Tahoma"/>
                <a:sym typeface="Tahoma"/>
              </a:rPr>
              <a:t>Chapter 1</a:t>
            </a:r>
            <a:endParaRPr b="1" i="0" sz="3600" u="none" cap="none" strike="noStrike">
              <a:solidFill>
                <a:schemeClr val="dk1"/>
              </a:solidFill>
              <a:latin typeface="Tahoma"/>
              <a:ea typeface="Tahoma"/>
              <a:cs typeface="Tahoma"/>
              <a:sym typeface="Tahoma"/>
            </a:endParaRPr>
          </a:p>
        </p:txBody>
      </p:sp>
      <p:sp>
        <p:nvSpPr>
          <p:cNvPr id="134" name="Google Shape;134;p1"/>
          <p:cNvSpPr/>
          <p:nvPr/>
        </p:nvSpPr>
        <p:spPr>
          <a:xfrm>
            <a:off x="0" y="260350"/>
            <a:ext cx="4968875" cy="1770063"/>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4000"/>
              <a:buFont typeface="Tahoma"/>
              <a:buNone/>
            </a:pPr>
            <a:r>
              <a:rPr b="1" i="0" lang="en-US" sz="4000" u="none" cap="none" strike="noStrike">
                <a:solidFill>
                  <a:schemeClr val="dk1"/>
                </a:solidFill>
                <a:latin typeface="Tahoma"/>
                <a:ea typeface="Tahoma"/>
                <a:cs typeface="Tahoma"/>
                <a:sym typeface="Tahoma"/>
              </a:rPr>
              <a:t>Software Project Management</a:t>
            </a:r>
            <a:endParaRPr b="1" i="0" sz="3600" u="none" cap="none" strike="noStrike">
              <a:solidFill>
                <a:schemeClr val="dk1"/>
              </a:solidFill>
              <a:latin typeface="Tahoma"/>
              <a:ea typeface="Tahoma"/>
              <a:cs typeface="Tahoma"/>
              <a:sym typeface="Tahoma"/>
            </a:endParaRPr>
          </a:p>
          <a:p>
            <a:pPr indent="0" lvl="0" marL="0" marR="0" rtl="0" algn="ctr">
              <a:lnSpc>
                <a:spcPct val="70000"/>
              </a:lnSpc>
              <a:spcBef>
                <a:spcPts val="120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6</a:t>
            </a:r>
            <a:r>
              <a:rPr b="1" baseline="30000" i="0" lang="en-US" sz="2400" u="none" cap="none" strike="noStrike">
                <a:solidFill>
                  <a:schemeClr val="dk1"/>
                </a:solidFill>
                <a:latin typeface="Tahoma"/>
                <a:ea typeface="Tahoma"/>
                <a:cs typeface="Tahoma"/>
                <a:sym typeface="Tahoma"/>
              </a:rPr>
              <a:t>th</a:t>
            </a:r>
            <a:r>
              <a:rPr b="1" i="0" lang="en-US" sz="2400" u="none" cap="none" strike="noStrike">
                <a:solidFill>
                  <a:schemeClr val="dk1"/>
                </a:solidFill>
                <a:latin typeface="Tahoma"/>
                <a:ea typeface="Tahoma"/>
                <a:cs typeface="Tahoma"/>
                <a:sym typeface="Tahoma"/>
              </a:rPr>
              <a:t> Edition</a:t>
            </a:r>
            <a:endParaRPr b="1" i="0" sz="2400" u="none" cap="none" strike="noStrike">
              <a:solidFill>
                <a:schemeClr val="dk1"/>
              </a:solidFill>
              <a:latin typeface="Times New Roman"/>
              <a:ea typeface="Times New Roman"/>
              <a:cs typeface="Times New Roman"/>
              <a:sym typeface="Times New Roman"/>
            </a:endParaRPr>
          </a:p>
        </p:txBody>
      </p:sp>
      <p:sp>
        <p:nvSpPr>
          <p:cNvPr id="135" name="Google Shape;135;p1"/>
          <p:cNvSpPr/>
          <p:nvPr/>
        </p:nvSpPr>
        <p:spPr>
          <a:xfrm>
            <a:off x="6084888" y="4941888"/>
            <a:ext cx="2557462" cy="698500"/>
          </a:xfrm>
          <a:prstGeom prst="rect">
            <a:avLst/>
          </a:prstGeom>
          <a:noFill/>
          <a:ln>
            <a:noFill/>
          </a:ln>
        </p:spPr>
        <p:txBody>
          <a:bodyPr anchorCtr="0" anchor="t" bIns="44450" lIns="90475" spcFirstLastPara="1" rIns="90475" wrap="square" tIns="44450">
            <a:spAutoFit/>
          </a:bodyPr>
          <a:lstStyle/>
          <a:p>
            <a:pPr indent="0" lvl="0" marL="0" marR="0" rtl="0" algn="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Robert Hughes and Mike Cotterell</a:t>
            </a:r>
            <a:endParaRPr b="1" i="0" sz="2400" u="none" cap="none" strike="noStrike">
              <a:solidFill>
                <a:schemeClr val="dk1"/>
              </a:solidFill>
              <a:latin typeface="Arial"/>
              <a:ea typeface="Arial"/>
              <a:cs typeface="Arial"/>
              <a:sym typeface="Arial"/>
            </a:endParaRPr>
          </a:p>
        </p:txBody>
      </p:sp>
      <p:sp>
        <p:nvSpPr>
          <p:cNvPr id="136" name="Google Shape;136;p1"/>
          <p:cNvSpPr/>
          <p:nvPr/>
        </p:nvSpPr>
        <p:spPr>
          <a:xfrm>
            <a:off x="971550" y="6092825"/>
            <a:ext cx="3548063" cy="98425"/>
          </a:xfrm>
          <a:prstGeom prst="rect">
            <a:avLst/>
          </a:prstGeom>
          <a:solidFill>
            <a:srgbClr val="000000"/>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ahoma"/>
              <a:buNone/>
            </a:pPr>
            <a:r>
              <a:t/>
            </a:r>
            <a:endParaRPr b="0" i="0" sz="1800" u="none" cap="none" strike="noStrike">
              <a:solidFill>
                <a:schemeClr val="lt1"/>
              </a:solidFill>
              <a:latin typeface="Arial"/>
              <a:ea typeface="Arial"/>
              <a:cs typeface="Arial"/>
              <a:sym typeface="Arial"/>
            </a:endParaRPr>
          </a:p>
        </p:txBody>
      </p:sp>
      <p:pic>
        <p:nvPicPr>
          <p:cNvPr id="137" name="Google Shape;137;p1"/>
          <p:cNvPicPr preferRelativeResize="0"/>
          <p:nvPr/>
        </p:nvPicPr>
        <p:blipFill rotWithShape="1">
          <a:blip r:embed="rId3">
            <a:alphaModFix/>
          </a:blip>
          <a:srcRect b="0" l="0" r="0" t="0"/>
          <a:stretch/>
        </p:blipFill>
        <p:spPr>
          <a:xfrm>
            <a:off x="1235075" y="2263775"/>
            <a:ext cx="2944813" cy="3795713"/>
          </a:xfrm>
          <a:prstGeom prst="rect">
            <a:avLst/>
          </a:prstGeom>
          <a:noFill/>
          <a:ln cap="flat" cmpd="sng" w="9525">
            <a:solidFill>
              <a:schemeClr val="dk1"/>
            </a:solidFill>
            <a:prstDash val="solid"/>
            <a:miter lim="8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144" name="Google Shape;144;p2"/>
          <p:cNvSpPr txBox="1"/>
          <p:nvPr>
            <p:ph type="title"/>
          </p:nvPr>
        </p:nvSpPr>
        <p:spPr>
          <a:xfrm>
            <a:off x="684213" y="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About the course</a:t>
            </a:r>
            <a:endParaRPr u="sng"/>
          </a:p>
        </p:txBody>
      </p:sp>
      <p:sp>
        <p:nvSpPr>
          <p:cNvPr id="145" name="Google Shape;145;p2"/>
          <p:cNvSpPr txBox="1"/>
          <p:nvPr>
            <p:ph idx="1" type="body"/>
          </p:nvPr>
        </p:nvSpPr>
        <p:spPr>
          <a:xfrm>
            <a:off x="684213" y="1196975"/>
            <a:ext cx="7772400" cy="46799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3 Credits</a:t>
            </a:r>
            <a:endParaRPr b="0" i="0" sz="2000" u="none" cap="none" strike="noStrike">
              <a:solidFill>
                <a:schemeClr val="dk1"/>
              </a:solidFill>
              <a:latin typeface="Tahoma"/>
              <a:ea typeface="Tahoma"/>
              <a:cs typeface="Tahoma"/>
              <a:sym typeface="Tahoma"/>
            </a:endParaRPr>
          </a:p>
          <a:p>
            <a:pPr indent="-342900" lvl="0" marL="34290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Audience:</a:t>
            </a:r>
            <a:endParaRPr b="0" i="0" sz="2000" u="none" cap="none" strike="noStrike">
              <a:solidFill>
                <a:schemeClr val="dk1"/>
              </a:solidFill>
              <a:latin typeface="Tahoma"/>
              <a:ea typeface="Tahoma"/>
              <a:cs typeface="Tahoma"/>
              <a:sym typeface="Tahoma"/>
            </a:endParaRPr>
          </a:p>
          <a:p>
            <a:pPr indent="-285750" lvl="1" marL="74295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Software Engineering </a:t>
            </a:r>
            <a:endParaRPr b="0" i="0" sz="2000" u="none" cap="none" strike="noStrike">
              <a:solidFill>
                <a:schemeClr val="dk1"/>
              </a:solidFill>
              <a:latin typeface="Tahoma"/>
              <a:ea typeface="Tahoma"/>
              <a:cs typeface="Tahoma"/>
              <a:sym typeface="Tahoma"/>
            </a:endParaRPr>
          </a:p>
          <a:p>
            <a:pPr indent="-285750" lvl="1" marL="74295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Computer Science Technology </a:t>
            </a:r>
            <a:endParaRPr b="0" i="0" sz="2000" u="none" cap="none" strike="noStrike">
              <a:solidFill>
                <a:schemeClr val="dk1"/>
              </a:solidFill>
              <a:latin typeface="Tahoma"/>
              <a:ea typeface="Tahoma"/>
              <a:cs typeface="Tahoma"/>
              <a:sym typeface="Tahoma"/>
            </a:endParaRPr>
          </a:p>
          <a:p>
            <a:pPr indent="-285750" lvl="1" marL="74295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Information Management </a:t>
            </a:r>
            <a:endParaRPr b="0" i="0" sz="2000" u="none" cap="none" strike="noStrike">
              <a:solidFill>
                <a:schemeClr val="dk1"/>
              </a:solidFill>
              <a:latin typeface="Tahoma"/>
              <a:ea typeface="Tahoma"/>
              <a:cs typeface="Tahoma"/>
              <a:sym typeface="Tahoma"/>
            </a:endParaRPr>
          </a:p>
          <a:p>
            <a:pPr indent="-342900" lvl="0" marL="342900" marR="0" rtl="0" algn="l">
              <a:lnSpc>
                <a:spcPct val="100000"/>
              </a:lnSpc>
              <a:spcBef>
                <a:spcPts val="460"/>
              </a:spcBef>
              <a:spcAft>
                <a:spcPts val="0"/>
              </a:spcAft>
              <a:buClr>
                <a:schemeClr val="dk1"/>
              </a:buClr>
              <a:buSzPts val="2300"/>
              <a:buFont typeface="Tahoma"/>
              <a:buChar char="•"/>
            </a:pPr>
            <a:r>
              <a:rPr b="0" i="0" lang="en-US" sz="2300" u="none" cap="none" strike="noStrike">
                <a:solidFill>
                  <a:schemeClr val="dk1"/>
                </a:solidFill>
                <a:latin typeface="Tahoma"/>
                <a:ea typeface="Tahoma"/>
                <a:cs typeface="Tahoma"/>
                <a:sym typeface="Tahoma"/>
              </a:rPr>
              <a:t>Previous Courses:</a:t>
            </a:r>
            <a:endParaRPr b="0" i="0" sz="2300" u="none" cap="none" strike="noStrike">
              <a:solidFill>
                <a:schemeClr val="dk1"/>
              </a:solidFill>
              <a:latin typeface="Tahoma"/>
              <a:ea typeface="Tahoma"/>
              <a:cs typeface="Tahoma"/>
              <a:sym typeface="Tahoma"/>
            </a:endParaRPr>
          </a:p>
          <a:p>
            <a:pPr indent="-285750" lvl="1" marL="74295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Software Engineering</a:t>
            </a:r>
            <a:endParaRPr b="0" i="0" sz="2000" u="none" cap="none" strike="noStrike">
              <a:solidFill>
                <a:schemeClr val="dk1"/>
              </a:solidFill>
              <a:latin typeface="Tahoma"/>
              <a:ea typeface="Tahoma"/>
              <a:cs typeface="Tahoma"/>
              <a:sym typeface="Tahoma"/>
            </a:endParaRPr>
          </a:p>
          <a:p>
            <a:pPr indent="-285750" lvl="1" marL="74295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Principle of Management</a:t>
            </a:r>
            <a:endParaRPr b="0" i="0" sz="2000" u="none" cap="none" strike="noStrike">
              <a:solidFill>
                <a:schemeClr val="dk1"/>
              </a:solidFill>
              <a:latin typeface="Tahoma"/>
              <a:ea typeface="Tahoma"/>
              <a:cs typeface="Tahoma"/>
              <a:sym typeface="Tahoma"/>
            </a:endParaRPr>
          </a:p>
          <a:p>
            <a:pPr indent="-342900" lvl="0" marL="342900" marR="0" rtl="0" algn="l">
              <a:lnSpc>
                <a:spcPct val="100000"/>
              </a:lnSpc>
              <a:spcBef>
                <a:spcPts val="460"/>
              </a:spcBef>
              <a:spcAft>
                <a:spcPts val="0"/>
              </a:spcAft>
              <a:buClr>
                <a:schemeClr val="dk1"/>
              </a:buClr>
              <a:buSzPts val="2300"/>
              <a:buFont typeface="Tahoma"/>
              <a:buChar char="•"/>
            </a:pPr>
            <a:r>
              <a:rPr b="0" i="0" lang="en-US" sz="2300" u="none" cap="none" strike="noStrike">
                <a:solidFill>
                  <a:schemeClr val="dk1"/>
                </a:solidFill>
                <a:latin typeface="Tahoma"/>
                <a:ea typeface="Tahoma"/>
                <a:cs typeface="Tahoma"/>
                <a:sym typeface="Tahoma"/>
              </a:rPr>
              <a:t>Text book</a:t>
            </a:r>
            <a:endParaRPr b="0" i="0" sz="2300" u="none" cap="none" strike="noStrike">
              <a:solidFill>
                <a:schemeClr val="dk1"/>
              </a:solidFill>
              <a:latin typeface="Tahoma"/>
              <a:ea typeface="Tahoma"/>
              <a:cs typeface="Tahoma"/>
              <a:sym typeface="Tahoma"/>
            </a:endParaRPr>
          </a:p>
          <a:p>
            <a:pPr indent="-285750" lvl="1" marL="74295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By Bob Hughes and Mike Cotterell</a:t>
            </a:r>
            <a:endParaRPr b="0" i="0" sz="2000" u="none" cap="none" strike="noStrike">
              <a:solidFill>
                <a:schemeClr val="dk1"/>
              </a:solidFill>
              <a:latin typeface="Tahoma"/>
              <a:ea typeface="Tahoma"/>
              <a:cs typeface="Tahoma"/>
              <a:sym typeface="Tahoma"/>
            </a:endParaRPr>
          </a:p>
          <a:p>
            <a:pPr indent="-285750" lvl="1" marL="74295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6</a:t>
            </a:r>
            <a:r>
              <a:rPr b="0" baseline="30000" i="0" lang="en-US" sz="2000" u="none" cap="none" strike="noStrike">
                <a:solidFill>
                  <a:schemeClr val="dk1"/>
                </a:solidFill>
                <a:latin typeface="Tahoma"/>
                <a:ea typeface="Tahoma"/>
                <a:cs typeface="Tahoma"/>
                <a:sym typeface="Tahoma"/>
              </a:rPr>
              <a:t>th</a:t>
            </a:r>
            <a:r>
              <a:rPr b="0" i="0" lang="en-US" sz="2000" u="none" cap="none" strike="noStrike">
                <a:solidFill>
                  <a:schemeClr val="dk1"/>
                </a:solidFill>
                <a:latin typeface="Tahoma"/>
                <a:ea typeface="Tahoma"/>
                <a:cs typeface="Tahoma"/>
                <a:sym typeface="Tahoma"/>
              </a:rPr>
              <a:t> Edition</a:t>
            </a:r>
            <a:endParaRPr b="0" i="0" sz="2000" u="none" cap="none" strike="noStrike">
              <a:solidFill>
                <a:schemeClr val="dk1"/>
              </a:solidFill>
              <a:latin typeface="Tahoma"/>
              <a:ea typeface="Tahoma"/>
              <a:cs typeface="Tahoma"/>
              <a:sym typeface="Tahoma"/>
            </a:endParaRPr>
          </a:p>
          <a:p>
            <a:pPr indent="-285750" lvl="1" marL="742950" marR="0" rtl="0" algn="l">
              <a:lnSpc>
                <a:spcPct val="100000"/>
              </a:lnSpc>
              <a:spcBef>
                <a:spcPts val="40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PM BoK 5</a:t>
            </a:r>
            <a:r>
              <a:rPr b="0" baseline="30000" i="0" lang="en-US" sz="2000" u="none" cap="none" strike="noStrike">
                <a:solidFill>
                  <a:schemeClr val="dk1"/>
                </a:solidFill>
                <a:latin typeface="Tahoma"/>
                <a:ea typeface="Tahoma"/>
                <a:cs typeface="Tahoma"/>
                <a:sym typeface="Tahoma"/>
              </a:rPr>
              <a:t>th</a:t>
            </a:r>
            <a:r>
              <a:rPr b="0" i="0" lang="en-US" sz="2000" u="none" cap="none" strike="noStrike">
                <a:solidFill>
                  <a:schemeClr val="dk1"/>
                </a:solidFill>
                <a:latin typeface="Tahoma"/>
                <a:ea typeface="Tahoma"/>
                <a:cs typeface="Tahoma"/>
                <a:sym typeface="Tahoma"/>
              </a:rPr>
              <a:t>/6</a:t>
            </a:r>
            <a:r>
              <a:rPr b="0" baseline="30000" i="0" lang="en-US" sz="2000" u="none" cap="none" strike="noStrike">
                <a:solidFill>
                  <a:schemeClr val="dk1"/>
                </a:solidFill>
                <a:latin typeface="Tahoma"/>
                <a:ea typeface="Tahoma"/>
                <a:cs typeface="Tahoma"/>
                <a:sym typeface="Tahoma"/>
              </a:rPr>
              <a:t>th</a:t>
            </a:r>
            <a:r>
              <a:rPr b="0" i="0" lang="en-US" sz="2000" u="none" cap="none" strike="noStrike">
                <a:solidFill>
                  <a:schemeClr val="dk1"/>
                </a:solidFill>
                <a:latin typeface="Tahoma"/>
                <a:ea typeface="Tahoma"/>
                <a:cs typeface="Tahoma"/>
                <a:sym typeface="Tahoma"/>
              </a:rPr>
              <a:t> Edition</a:t>
            </a:r>
            <a:endParaRPr b="0" i="0" sz="2000" u="none" cap="none" strike="noStrike">
              <a:solidFill>
                <a:schemeClr val="dk1"/>
              </a:solidFill>
              <a:latin typeface="Tahoma"/>
              <a:ea typeface="Tahoma"/>
              <a:cs typeface="Tahoma"/>
              <a:sym typeface="Tahoma"/>
            </a:endParaRPr>
          </a:p>
          <a:p>
            <a:pPr indent="0" lvl="0" marL="0" marR="0" rtl="0" algn="l">
              <a:lnSpc>
                <a:spcPct val="150000"/>
              </a:lnSpc>
              <a:spcBef>
                <a:spcPts val="520"/>
              </a:spcBef>
              <a:spcAft>
                <a:spcPts val="0"/>
              </a:spcAft>
              <a:buClr>
                <a:schemeClr val="dk1"/>
              </a:buClr>
              <a:buSzPts val="2600"/>
              <a:buFont typeface="Tahoma"/>
              <a:buNone/>
            </a:pPr>
            <a:r>
              <a:t/>
            </a:r>
            <a:endParaRPr b="0" i="0" sz="2600" u="none" cap="none" strike="noStrike">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Tahoma"/>
              <a:buNone/>
            </a:pPr>
            <a:r>
              <a:rPr lang="en-US"/>
              <a:t>Course Organization</a:t>
            </a:r>
            <a:endParaRPr/>
          </a:p>
        </p:txBody>
      </p:sp>
      <p:sp>
        <p:nvSpPr>
          <p:cNvPr id="151" name="Google Shape;151;p3"/>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chemeClr val="lt1"/>
              </a:solidFill>
              <a:latin typeface="Times New Roman"/>
              <a:ea typeface="Times New Roman"/>
              <a:cs typeface="Times New Roman"/>
              <a:sym typeface="Times New Roman"/>
            </a:endParaRPr>
          </a:p>
        </p:txBody>
      </p:sp>
      <p:grpSp>
        <p:nvGrpSpPr>
          <p:cNvPr id="152" name="Google Shape;152;p3"/>
          <p:cNvGrpSpPr/>
          <p:nvPr/>
        </p:nvGrpSpPr>
        <p:grpSpPr>
          <a:xfrm>
            <a:off x="1125660" y="1600767"/>
            <a:ext cx="7285130" cy="4570866"/>
            <a:chOff x="363660" y="567"/>
            <a:chExt cx="7285130" cy="4570866"/>
          </a:xfrm>
        </p:grpSpPr>
        <p:sp>
          <p:nvSpPr>
            <p:cNvPr id="153" name="Google Shape;153;p3"/>
            <p:cNvSpPr/>
            <p:nvPr/>
          </p:nvSpPr>
          <p:spPr>
            <a:xfrm>
              <a:off x="363660" y="567"/>
              <a:ext cx="1694216" cy="1016530"/>
            </a:xfrm>
            <a:prstGeom prst="rect">
              <a:avLst/>
            </a:prstGeom>
            <a:solidFill>
              <a:srgbClr val="DC7F45"/>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txBox="1"/>
            <p:nvPr/>
          </p:nvSpPr>
          <p:spPr>
            <a:xfrm>
              <a:off x="363660" y="567"/>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1. Introduction to SPM</a:t>
              </a:r>
              <a:endParaRPr b="0" i="0" sz="1600" u="none" cap="none" strike="noStrike">
                <a:solidFill>
                  <a:srgbClr val="000000"/>
                </a:solidFill>
                <a:latin typeface="Georgia"/>
                <a:ea typeface="Georgia"/>
                <a:cs typeface="Georgia"/>
                <a:sym typeface="Georgia"/>
              </a:endParaRPr>
            </a:p>
          </p:txBody>
        </p:sp>
        <p:sp>
          <p:nvSpPr>
            <p:cNvPr id="155" name="Google Shape;155;p3"/>
            <p:cNvSpPr/>
            <p:nvPr/>
          </p:nvSpPr>
          <p:spPr>
            <a:xfrm>
              <a:off x="2227298" y="567"/>
              <a:ext cx="1694216" cy="1016530"/>
            </a:xfrm>
            <a:prstGeom prst="rect">
              <a:avLst/>
            </a:prstGeom>
            <a:solidFill>
              <a:srgbClr val="A5AB81"/>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txBox="1"/>
            <p:nvPr/>
          </p:nvSpPr>
          <p:spPr>
            <a:xfrm>
              <a:off x="2227298" y="567"/>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2. PM Tools</a:t>
              </a:r>
              <a:endParaRPr b="0" i="0" sz="1600" u="none" cap="none" strike="noStrike">
                <a:solidFill>
                  <a:srgbClr val="000000"/>
                </a:solidFill>
                <a:latin typeface="Georgia"/>
                <a:ea typeface="Georgia"/>
                <a:cs typeface="Georgia"/>
                <a:sym typeface="Georgia"/>
              </a:endParaRPr>
            </a:p>
          </p:txBody>
        </p:sp>
        <p:sp>
          <p:nvSpPr>
            <p:cNvPr id="157" name="Google Shape;157;p3"/>
            <p:cNvSpPr/>
            <p:nvPr/>
          </p:nvSpPr>
          <p:spPr>
            <a:xfrm>
              <a:off x="4090936" y="567"/>
              <a:ext cx="1694216" cy="1016530"/>
            </a:xfrm>
            <a:prstGeom prst="rect">
              <a:avLst/>
            </a:prstGeom>
            <a:solidFill>
              <a:srgbClr val="D8B259"/>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txBox="1"/>
            <p:nvPr/>
          </p:nvSpPr>
          <p:spPr>
            <a:xfrm>
              <a:off x="4090936" y="567"/>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3. PMI Framework / Knowledge Areas</a:t>
              </a:r>
              <a:endParaRPr b="0" i="0" sz="1600" u="none" cap="none" strike="noStrike">
                <a:solidFill>
                  <a:srgbClr val="000000"/>
                </a:solidFill>
                <a:latin typeface="Georgia"/>
                <a:ea typeface="Georgia"/>
                <a:cs typeface="Georgia"/>
                <a:sym typeface="Georgia"/>
              </a:endParaRPr>
            </a:p>
          </p:txBody>
        </p:sp>
        <p:sp>
          <p:nvSpPr>
            <p:cNvPr id="159" name="Google Shape;159;p3"/>
            <p:cNvSpPr/>
            <p:nvPr/>
          </p:nvSpPr>
          <p:spPr>
            <a:xfrm>
              <a:off x="5954574" y="567"/>
              <a:ext cx="1694216" cy="1016530"/>
            </a:xfrm>
            <a:prstGeom prst="rect">
              <a:avLst/>
            </a:prstGeom>
            <a:solidFill>
              <a:srgbClr val="7BA79D"/>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txBox="1"/>
            <p:nvPr/>
          </p:nvSpPr>
          <p:spPr>
            <a:xfrm>
              <a:off x="5954574" y="567"/>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4. Organizational Structures</a:t>
              </a:r>
              <a:endParaRPr b="0" i="0" sz="1600" u="none" cap="none" strike="noStrike">
                <a:solidFill>
                  <a:srgbClr val="000000"/>
                </a:solidFill>
                <a:latin typeface="Georgia"/>
                <a:ea typeface="Georgia"/>
                <a:cs typeface="Georgia"/>
                <a:sym typeface="Georgia"/>
              </a:endParaRPr>
            </a:p>
          </p:txBody>
        </p:sp>
        <p:sp>
          <p:nvSpPr>
            <p:cNvPr id="161" name="Google Shape;161;p3"/>
            <p:cNvSpPr/>
            <p:nvPr/>
          </p:nvSpPr>
          <p:spPr>
            <a:xfrm>
              <a:off x="363660" y="1185346"/>
              <a:ext cx="1694216" cy="1016530"/>
            </a:xfrm>
            <a:prstGeom prst="rect">
              <a:avLst/>
            </a:prstGeom>
            <a:solidFill>
              <a:srgbClr val="968C8C"/>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txBox="1"/>
            <p:nvPr/>
          </p:nvSpPr>
          <p:spPr>
            <a:xfrm>
              <a:off x="363660" y="1185346"/>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5. Project Planning</a:t>
              </a:r>
              <a:endParaRPr b="0" i="0" sz="1600" u="none" cap="none" strike="noStrike">
                <a:solidFill>
                  <a:srgbClr val="000000"/>
                </a:solidFill>
                <a:latin typeface="Georgia"/>
                <a:ea typeface="Georgia"/>
                <a:cs typeface="Georgia"/>
                <a:sym typeface="Georgia"/>
              </a:endParaRPr>
            </a:p>
          </p:txBody>
        </p:sp>
        <p:sp>
          <p:nvSpPr>
            <p:cNvPr id="163" name="Google Shape;163;p3"/>
            <p:cNvSpPr/>
            <p:nvPr/>
          </p:nvSpPr>
          <p:spPr>
            <a:xfrm>
              <a:off x="2227298" y="1185346"/>
              <a:ext cx="1694216" cy="1016530"/>
            </a:xfrm>
            <a:prstGeom prst="rect">
              <a:avLst/>
            </a:prstGeom>
            <a:solidFill>
              <a:srgbClr val="DC7F45"/>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txBox="1"/>
            <p:nvPr/>
          </p:nvSpPr>
          <p:spPr>
            <a:xfrm>
              <a:off x="2227298" y="1185346"/>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6. Project Evaluation</a:t>
              </a:r>
              <a:endParaRPr b="0" i="0" sz="1600" u="none" cap="none" strike="noStrike">
                <a:solidFill>
                  <a:srgbClr val="000000"/>
                </a:solidFill>
                <a:latin typeface="Georgia"/>
                <a:ea typeface="Georgia"/>
                <a:cs typeface="Georgia"/>
                <a:sym typeface="Georgia"/>
              </a:endParaRPr>
            </a:p>
          </p:txBody>
        </p:sp>
        <p:sp>
          <p:nvSpPr>
            <p:cNvPr id="165" name="Google Shape;165;p3"/>
            <p:cNvSpPr/>
            <p:nvPr/>
          </p:nvSpPr>
          <p:spPr>
            <a:xfrm>
              <a:off x="4090936" y="1185346"/>
              <a:ext cx="1694216" cy="1016530"/>
            </a:xfrm>
            <a:prstGeom prst="rect">
              <a:avLst/>
            </a:prstGeom>
            <a:solidFill>
              <a:srgbClr val="A5AB81"/>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txBox="1"/>
            <p:nvPr/>
          </p:nvSpPr>
          <p:spPr>
            <a:xfrm>
              <a:off x="4090936" y="1185346"/>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7. Approaches to Project Management</a:t>
              </a:r>
              <a:endParaRPr b="0" i="0" sz="1600" u="none" cap="none" strike="noStrike">
                <a:solidFill>
                  <a:srgbClr val="000000"/>
                </a:solidFill>
                <a:latin typeface="Georgia"/>
                <a:ea typeface="Georgia"/>
                <a:cs typeface="Georgia"/>
                <a:sym typeface="Georgia"/>
              </a:endParaRPr>
            </a:p>
          </p:txBody>
        </p:sp>
        <p:sp>
          <p:nvSpPr>
            <p:cNvPr id="167" name="Google Shape;167;p3"/>
            <p:cNvSpPr/>
            <p:nvPr/>
          </p:nvSpPr>
          <p:spPr>
            <a:xfrm>
              <a:off x="5954574" y="1185346"/>
              <a:ext cx="1694216" cy="1016530"/>
            </a:xfrm>
            <a:prstGeom prst="rect">
              <a:avLst/>
            </a:prstGeom>
            <a:solidFill>
              <a:srgbClr val="D8B259"/>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txBox="1"/>
            <p:nvPr/>
          </p:nvSpPr>
          <p:spPr>
            <a:xfrm>
              <a:off x="5954574" y="1185346"/>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8. Software Effort Estimation Techniques</a:t>
              </a:r>
              <a:endParaRPr b="0" i="0" sz="1600" u="none" cap="none" strike="noStrike">
                <a:solidFill>
                  <a:srgbClr val="000000"/>
                </a:solidFill>
                <a:latin typeface="Georgia"/>
                <a:ea typeface="Georgia"/>
                <a:cs typeface="Georgia"/>
                <a:sym typeface="Georgia"/>
              </a:endParaRPr>
            </a:p>
          </p:txBody>
        </p:sp>
        <p:sp>
          <p:nvSpPr>
            <p:cNvPr id="169" name="Google Shape;169;p3"/>
            <p:cNvSpPr/>
            <p:nvPr/>
          </p:nvSpPr>
          <p:spPr>
            <a:xfrm>
              <a:off x="363660" y="2370125"/>
              <a:ext cx="1694216" cy="1016530"/>
            </a:xfrm>
            <a:prstGeom prst="rect">
              <a:avLst/>
            </a:prstGeom>
            <a:solidFill>
              <a:srgbClr val="7BA79D"/>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txBox="1"/>
            <p:nvPr/>
          </p:nvSpPr>
          <p:spPr>
            <a:xfrm>
              <a:off x="363660" y="2370125"/>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9. Activity Planning</a:t>
              </a:r>
              <a:endParaRPr b="0" i="0" sz="1600" u="none" cap="none" strike="noStrike">
                <a:solidFill>
                  <a:srgbClr val="000000"/>
                </a:solidFill>
                <a:latin typeface="Georgia"/>
                <a:ea typeface="Georgia"/>
                <a:cs typeface="Georgia"/>
                <a:sym typeface="Georgia"/>
              </a:endParaRPr>
            </a:p>
          </p:txBody>
        </p:sp>
        <p:sp>
          <p:nvSpPr>
            <p:cNvPr id="171" name="Google Shape;171;p3"/>
            <p:cNvSpPr/>
            <p:nvPr/>
          </p:nvSpPr>
          <p:spPr>
            <a:xfrm>
              <a:off x="2227298" y="2370125"/>
              <a:ext cx="1694216" cy="1016530"/>
            </a:xfrm>
            <a:prstGeom prst="rect">
              <a:avLst/>
            </a:prstGeom>
            <a:solidFill>
              <a:srgbClr val="968C8C"/>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txBox="1"/>
            <p:nvPr/>
          </p:nvSpPr>
          <p:spPr>
            <a:xfrm>
              <a:off x="2227298" y="2370125"/>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10. Risk Management</a:t>
              </a:r>
              <a:endParaRPr b="0" i="0" sz="1600" u="none" cap="none" strike="noStrike">
                <a:solidFill>
                  <a:srgbClr val="000000"/>
                </a:solidFill>
                <a:latin typeface="Georgia"/>
                <a:ea typeface="Georgia"/>
                <a:cs typeface="Georgia"/>
                <a:sym typeface="Georgia"/>
              </a:endParaRPr>
            </a:p>
          </p:txBody>
        </p:sp>
        <p:sp>
          <p:nvSpPr>
            <p:cNvPr id="173" name="Google Shape;173;p3"/>
            <p:cNvSpPr/>
            <p:nvPr/>
          </p:nvSpPr>
          <p:spPr>
            <a:xfrm>
              <a:off x="4090936" y="2370125"/>
              <a:ext cx="1694216" cy="1016530"/>
            </a:xfrm>
            <a:prstGeom prst="rect">
              <a:avLst/>
            </a:prstGeom>
            <a:solidFill>
              <a:srgbClr val="DC7F45"/>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txBox="1"/>
            <p:nvPr/>
          </p:nvSpPr>
          <p:spPr>
            <a:xfrm>
              <a:off x="4090936" y="2370125"/>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11. Configuration Management</a:t>
              </a:r>
              <a:endParaRPr b="0" i="0" sz="1600" u="none" cap="none" strike="noStrike">
                <a:solidFill>
                  <a:srgbClr val="000000"/>
                </a:solidFill>
                <a:latin typeface="Georgia"/>
                <a:ea typeface="Georgia"/>
                <a:cs typeface="Georgia"/>
                <a:sym typeface="Georgia"/>
              </a:endParaRPr>
            </a:p>
          </p:txBody>
        </p:sp>
        <p:sp>
          <p:nvSpPr>
            <p:cNvPr id="175" name="Google Shape;175;p3"/>
            <p:cNvSpPr/>
            <p:nvPr/>
          </p:nvSpPr>
          <p:spPr>
            <a:xfrm>
              <a:off x="5954574" y="2370125"/>
              <a:ext cx="1694216" cy="1016530"/>
            </a:xfrm>
            <a:prstGeom prst="rect">
              <a:avLst/>
            </a:prstGeom>
            <a:solidFill>
              <a:srgbClr val="A5AB81"/>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txBox="1"/>
            <p:nvPr/>
          </p:nvSpPr>
          <p:spPr>
            <a:xfrm>
              <a:off x="5954574" y="2370125"/>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12. Resource Management</a:t>
              </a:r>
              <a:endParaRPr b="0" i="0" sz="1600" u="none" cap="none" strike="noStrike">
                <a:solidFill>
                  <a:srgbClr val="000000"/>
                </a:solidFill>
                <a:latin typeface="Georgia"/>
                <a:ea typeface="Georgia"/>
                <a:cs typeface="Georgia"/>
                <a:sym typeface="Georgia"/>
              </a:endParaRPr>
            </a:p>
          </p:txBody>
        </p:sp>
        <p:sp>
          <p:nvSpPr>
            <p:cNvPr id="177" name="Google Shape;177;p3"/>
            <p:cNvSpPr/>
            <p:nvPr/>
          </p:nvSpPr>
          <p:spPr>
            <a:xfrm>
              <a:off x="2225149" y="3554903"/>
              <a:ext cx="1694216" cy="1016530"/>
            </a:xfrm>
            <a:prstGeom prst="rect">
              <a:avLst/>
            </a:prstGeom>
            <a:solidFill>
              <a:srgbClr val="D8B259"/>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txBox="1"/>
            <p:nvPr/>
          </p:nvSpPr>
          <p:spPr>
            <a:xfrm>
              <a:off x="2225149" y="3554903"/>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13. Monitoring &amp; Control</a:t>
              </a:r>
              <a:endParaRPr b="0" i="0" sz="1600" u="none" cap="none" strike="noStrike">
                <a:solidFill>
                  <a:srgbClr val="000000"/>
                </a:solidFill>
                <a:latin typeface="Georgia"/>
                <a:ea typeface="Georgia"/>
                <a:cs typeface="Georgia"/>
                <a:sym typeface="Georgia"/>
              </a:endParaRPr>
            </a:p>
          </p:txBody>
        </p:sp>
        <p:sp>
          <p:nvSpPr>
            <p:cNvPr id="179" name="Google Shape;179;p3"/>
            <p:cNvSpPr/>
            <p:nvPr/>
          </p:nvSpPr>
          <p:spPr>
            <a:xfrm>
              <a:off x="4088787" y="3554903"/>
              <a:ext cx="1694216" cy="1016530"/>
            </a:xfrm>
            <a:prstGeom prst="rect">
              <a:avLst/>
            </a:prstGeom>
            <a:solidFill>
              <a:srgbClr val="7BA79D"/>
            </a:solidFill>
            <a:ln>
              <a:noFill/>
            </a:ln>
            <a:effectLst>
              <a:outerShdw blurRad="38100" rotWithShape="0" dir="5400000" dist="254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txBox="1"/>
            <p:nvPr/>
          </p:nvSpPr>
          <p:spPr>
            <a:xfrm>
              <a:off x="4088787" y="3554903"/>
              <a:ext cx="1694216" cy="1016530"/>
            </a:xfrm>
            <a:prstGeom prst="rect">
              <a:avLst/>
            </a:prstGeom>
            <a:no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1600"/>
                <a:buFont typeface="Georgia"/>
                <a:buNone/>
              </a:pPr>
              <a:r>
                <a:rPr b="0" i="0" lang="en-US" sz="1600" u="none" cap="none" strike="noStrike">
                  <a:solidFill>
                    <a:srgbClr val="000000"/>
                  </a:solidFill>
                  <a:latin typeface="Georgia"/>
                  <a:ea typeface="Georgia"/>
                  <a:cs typeface="Georgia"/>
                  <a:sym typeface="Georgia"/>
                </a:rPr>
                <a:t>14. Review &amp; Evaluation</a:t>
              </a:r>
              <a:endParaRPr b="0" i="0" sz="1600" u="none" cap="none" strike="noStrike">
                <a:solidFill>
                  <a:srgbClr val="000000"/>
                </a:solidFill>
                <a:latin typeface="Georgia"/>
                <a:ea typeface="Georgia"/>
                <a:cs typeface="Georgia"/>
                <a:sym typeface="Georgi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4"/>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187" name="Google Shape;187;p4"/>
          <p:cNvSpPr txBox="1"/>
          <p:nvPr>
            <p:ph type="title"/>
          </p:nvPr>
        </p:nvSpPr>
        <p:spPr>
          <a:xfrm>
            <a:off x="684213" y="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Objectives – Lecture 1 </a:t>
            </a:r>
            <a:endParaRPr u="sng"/>
          </a:p>
        </p:txBody>
      </p:sp>
      <p:sp>
        <p:nvSpPr>
          <p:cNvPr id="188" name="Google Shape;188;p4"/>
          <p:cNvSpPr txBox="1"/>
          <p:nvPr>
            <p:ph idx="1" type="body"/>
          </p:nvPr>
        </p:nvSpPr>
        <p:spPr>
          <a:xfrm>
            <a:off x="684213" y="1196975"/>
            <a:ext cx="7772400" cy="467995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2600"/>
              <a:buFont typeface="Tahoma"/>
              <a:buChar char="•"/>
            </a:pPr>
            <a:r>
              <a:rPr lang="en-US" sz="2600"/>
              <a:t>Software Project Versus Other Type of Projects </a:t>
            </a:r>
            <a:endParaRPr sz="2600"/>
          </a:p>
          <a:p>
            <a:pPr indent="-342900" lvl="0" marL="342900" rtl="0" algn="l">
              <a:lnSpc>
                <a:spcPct val="150000"/>
              </a:lnSpc>
              <a:spcBef>
                <a:spcPts val="520"/>
              </a:spcBef>
              <a:spcAft>
                <a:spcPts val="0"/>
              </a:spcAft>
              <a:buClr>
                <a:schemeClr val="dk1"/>
              </a:buClr>
              <a:buSzPts val="2600"/>
              <a:buFont typeface="Tahoma"/>
              <a:buChar char="•"/>
            </a:pPr>
            <a:r>
              <a:rPr lang="en-US" sz="2600"/>
              <a:t>Dimensions of a Software Project </a:t>
            </a:r>
            <a:endParaRPr sz="2600"/>
          </a:p>
          <a:p>
            <a:pPr indent="-342900" lvl="0" marL="342900" rtl="0" algn="l">
              <a:lnSpc>
                <a:spcPct val="150000"/>
              </a:lnSpc>
              <a:spcBef>
                <a:spcPts val="520"/>
              </a:spcBef>
              <a:spcAft>
                <a:spcPts val="0"/>
              </a:spcAft>
              <a:buClr>
                <a:schemeClr val="dk1"/>
              </a:buClr>
              <a:buSzPts val="2600"/>
              <a:buFont typeface="Tahoma"/>
              <a:buChar char="•"/>
            </a:pPr>
            <a:r>
              <a:rPr lang="en-US" sz="2600"/>
              <a:t>Activities  in  SPM</a:t>
            </a:r>
            <a:endParaRPr sz="2600"/>
          </a:p>
          <a:p>
            <a:pPr indent="-342900" lvl="0" marL="342900" rtl="0" algn="l">
              <a:lnSpc>
                <a:spcPct val="150000"/>
              </a:lnSpc>
              <a:spcBef>
                <a:spcPts val="520"/>
              </a:spcBef>
              <a:spcAft>
                <a:spcPts val="0"/>
              </a:spcAft>
              <a:buClr>
                <a:schemeClr val="dk1"/>
              </a:buClr>
              <a:buSzPts val="2600"/>
              <a:buFont typeface="Tahoma"/>
              <a:buChar char="•"/>
            </a:pPr>
            <a:r>
              <a:rPr lang="en-US" sz="2600"/>
              <a:t>Setting  Goals  &amp;  Objectives</a:t>
            </a:r>
            <a:endParaRPr sz="2600"/>
          </a:p>
          <a:p>
            <a:pPr indent="-342900" lvl="0" marL="342900" rtl="0" algn="l">
              <a:lnSpc>
                <a:spcPct val="150000"/>
              </a:lnSpc>
              <a:spcBef>
                <a:spcPts val="520"/>
              </a:spcBef>
              <a:spcAft>
                <a:spcPts val="0"/>
              </a:spcAft>
              <a:buClr>
                <a:schemeClr val="dk1"/>
              </a:buClr>
              <a:buSzPts val="2600"/>
              <a:buFont typeface="Tahoma"/>
              <a:buChar char="•"/>
            </a:pPr>
            <a:r>
              <a:rPr lang="en-US" sz="2600"/>
              <a:t>Business  Case</a:t>
            </a:r>
            <a:endParaRPr sz="2600"/>
          </a:p>
          <a:p>
            <a:pPr indent="-342900" lvl="0" marL="342900" rtl="0" algn="l">
              <a:lnSpc>
                <a:spcPct val="150000"/>
              </a:lnSpc>
              <a:spcBef>
                <a:spcPts val="520"/>
              </a:spcBef>
              <a:spcAft>
                <a:spcPts val="0"/>
              </a:spcAft>
              <a:buClr>
                <a:schemeClr val="dk1"/>
              </a:buClr>
              <a:buSzPts val="2600"/>
              <a:buFont typeface="Tahoma"/>
              <a:buChar char="•"/>
            </a:pPr>
            <a:r>
              <a:rPr lang="en-US" sz="2600"/>
              <a:t>Significance  of Processes</a:t>
            </a:r>
            <a:endParaRPr sz="2600"/>
          </a:p>
          <a:p>
            <a:pPr indent="-342900" lvl="0" marL="342900" rtl="0" algn="l">
              <a:lnSpc>
                <a:spcPct val="150000"/>
              </a:lnSpc>
              <a:spcBef>
                <a:spcPts val="520"/>
              </a:spcBef>
              <a:spcAft>
                <a:spcPts val="0"/>
              </a:spcAft>
              <a:buClr>
                <a:schemeClr val="dk1"/>
              </a:buClr>
              <a:buSzPts val="2600"/>
              <a:buFont typeface="Tahoma"/>
              <a:buChar char="•"/>
            </a:pPr>
            <a:r>
              <a:rPr lang="en-US" sz="2600"/>
              <a:t>Project Vs. Program Management</a:t>
            </a: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5"/>
          <p:cNvSpPr txBox="1"/>
          <p:nvPr>
            <p:ph type="title"/>
          </p:nvPr>
        </p:nvSpPr>
        <p:spPr>
          <a:xfrm>
            <a:off x="684213" y="4445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Outline of talk</a:t>
            </a:r>
            <a:endParaRPr u="sng"/>
          </a:p>
        </p:txBody>
      </p:sp>
      <p:sp>
        <p:nvSpPr>
          <p:cNvPr id="195" name="Google Shape;195;p5"/>
          <p:cNvSpPr txBox="1"/>
          <p:nvPr>
            <p:ph idx="1" type="body"/>
          </p:nvPr>
        </p:nvSpPr>
        <p:spPr>
          <a:xfrm>
            <a:off x="684213" y="1196975"/>
            <a:ext cx="7772400" cy="4679950"/>
          </a:xfrm>
          <a:prstGeom prst="rect">
            <a:avLst/>
          </a:prstGeom>
          <a:noFill/>
          <a:ln>
            <a:noFill/>
          </a:ln>
        </p:spPr>
        <p:txBody>
          <a:bodyPr anchorCtr="0" anchor="t" bIns="45700" lIns="91425" spcFirstLastPara="1" rIns="91425" wrap="square" tIns="45700">
            <a:noAutofit/>
          </a:bodyPr>
          <a:lstStyle/>
          <a:p>
            <a:pPr indent="-342900" lvl="0" marL="342900" rtl="0" algn="ctr">
              <a:spcBef>
                <a:spcPts val="0"/>
              </a:spcBef>
              <a:spcAft>
                <a:spcPts val="0"/>
              </a:spcAft>
              <a:buClr>
                <a:schemeClr val="dk1"/>
              </a:buClr>
              <a:buSzPts val="3200"/>
              <a:buFont typeface="Tahoma"/>
              <a:buNone/>
            </a:pPr>
            <a:r>
              <a:rPr lang="en-US"/>
              <a:t>In this introduction the main questions to be addressed will be:</a:t>
            </a:r>
            <a:endParaRPr/>
          </a:p>
          <a:p>
            <a:pPr indent="-342900" lvl="0" marL="342900" rtl="0" algn="l">
              <a:spcBef>
                <a:spcPts val="640"/>
              </a:spcBef>
              <a:spcAft>
                <a:spcPts val="0"/>
              </a:spcAft>
              <a:buClr>
                <a:schemeClr val="dk1"/>
              </a:buClr>
              <a:buSzPts val="3200"/>
              <a:buFont typeface="Tahoma"/>
              <a:buNone/>
            </a:pPr>
            <a:r>
              <a:t/>
            </a:r>
            <a:endParaRPr/>
          </a:p>
          <a:p>
            <a:pPr indent="-285750" lvl="1" marL="742950" rtl="0" algn="l">
              <a:spcBef>
                <a:spcPts val="520"/>
              </a:spcBef>
              <a:spcAft>
                <a:spcPts val="0"/>
              </a:spcAft>
              <a:buClr>
                <a:schemeClr val="dk1"/>
              </a:buClr>
              <a:buSzPts val="2600"/>
              <a:buFont typeface="Tahoma"/>
              <a:buChar char="–"/>
            </a:pPr>
            <a:r>
              <a:rPr lang="en-US" sz="2600"/>
              <a:t>What is software project management? Is it really different from ‘ordinary’ project management?</a:t>
            </a:r>
            <a:endParaRPr sz="2600"/>
          </a:p>
          <a:p>
            <a:pPr indent="-285750" lvl="1" marL="742950" rtl="0" algn="l">
              <a:spcBef>
                <a:spcPts val="520"/>
              </a:spcBef>
              <a:spcAft>
                <a:spcPts val="0"/>
              </a:spcAft>
              <a:buClr>
                <a:schemeClr val="dk1"/>
              </a:buClr>
              <a:buSzPts val="2600"/>
              <a:buFont typeface="Tahoma"/>
              <a:buNone/>
            </a:pPr>
            <a:r>
              <a:t/>
            </a:r>
            <a:endParaRPr sz="2600"/>
          </a:p>
          <a:p>
            <a:pPr indent="-285750" lvl="1" marL="742950" rtl="0" algn="l">
              <a:spcBef>
                <a:spcPts val="520"/>
              </a:spcBef>
              <a:spcAft>
                <a:spcPts val="0"/>
              </a:spcAft>
              <a:buClr>
                <a:schemeClr val="dk1"/>
              </a:buClr>
              <a:buSzPts val="2600"/>
              <a:buFont typeface="Tahoma"/>
              <a:buChar char="–"/>
            </a:pPr>
            <a:r>
              <a:rPr lang="en-US" sz="2600"/>
              <a:t>How do you know when a project has been successful? For example, do the expectations of the customer/client match those of the developers?</a:t>
            </a:r>
            <a:endParaRPr sz="2600"/>
          </a:p>
          <a:p>
            <a:pPr indent="-342900" lvl="0" marL="342900" rtl="0" algn="l">
              <a:spcBef>
                <a:spcPts val="520"/>
              </a:spcBef>
              <a:spcAft>
                <a:spcPts val="0"/>
              </a:spcAft>
              <a:buClr>
                <a:schemeClr val="dk1"/>
              </a:buClr>
              <a:buSzPts val="2600"/>
              <a:buFont typeface="Tahoma"/>
              <a:buNone/>
            </a:pPr>
            <a:r>
              <a:t/>
            </a:r>
            <a:endParaRPr sz="2600"/>
          </a:p>
        </p:txBody>
      </p:sp>
      <p:sp>
        <p:nvSpPr>
          <p:cNvPr id="196" name="Google Shape;196;p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fld id="{00000000-1234-1234-1234-123412341234}" type="slidenum">
              <a:rPr b="0" i="0" lang="en-US" sz="1800" u="none" cap="none" strike="noStrike">
                <a:solidFill>
                  <a:schemeClr val="lt1"/>
                </a:solidFill>
                <a:latin typeface="Arial"/>
                <a:ea typeface="Arial"/>
                <a:cs typeface="Arial"/>
                <a:sym typeface="Arial"/>
              </a:rPr>
              <a:t>‹#›</a:t>
            </a:fld>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6"/>
          <p:cNvSpPr txBox="1"/>
          <p:nvPr>
            <p:ph type="title"/>
          </p:nvPr>
        </p:nvSpPr>
        <p:spPr>
          <a:xfrm>
            <a:off x="683895" y="41402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Management</a:t>
            </a:r>
            <a:endParaRPr u="sng"/>
          </a:p>
        </p:txBody>
      </p:sp>
      <p:sp>
        <p:nvSpPr>
          <p:cNvPr id="202" name="Google Shape;202;p6"/>
          <p:cNvSpPr txBox="1"/>
          <p:nvPr>
            <p:ph idx="1" type="body"/>
          </p:nvPr>
        </p:nvSpPr>
        <p:spPr>
          <a:xfrm>
            <a:off x="683895" y="1557020"/>
            <a:ext cx="7772400" cy="4114800"/>
          </a:xfrm>
          <a:prstGeom prst="rect">
            <a:avLst/>
          </a:prstGeom>
          <a:noFill/>
          <a:ln>
            <a:noFill/>
          </a:ln>
        </p:spPr>
        <p:txBody>
          <a:bodyPr anchorCtr="0" anchor="t" bIns="45700" lIns="91425" spcFirstLastPara="1" rIns="91425" wrap="square" tIns="45700">
            <a:normAutofit fontScale="92500"/>
          </a:bodyPr>
          <a:lstStyle/>
          <a:p>
            <a:pPr indent="-342900" lvl="0" marL="342900" rtl="0" algn="just">
              <a:spcBef>
                <a:spcPts val="0"/>
              </a:spcBef>
              <a:spcAft>
                <a:spcPts val="0"/>
              </a:spcAft>
              <a:buClr>
                <a:schemeClr val="dk1"/>
              </a:buClr>
              <a:buSzPct val="100000"/>
              <a:buFont typeface="Tahoma"/>
              <a:buChar char="•"/>
            </a:pPr>
            <a:r>
              <a:rPr lang="en-US"/>
              <a:t>Management is the organization and coordination of the activities of a business in order to achieve defined objectives. </a:t>
            </a:r>
            <a:endParaRPr/>
          </a:p>
          <a:p>
            <a:pPr indent="-342900" lvl="0" marL="342900" rtl="0" algn="just">
              <a:spcBef>
                <a:spcPts val="592"/>
              </a:spcBef>
              <a:spcAft>
                <a:spcPts val="0"/>
              </a:spcAft>
              <a:buClr>
                <a:schemeClr val="dk1"/>
              </a:buClr>
              <a:buSzPct val="100000"/>
              <a:buFont typeface="Tahoma"/>
              <a:buChar char="•"/>
            </a:pPr>
            <a:r>
              <a:rPr lang="en-US"/>
              <a:t>Management includes the activities of setting the strategy of an organization and coordinating the efforts of its employees (or of volunteers) to accomplish its objectives through the application of available resources, such as financial, natural, technological, and human resources.</a:t>
            </a:r>
            <a:endParaRPr/>
          </a:p>
          <a:p>
            <a:pPr indent="-154940" lvl="0" marL="342900" rtl="0" algn="just">
              <a:spcBef>
                <a:spcPts val="592"/>
              </a:spcBef>
              <a:spcAft>
                <a:spcPts val="0"/>
              </a:spcAft>
              <a:buClr>
                <a:schemeClr val="dk1"/>
              </a:buClr>
              <a:buSzPct val="100000"/>
              <a:buFont typeface="Tahoma"/>
              <a:buNone/>
            </a:pPr>
            <a:r>
              <a:t/>
            </a:r>
            <a:endParaRPr/>
          </a:p>
          <a:p>
            <a:pPr indent="-154940" lvl="0" marL="342900" rtl="0" algn="just">
              <a:spcBef>
                <a:spcPts val="592"/>
              </a:spcBef>
              <a:spcAft>
                <a:spcPts val="0"/>
              </a:spcAft>
              <a:buClr>
                <a:schemeClr val="dk1"/>
              </a:buClr>
              <a:buSzPct val="100000"/>
              <a:buFont typeface="Tahoma"/>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7"/>
          <p:cNvSpPr txBox="1"/>
          <p:nvPr>
            <p:ph type="title"/>
          </p:nvPr>
        </p:nvSpPr>
        <p:spPr>
          <a:xfrm>
            <a:off x="685800" y="45085"/>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Project management</a:t>
            </a:r>
            <a:endParaRPr u="sng"/>
          </a:p>
        </p:txBody>
      </p:sp>
      <p:sp>
        <p:nvSpPr>
          <p:cNvPr id="208" name="Google Shape;208;p7"/>
          <p:cNvSpPr txBox="1"/>
          <p:nvPr>
            <p:ph idx="1" type="body"/>
          </p:nvPr>
        </p:nvSpPr>
        <p:spPr>
          <a:xfrm>
            <a:off x="683895" y="1371600"/>
            <a:ext cx="7772400" cy="4114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Font typeface="Tahoma"/>
              <a:buChar char="•"/>
            </a:pPr>
            <a:r>
              <a:rPr lang="en-US"/>
              <a:t>Project management is the practice of initiating, planning, executing, controlling, and closing the work of a team to achieve specific goals and meet specific success criteria at the specified time.</a:t>
            </a:r>
            <a:endParaRPr/>
          </a:p>
          <a:p>
            <a:pPr indent="-342900" lvl="0" marL="342900" rtl="0" algn="just">
              <a:spcBef>
                <a:spcPts val="640"/>
              </a:spcBef>
              <a:spcAft>
                <a:spcPts val="0"/>
              </a:spcAft>
              <a:buClr>
                <a:schemeClr val="dk1"/>
              </a:buClr>
              <a:buSzPts val="3200"/>
              <a:buFont typeface="Tahoma"/>
              <a:buChar char="•"/>
            </a:pPr>
            <a:r>
              <a:rPr lang="en-US"/>
              <a:t>The primary challenge of project management is to achieve all of the project goals within the given constraints</a:t>
            </a:r>
            <a:endParaRPr/>
          </a:p>
          <a:p>
            <a:pPr indent="-139700" lvl="0" marL="342900" rtl="0" algn="l">
              <a:spcBef>
                <a:spcPts val="640"/>
              </a:spcBef>
              <a:spcAft>
                <a:spcPts val="0"/>
              </a:spcAft>
              <a:buClr>
                <a:schemeClr val="dk1"/>
              </a:buClr>
              <a:buSzPts val="3200"/>
              <a:buFont typeface="Tahoma"/>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F6D5"/>
        </a:solidFill>
      </p:bgPr>
    </p:bg>
    <p:spTree>
      <p:nvGrpSpPr>
        <p:cNvPr id="212" name="Shape 212"/>
        <p:cNvGrpSpPr/>
        <p:nvPr/>
      </p:nvGrpSpPr>
      <p:grpSpPr>
        <a:xfrm>
          <a:off x="0" y="0"/>
          <a:ext cx="0" cy="0"/>
          <a:chOff x="0" y="0"/>
          <a:chExt cx="0" cy="0"/>
        </a:xfrm>
      </p:grpSpPr>
      <p:sp>
        <p:nvSpPr>
          <p:cNvPr id="213" name="Google Shape;213;p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Who is a Project Manager???</a:t>
            </a:r>
            <a:endParaRPr u="sng"/>
          </a:p>
        </p:txBody>
      </p:sp>
      <p:sp>
        <p:nvSpPr>
          <p:cNvPr id="214" name="Google Shape;214;p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Font typeface="Tahoma"/>
              <a:buChar char="•"/>
            </a:pPr>
            <a:r>
              <a:rPr lang="en-US"/>
              <a:t>A project manager is a person who has the overall responsibility for the successful initiation, planning, design, execution, monitoring, controlling and closure of a project.</a:t>
            </a:r>
            <a:endParaRPr/>
          </a:p>
          <a:p>
            <a:pPr indent="-342900" lvl="0" marL="342900" rtl="0" algn="just">
              <a:spcBef>
                <a:spcPts val="544"/>
              </a:spcBef>
              <a:spcAft>
                <a:spcPts val="0"/>
              </a:spcAft>
              <a:buClr>
                <a:schemeClr val="dk1"/>
              </a:buClr>
              <a:buSzPct val="100000"/>
              <a:buFont typeface="Tahoma"/>
              <a:buChar char="•"/>
            </a:pPr>
            <a:r>
              <a:rPr lang="en-US"/>
              <a:t>Qualities:</a:t>
            </a:r>
            <a:endParaRPr/>
          </a:p>
          <a:p>
            <a:pPr indent="-285750" lvl="1" marL="742950" rtl="0" algn="just">
              <a:spcBef>
                <a:spcPts val="476"/>
              </a:spcBef>
              <a:spcAft>
                <a:spcPts val="0"/>
              </a:spcAft>
              <a:buClr>
                <a:schemeClr val="dk1"/>
              </a:buClr>
              <a:buSzPct val="100000"/>
              <a:buFont typeface="Tahoma"/>
              <a:buChar char="–"/>
            </a:pPr>
            <a:r>
              <a:rPr lang="en-US"/>
              <a:t>Effective communication skills</a:t>
            </a:r>
            <a:endParaRPr/>
          </a:p>
          <a:p>
            <a:pPr indent="-285750" lvl="1" marL="742950" rtl="0" algn="just">
              <a:spcBef>
                <a:spcPts val="476"/>
              </a:spcBef>
              <a:spcAft>
                <a:spcPts val="0"/>
              </a:spcAft>
              <a:buClr>
                <a:schemeClr val="dk1"/>
              </a:buClr>
              <a:buSzPct val="100000"/>
              <a:buFont typeface="Tahoma"/>
              <a:buChar char="–"/>
            </a:pPr>
            <a:r>
              <a:rPr lang="en-US"/>
              <a:t>Strong leadership skills</a:t>
            </a:r>
            <a:endParaRPr/>
          </a:p>
          <a:p>
            <a:pPr indent="-285750" lvl="1" marL="742950" rtl="0" algn="just">
              <a:spcBef>
                <a:spcPts val="476"/>
              </a:spcBef>
              <a:spcAft>
                <a:spcPts val="0"/>
              </a:spcAft>
              <a:buClr>
                <a:schemeClr val="dk1"/>
              </a:buClr>
              <a:buSzPct val="100000"/>
              <a:buFont typeface="Tahoma"/>
              <a:buChar char="–"/>
            </a:pPr>
            <a:r>
              <a:rPr lang="en-US"/>
              <a:t>Good decision maker</a:t>
            </a:r>
            <a:endParaRPr/>
          </a:p>
          <a:p>
            <a:pPr indent="-285750" lvl="1" marL="742950" rtl="0" algn="just">
              <a:spcBef>
                <a:spcPts val="476"/>
              </a:spcBef>
              <a:spcAft>
                <a:spcPts val="0"/>
              </a:spcAft>
              <a:buClr>
                <a:schemeClr val="dk1"/>
              </a:buClr>
              <a:buSzPct val="100000"/>
              <a:buFont typeface="Tahoma"/>
              <a:buChar char="–"/>
            </a:pPr>
            <a:r>
              <a:rPr lang="en-US"/>
              <a:t>Technical expertise</a:t>
            </a:r>
            <a:endParaRPr/>
          </a:p>
          <a:p>
            <a:pPr indent="-285750" lvl="1" marL="742950" rtl="0" algn="just">
              <a:spcBef>
                <a:spcPts val="476"/>
              </a:spcBef>
              <a:spcAft>
                <a:spcPts val="0"/>
              </a:spcAft>
              <a:buClr>
                <a:schemeClr val="dk1"/>
              </a:buClr>
              <a:buSzPct val="100000"/>
              <a:buFont typeface="Tahoma"/>
              <a:buChar char="–"/>
            </a:pPr>
            <a:r>
              <a:rPr lang="en-US"/>
              <a:t>Inspires a shared vision</a:t>
            </a:r>
            <a:endParaRPr/>
          </a:p>
          <a:p>
            <a:pPr indent="-285750" lvl="1" marL="742950" rtl="0" algn="just">
              <a:spcBef>
                <a:spcPts val="476"/>
              </a:spcBef>
              <a:spcAft>
                <a:spcPts val="0"/>
              </a:spcAft>
              <a:buClr>
                <a:schemeClr val="dk1"/>
              </a:buClr>
              <a:buSzPct val="100000"/>
              <a:buFont typeface="Tahoma"/>
              <a:buChar char="–"/>
            </a:pPr>
            <a:r>
              <a:rPr lang="en-US"/>
              <a:t>Team-building skills</a:t>
            </a:r>
            <a:endParaRPr/>
          </a:p>
          <a:p>
            <a:pPr indent="-285750" lvl="1" marL="742950" rtl="0" algn="just">
              <a:spcBef>
                <a:spcPts val="476"/>
              </a:spcBef>
              <a:spcAft>
                <a:spcPts val="0"/>
              </a:spcAft>
              <a:buClr>
                <a:schemeClr val="dk1"/>
              </a:buClr>
              <a:buSzPct val="100000"/>
              <a:buFont typeface="Tahoma"/>
              <a:buChar char="–"/>
            </a:pPr>
            <a:r>
              <a:rPr lang="en-US"/>
              <a:t>Cool under pressure</a:t>
            </a:r>
            <a:endParaRPr/>
          </a:p>
          <a:p>
            <a:pPr indent="-170180" lvl="0" marL="342900" rtl="0" algn="just">
              <a:spcBef>
                <a:spcPts val="544"/>
              </a:spcBef>
              <a:spcAft>
                <a:spcPts val="0"/>
              </a:spcAft>
              <a:buClr>
                <a:schemeClr val="dk1"/>
              </a:buClr>
              <a:buSzPct val="100000"/>
              <a:buFont typeface="Tahoma"/>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9"/>
          <p:cNvSpPr txBox="1"/>
          <p:nvPr>
            <p:ph type="title"/>
          </p:nvPr>
        </p:nvSpPr>
        <p:spPr>
          <a:xfrm>
            <a:off x="2004060" y="765175"/>
            <a:ext cx="5062220"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Leadership Attributes</a:t>
            </a:r>
            <a:endParaRPr/>
          </a:p>
        </p:txBody>
      </p:sp>
      <p:pic>
        <p:nvPicPr>
          <p:cNvPr id="220" name="Google Shape;220;p9"/>
          <p:cNvPicPr preferRelativeResize="0"/>
          <p:nvPr/>
        </p:nvPicPr>
        <p:blipFill rotWithShape="1">
          <a:blip r:embed="rId3">
            <a:alphaModFix/>
          </a:blip>
          <a:srcRect b="0" l="0" r="0" t="0"/>
          <a:stretch/>
        </p:blipFill>
        <p:spPr>
          <a:xfrm>
            <a:off x="1258951" y="1989072"/>
            <a:ext cx="7397496" cy="41685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0"/>
          <p:cNvSpPr txBox="1"/>
          <p:nvPr>
            <p:ph type="title"/>
          </p:nvPr>
        </p:nvSpPr>
        <p:spPr>
          <a:xfrm>
            <a:off x="1835785" y="405130"/>
            <a:ext cx="5744210"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Role of PM</a:t>
            </a:r>
            <a:endParaRPr/>
          </a:p>
        </p:txBody>
      </p:sp>
      <p:sp>
        <p:nvSpPr>
          <p:cNvPr id="226" name="Google Shape;226;p10"/>
          <p:cNvSpPr txBox="1"/>
          <p:nvPr/>
        </p:nvSpPr>
        <p:spPr>
          <a:xfrm>
            <a:off x="330200" y="1988820"/>
            <a:ext cx="5030470" cy="2463165"/>
          </a:xfrm>
          <a:prstGeom prst="rect">
            <a:avLst/>
          </a:prstGeom>
          <a:noFill/>
          <a:ln>
            <a:noFill/>
          </a:ln>
        </p:spPr>
        <p:txBody>
          <a:bodyPr anchorCtr="0" anchor="t" bIns="0" lIns="0" spcFirstLastPara="1" rIns="0" wrap="square" tIns="104275">
            <a:spAutoFit/>
          </a:bodyPr>
          <a:lstStyle/>
          <a:p>
            <a:pPr indent="0" lvl="0" marL="12700" marR="0" rtl="0" algn="l">
              <a:lnSpc>
                <a:spcPct val="100000"/>
              </a:lnSpc>
              <a:spcBef>
                <a:spcPts val="0"/>
              </a:spcBef>
              <a:spcAft>
                <a:spcPts val="0"/>
              </a:spcAft>
              <a:buClr>
                <a:srgbClr val="A42F0F"/>
              </a:buClr>
              <a:buSzPts val="1350"/>
              <a:buFont typeface="Helvetica Neue"/>
              <a:buNone/>
            </a:pPr>
            <a:r>
              <a:rPr b="0" i="0" lang="en-US" sz="135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Leadership</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99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Motivation</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100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Team building</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100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Negotiation</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99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Conflict management</a:t>
            </a:r>
            <a:endParaRPr b="0" i="0" sz="2400" u="none" cap="none" strike="noStrike">
              <a:solidFill>
                <a:schemeClr val="lt1"/>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F6D5"/>
        </a:solidFill>
      </p:bgPr>
    </p:bg>
    <p:spTree>
      <p:nvGrpSpPr>
        <p:cNvPr id="230" name="Shape 230"/>
        <p:cNvGrpSpPr/>
        <p:nvPr/>
      </p:nvGrpSpPr>
      <p:grpSpPr>
        <a:xfrm>
          <a:off x="0" y="0"/>
          <a:ext cx="0" cy="0"/>
          <a:chOff x="0" y="0"/>
          <a:chExt cx="0" cy="0"/>
        </a:xfrm>
      </p:grpSpPr>
      <p:sp>
        <p:nvSpPr>
          <p:cNvPr id="231" name="Google Shape;231;p1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Software Project Management</a:t>
            </a:r>
            <a:endParaRPr u="sng"/>
          </a:p>
        </p:txBody>
      </p:sp>
      <p:sp>
        <p:nvSpPr>
          <p:cNvPr id="232" name="Google Shape;232;p1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Tahoma"/>
              <a:buChar char="•"/>
            </a:pPr>
            <a:r>
              <a:rPr lang="en-US"/>
              <a:t>It is a sub-discipline of project management in which software projects are planned, implemented, monitored and controlled</a:t>
            </a:r>
            <a:endParaRPr/>
          </a:p>
          <a:p>
            <a:pPr indent="-139700" lvl="0" marL="342900" rtl="0" algn="just">
              <a:spcBef>
                <a:spcPts val="640"/>
              </a:spcBef>
              <a:spcAft>
                <a:spcPts val="0"/>
              </a:spcAft>
              <a:buClr>
                <a:schemeClr val="dk1"/>
              </a:buClr>
              <a:buSzPts val="3200"/>
              <a:buFont typeface="Tahoma"/>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2"/>
          <p:cNvSpPr txBox="1"/>
          <p:nvPr>
            <p:ph type="title"/>
          </p:nvPr>
        </p:nvSpPr>
        <p:spPr>
          <a:xfrm>
            <a:off x="685800" y="33274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Importance of SPM</a:t>
            </a:r>
            <a:endParaRPr u="sng"/>
          </a:p>
        </p:txBody>
      </p:sp>
      <p:sp>
        <p:nvSpPr>
          <p:cNvPr id="238" name="Google Shape;238;p12"/>
          <p:cNvSpPr txBox="1"/>
          <p:nvPr>
            <p:ph idx="1" type="body"/>
          </p:nvPr>
        </p:nvSpPr>
        <p:spPr>
          <a:xfrm>
            <a:off x="683895" y="1701165"/>
            <a:ext cx="7772400" cy="41148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Font typeface="Tahoma"/>
              <a:buChar char="•"/>
            </a:pPr>
            <a:r>
              <a:rPr lang="en-US"/>
              <a:t>Why it is important to become familiar with project management?</a:t>
            </a:r>
            <a:endParaRPr/>
          </a:p>
          <a:p>
            <a:pPr indent="-285750" lvl="1" marL="742950" rtl="0" algn="just">
              <a:spcBef>
                <a:spcPts val="560"/>
              </a:spcBef>
              <a:spcAft>
                <a:spcPts val="0"/>
              </a:spcAft>
              <a:buClr>
                <a:schemeClr val="dk1"/>
              </a:buClr>
              <a:buSzPts val="2800"/>
              <a:buFont typeface="Tahoma"/>
              <a:buChar char="–"/>
            </a:pPr>
            <a:r>
              <a:rPr lang="en-US"/>
              <a:t>First there is a question of money. A lot of money is at stake with ICT projects.</a:t>
            </a:r>
            <a:endParaRPr/>
          </a:p>
          <a:p>
            <a:pPr indent="-285750" lvl="1" marL="742950" rtl="0" algn="just">
              <a:spcBef>
                <a:spcPts val="560"/>
              </a:spcBef>
              <a:spcAft>
                <a:spcPts val="0"/>
              </a:spcAft>
              <a:buClr>
                <a:schemeClr val="dk1"/>
              </a:buClr>
              <a:buSzPts val="2800"/>
              <a:buFont typeface="Tahoma"/>
              <a:buChar char="–"/>
            </a:pPr>
            <a:r>
              <a:rPr lang="en-US"/>
              <a:t>Secondly, the projects are not always successful, studies show that only one third of software projects were proved to be successful.</a:t>
            </a:r>
            <a:endParaRPr/>
          </a:p>
          <a:p>
            <a:pPr indent="-342900" lvl="0" marL="342900" rtl="0" algn="just">
              <a:spcBef>
                <a:spcPts val="640"/>
              </a:spcBef>
              <a:spcAft>
                <a:spcPts val="0"/>
              </a:spcAft>
              <a:buClr>
                <a:schemeClr val="dk1"/>
              </a:buClr>
              <a:buSzPts val="3200"/>
              <a:buFont typeface="Tahoma"/>
              <a:buChar char="•"/>
            </a:pPr>
            <a:r>
              <a:rPr lang="en-US"/>
              <a:t>The reason for these project shortcomings is most often the management of software projects.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Tahoma"/>
              <a:buNone/>
            </a:pPr>
            <a:r>
              <a:rPr lang="en-US"/>
              <a:t>Why is SPM important?</a:t>
            </a:r>
            <a:endParaRPr/>
          </a:p>
        </p:txBody>
      </p:sp>
      <p:sp>
        <p:nvSpPr>
          <p:cNvPr id="244" name="Google Shape;244;p13"/>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chemeClr val="lt1"/>
              </a:solidFill>
              <a:latin typeface="Times New Roman"/>
              <a:ea typeface="Times New Roman"/>
              <a:cs typeface="Times New Roman"/>
              <a:sym typeface="Times New Roman"/>
            </a:endParaRPr>
          </a:p>
        </p:txBody>
      </p:sp>
      <p:sp>
        <p:nvSpPr>
          <p:cNvPr id="245" name="Google Shape;245;p1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Tahoma"/>
              <a:buChar char="•"/>
            </a:pPr>
            <a:r>
              <a:rPr lang="en-US"/>
              <a:t>Unfortunately, projects are not always successful.</a:t>
            </a:r>
            <a:endParaRPr/>
          </a:p>
          <a:p>
            <a:pPr indent="-285750" lvl="1" marL="742950" rtl="0" algn="l">
              <a:spcBef>
                <a:spcPts val="560"/>
              </a:spcBef>
              <a:spcAft>
                <a:spcPts val="0"/>
              </a:spcAft>
              <a:buClr>
                <a:schemeClr val="dk1"/>
              </a:buClr>
              <a:buSzPts val="2800"/>
              <a:buFont typeface="Tahoma"/>
              <a:buChar char="–"/>
            </a:pPr>
            <a:r>
              <a:rPr lang="en-US"/>
              <a:t>Standish Group in the U.S. analyzed 13,522 projects and concluded that only a third of them were successful; 82 percent were late and 43 percent exceeded their budget.</a:t>
            </a:r>
            <a:endParaRPr/>
          </a:p>
          <a:p>
            <a:pPr indent="-285750" lvl="1" marL="742950" rtl="0" algn="l">
              <a:spcBef>
                <a:spcPts val="560"/>
              </a:spcBef>
              <a:spcAft>
                <a:spcPts val="0"/>
              </a:spcAft>
              <a:buClr>
                <a:schemeClr val="dk1"/>
              </a:buClr>
              <a:buSzPts val="2800"/>
              <a:buFont typeface="Tahoma"/>
              <a:buChar char="–"/>
            </a:pPr>
            <a:r>
              <a:rPr lang="en-US"/>
              <a:t>The reason for these project shortcomings is often the management of projects.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4"/>
          <p:cNvSpPr txBox="1"/>
          <p:nvPr>
            <p:ph type="title"/>
          </p:nvPr>
        </p:nvSpPr>
        <p:spPr>
          <a:xfrm>
            <a:off x="2003964" y="876046"/>
            <a:ext cx="3268980" cy="136334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IT Projects outcome</a:t>
            </a:r>
            <a:endParaRPr/>
          </a:p>
        </p:txBody>
      </p:sp>
      <p:pic>
        <p:nvPicPr>
          <p:cNvPr id="251" name="Google Shape;251;p14"/>
          <p:cNvPicPr preferRelativeResize="0"/>
          <p:nvPr/>
        </p:nvPicPr>
        <p:blipFill rotWithShape="1">
          <a:blip r:embed="rId3">
            <a:alphaModFix/>
          </a:blip>
          <a:srcRect b="0" l="0" r="0" t="0"/>
          <a:stretch/>
        </p:blipFill>
        <p:spPr>
          <a:xfrm>
            <a:off x="1941957" y="2286000"/>
            <a:ext cx="6229350" cy="36073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5"/>
          <p:cNvSpPr txBox="1"/>
          <p:nvPr>
            <p:ph type="title"/>
          </p:nvPr>
        </p:nvSpPr>
        <p:spPr>
          <a:xfrm>
            <a:off x="2988310" y="260985"/>
            <a:ext cx="3793490"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Scope Triangle</a:t>
            </a:r>
            <a:endParaRPr/>
          </a:p>
        </p:txBody>
      </p:sp>
      <p:pic>
        <p:nvPicPr>
          <p:cNvPr id="257" name="Google Shape;257;p15"/>
          <p:cNvPicPr preferRelativeResize="0"/>
          <p:nvPr/>
        </p:nvPicPr>
        <p:blipFill rotWithShape="1">
          <a:blip r:embed="rId3">
            <a:alphaModFix/>
          </a:blip>
          <a:srcRect b="0" l="0" r="0" t="0"/>
          <a:stretch/>
        </p:blipFill>
        <p:spPr>
          <a:xfrm>
            <a:off x="1269365" y="1555750"/>
            <a:ext cx="6430010" cy="446468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6"/>
          <p:cNvSpPr txBox="1"/>
          <p:nvPr/>
        </p:nvSpPr>
        <p:spPr>
          <a:xfrm>
            <a:off x="2003964" y="1343596"/>
            <a:ext cx="887730" cy="470535"/>
          </a:xfrm>
          <a:prstGeom prst="rect">
            <a:avLst/>
          </a:prstGeom>
          <a:noFill/>
          <a:ln>
            <a:noFill/>
          </a:ln>
        </p:spPr>
        <p:txBody>
          <a:bodyPr anchorCtr="0" anchor="t" bIns="0" lIns="0" spcFirstLastPara="1" rIns="0" wrap="square" tIns="9025">
            <a:spAutoFit/>
          </a:bodyPr>
          <a:lstStyle/>
          <a:p>
            <a:pPr indent="0" lvl="0" marL="12700" marR="0" rtl="0" algn="l">
              <a:lnSpc>
                <a:spcPct val="100000"/>
              </a:lnSpc>
              <a:spcBef>
                <a:spcPts val="0"/>
              </a:spcBef>
              <a:spcAft>
                <a:spcPts val="0"/>
              </a:spcAft>
              <a:buClr>
                <a:srgbClr val="FF0000"/>
              </a:buClr>
              <a:buSzPts val="3000"/>
              <a:buFont typeface="Verdana"/>
              <a:buNone/>
            </a:pPr>
            <a:r>
              <a:rPr b="1" i="0" lang="en-US" sz="3000" u="none" cap="none" strike="noStrike">
                <a:solidFill>
                  <a:srgbClr val="FF0000"/>
                </a:solidFill>
                <a:latin typeface="Verdana"/>
                <a:ea typeface="Verdana"/>
                <a:cs typeface="Verdana"/>
                <a:sym typeface="Verdana"/>
              </a:rPr>
              <a:t>“Tip”</a:t>
            </a:r>
            <a:endParaRPr b="0" i="0" sz="3000" u="none" cap="none" strike="noStrike">
              <a:solidFill>
                <a:schemeClr val="lt1"/>
              </a:solidFill>
              <a:latin typeface="Verdana"/>
              <a:ea typeface="Verdana"/>
              <a:cs typeface="Verdana"/>
              <a:sym typeface="Verdana"/>
            </a:endParaRPr>
          </a:p>
        </p:txBody>
      </p:sp>
      <p:sp>
        <p:nvSpPr>
          <p:cNvPr id="263" name="Google Shape;263;p16"/>
          <p:cNvSpPr txBox="1"/>
          <p:nvPr/>
        </p:nvSpPr>
        <p:spPr>
          <a:xfrm>
            <a:off x="3598735" y="2478119"/>
            <a:ext cx="3370898" cy="331470"/>
          </a:xfrm>
          <a:prstGeom prst="rect">
            <a:avLst/>
          </a:prstGeom>
          <a:noFill/>
          <a:ln>
            <a:noFill/>
          </a:ln>
        </p:spPr>
        <p:txBody>
          <a:bodyPr anchorCtr="0" anchor="t" bIns="0" lIns="0" spcFirstLastPara="1" rIns="0" wrap="square" tIns="9025">
            <a:spAutoFit/>
          </a:bodyPr>
          <a:lstStyle/>
          <a:p>
            <a:pPr indent="0" lvl="0" marL="12700" marR="0" rtl="0" algn="l">
              <a:lnSpc>
                <a:spcPct val="100000"/>
              </a:lnSpc>
              <a:spcBef>
                <a:spcPts val="0"/>
              </a:spcBef>
              <a:spcAft>
                <a:spcPts val="0"/>
              </a:spcAft>
              <a:buClr>
                <a:srgbClr val="A42F0F"/>
              </a:buClr>
              <a:buSzPts val="2100"/>
              <a:buFont typeface="Helvetica Neue"/>
              <a:buNone/>
            </a:pPr>
            <a:r>
              <a:rPr b="0" i="0" lang="en-US" sz="2100" u="none" cap="none" strike="noStrike">
                <a:solidFill>
                  <a:srgbClr val="A42F0F"/>
                </a:solidFill>
                <a:latin typeface="Helvetica Neue"/>
                <a:ea typeface="Helvetica Neue"/>
                <a:cs typeface="Helvetica Neue"/>
                <a:sym typeface="Helvetica Neue"/>
              </a:rPr>
              <a:t>🠶 </a:t>
            </a:r>
            <a:r>
              <a:rPr b="1" i="0" lang="en-US" sz="2100" u="none" cap="none" strike="noStrike">
                <a:solidFill>
                  <a:srgbClr val="FF0000"/>
                </a:solidFill>
                <a:latin typeface="Verdana"/>
                <a:ea typeface="Verdana"/>
                <a:cs typeface="Verdana"/>
                <a:sym typeface="Verdana"/>
              </a:rPr>
              <a:t>“ Work Smart, not hard”</a:t>
            </a:r>
            <a:endParaRPr b="0" i="0" sz="2100" u="none" cap="none" strike="noStrike">
              <a:solidFill>
                <a:schemeClr val="lt1"/>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7"/>
          <p:cNvSpPr txBox="1"/>
          <p:nvPr>
            <p:ph type="title"/>
          </p:nvPr>
        </p:nvSpPr>
        <p:spPr>
          <a:xfrm>
            <a:off x="1764030" y="549275"/>
            <a:ext cx="4438650"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What is SPM?</a:t>
            </a:r>
            <a:endParaRPr/>
          </a:p>
        </p:txBody>
      </p:sp>
      <p:sp>
        <p:nvSpPr>
          <p:cNvPr id="269" name="Google Shape;269;p17"/>
          <p:cNvSpPr txBox="1"/>
          <p:nvPr/>
        </p:nvSpPr>
        <p:spPr>
          <a:xfrm>
            <a:off x="971868" y="1556797"/>
            <a:ext cx="5875019" cy="4591050"/>
          </a:xfrm>
          <a:prstGeom prst="rect">
            <a:avLst/>
          </a:prstGeom>
          <a:noFill/>
          <a:ln>
            <a:noFill/>
          </a:ln>
        </p:spPr>
        <p:txBody>
          <a:bodyPr anchorCtr="0" anchor="t" bIns="0" lIns="0" spcFirstLastPara="1" rIns="0" wrap="square" tIns="83800">
            <a:spAutoFit/>
          </a:bodyPr>
          <a:lstStyle/>
          <a:p>
            <a:pPr indent="0" lvl="0" marL="12700" marR="0" rtl="0" algn="l">
              <a:lnSpc>
                <a:spcPct val="100000"/>
              </a:lnSpc>
              <a:spcBef>
                <a:spcPts val="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Maintain flow</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78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Manage outcomes (Deliverables)</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79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Use tools and techniques</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78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Improve operation</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78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New requirement</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79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Aim is to achieve all the objectives remaining in its define constraint</a:t>
            </a:r>
            <a:endParaRPr b="0" i="0" sz="2400" u="none" cap="none" strike="noStrike">
              <a:solidFill>
                <a:schemeClr val="lt1"/>
              </a:solidFill>
              <a:latin typeface="Verdana"/>
              <a:ea typeface="Verdana"/>
              <a:cs typeface="Verdana"/>
              <a:sym typeface="Verdana"/>
            </a:endParaRPr>
          </a:p>
          <a:p>
            <a:pPr indent="0" lvl="0" marL="469900" marR="0" rtl="0" algn="l">
              <a:lnSpc>
                <a:spcPct val="100000"/>
              </a:lnSpc>
              <a:spcBef>
                <a:spcPts val="81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Time</a:t>
            </a:r>
            <a:endParaRPr b="0" i="0" sz="2400" u="none" cap="none" strike="noStrike">
              <a:solidFill>
                <a:schemeClr val="lt1"/>
              </a:solidFill>
              <a:latin typeface="Verdana"/>
              <a:ea typeface="Verdana"/>
              <a:cs typeface="Verdana"/>
              <a:sym typeface="Verdana"/>
            </a:endParaRPr>
          </a:p>
          <a:p>
            <a:pPr indent="0" lvl="0" marL="469900" marR="0" rtl="0" algn="l">
              <a:lnSpc>
                <a:spcPct val="100000"/>
              </a:lnSpc>
              <a:spcBef>
                <a:spcPts val="80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Cost</a:t>
            </a:r>
            <a:endParaRPr b="0" i="0" sz="2400" u="none" cap="none" strike="noStrike">
              <a:solidFill>
                <a:schemeClr val="lt1"/>
              </a:solidFill>
              <a:latin typeface="Verdana"/>
              <a:ea typeface="Verdana"/>
              <a:cs typeface="Verdana"/>
              <a:sym typeface="Verdana"/>
            </a:endParaRPr>
          </a:p>
          <a:p>
            <a:pPr indent="0" lvl="0" marL="469900" marR="0" rtl="0" algn="l">
              <a:lnSpc>
                <a:spcPct val="100000"/>
              </a:lnSpc>
              <a:spcBef>
                <a:spcPts val="80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Scope</a:t>
            </a:r>
            <a:endParaRPr b="0" i="0" sz="2400" u="none" cap="none" strike="noStrike">
              <a:solidFill>
                <a:schemeClr val="lt1"/>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8"/>
          <p:cNvSpPr txBox="1"/>
          <p:nvPr>
            <p:ph type="title"/>
          </p:nvPr>
        </p:nvSpPr>
        <p:spPr>
          <a:xfrm>
            <a:off x="2003964" y="876046"/>
            <a:ext cx="5047774" cy="136334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Project Vs Process (Operation)</a:t>
            </a:r>
            <a:endParaRPr/>
          </a:p>
        </p:txBody>
      </p:sp>
      <p:sp>
        <p:nvSpPr>
          <p:cNvPr id="275" name="Google Shape;275;p18"/>
          <p:cNvSpPr txBox="1"/>
          <p:nvPr/>
        </p:nvSpPr>
        <p:spPr>
          <a:xfrm>
            <a:off x="612140" y="2421255"/>
            <a:ext cx="8465820" cy="3137535"/>
          </a:xfrm>
          <a:prstGeom prst="rect">
            <a:avLst/>
          </a:prstGeom>
          <a:noFill/>
          <a:ln>
            <a:noFill/>
          </a:ln>
        </p:spPr>
        <p:txBody>
          <a:bodyPr anchorCtr="0" anchor="t" bIns="0" lIns="0" spcFirstLastPara="1" rIns="0" wrap="square" tIns="104275">
            <a:noAutofit/>
          </a:bodyPr>
          <a:lstStyle/>
          <a:p>
            <a:pPr indent="0" lvl="0" marL="12700" marR="0" rtl="0" algn="l">
              <a:lnSpc>
                <a:spcPct val="100000"/>
              </a:lnSpc>
              <a:spcBef>
                <a:spcPts val="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Definite time</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99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Resources</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100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Budget</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100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Deliverable parameters</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99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Has an end</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100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Need to update an operation (Operation) that result in some deliverable.</a:t>
            </a:r>
            <a:endParaRPr b="0" i="0" sz="2400" u="none" cap="none" strike="noStrike">
              <a:solidFill>
                <a:schemeClr val="lt1"/>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9"/>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282" name="Google Shape;282;p19"/>
          <p:cNvSpPr txBox="1"/>
          <p:nvPr>
            <p:ph type="title"/>
          </p:nvPr>
        </p:nvSpPr>
        <p:spPr>
          <a:xfrm>
            <a:off x="684213" y="18891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What is a project?</a:t>
            </a:r>
            <a:endParaRPr u="sng"/>
          </a:p>
        </p:txBody>
      </p:sp>
      <p:sp>
        <p:nvSpPr>
          <p:cNvPr id="283" name="Google Shape;283;p19"/>
          <p:cNvSpPr txBox="1"/>
          <p:nvPr>
            <p:ph idx="1" type="body"/>
          </p:nvPr>
        </p:nvSpPr>
        <p:spPr>
          <a:xfrm>
            <a:off x="611188" y="1341438"/>
            <a:ext cx="7772400" cy="4114800"/>
          </a:xfrm>
          <a:prstGeom prst="rect">
            <a:avLst/>
          </a:prstGeom>
          <a:noFill/>
          <a:ln>
            <a:noFill/>
          </a:ln>
        </p:spPr>
        <p:txBody>
          <a:bodyPr anchorCtr="0" anchor="t" bIns="45700" lIns="91425" spcFirstLastPara="1" rIns="91425" wrap="square" tIns="45700">
            <a:noAutofit/>
          </a:bodyPr>
          <a:lstStyle/>
          <a:p>
            <a:pPr indent="-342900" lvl="0" marL="342900" rtl="0" algn="ctr">
              <a:spcBef>
                <a:spcPts val="0"/>
              </a:spcBef>
              <a:spcAft>
                <a:spcPts val="0"/>
              </a:spcAft>
              <a:buClr>
                <a:schemeClr val="dk1"/>
              </a:buClr>
              <a:buSzPts val="3200"/>
              <a:buFont typeface="Tahoma"/>
              <a:buNone/>
            </a:pPr>
            <a:r>
              <a:rPr lang="en-US"/>
              <a:t>Some dictionary definitions:</a:t>
            </a:r>
            <a:endParaRPr/>
          </a:p>
          <a:p>
            <a:pPr indent="-342900" lvl="0" marL="342900" rtl="0" algn="ctr">
              <a:spcBef>
                <a:spcPts val="180"/>
              </a:spcBef>
              <a:spcAft>
                <a:spcPts val="0"/>
              </a:spcAft>
              <a:buClr>
                <a:schemeClr val="dk1"/>
              </a:buClr>
              <a:buSzPts val="900"/>
              <a:buFont typeface="Tahoma"/>
              <a:buNone/>
            </a:pPr>
            <a:r>
              <a:t/>
            </a:r>
            <a:endParaRPr sz="900"/>
          </a:p>
          <a:p>
            <a:pPr indent="-342900" lvl="0" marL="342900" rtl="0" algn="l">
              <a:spcBef>
                <a:spcPts val="560"/>
              </a:spcBef>
              <a:spcAft>
                <a:spcPts val="0"/>
              </a:spcAft>
              <a:buClr>
                <a:schemeClr val="dk1"/>
              </a:buClr>
              <a:buSzPts val="2800"/>
              <a:buFont typeface="Tahoma"/>
              <a:buNone/>
            </a:pPr>
            <a:r>
              <a:rPr i="1" lang="en-US" sz="2800"/>
              <a:t>“A specific plan or design”</a:t>
            </a:r>
            <a:endParaRPr i="1" sz="2800"/>
          </a:p>
          <a:p>
            <a:pPr indent="-342900" lvl="0" marL="342900" rtl="0" algn="l">
              <a:spcBef>
                <a:spcPts val="180"/>
              </a:spcBef>
              <a:spcAft>
                <a:spcPts val="0"/>
              </a:spcAft>
              <a:buClr>
                <a:schemeClr val="dk1"/>
              </a:buClr>
              <a:buSzPts val="900"/>
              <a:buFont typeface="Tahoma"/>
              <a:buNone/>
            </a:pPr>
            <a:r>
              <a:t/>
            </a:r>
            <a:endParaRPr i="1" sz="900"/>
          </a:p>
          <a:p>
            <a:pPr indent="-342900" lvl="0" marL="342900" rtl="0" algn="l">
              <a:spcBef>
                <a:spcPts val="560"/>
              </a:spcBef>
              <a:spcAft>
                <a:spcPts val="0"/>
              </a:spcAft>
              <a:buClr>
                <a:schemeClr val="dk1"/>
              </a:buClr>
              <a:buSzPts val="2800"/>
              <a:buFont typeface="Tahoma"/>
              <a:buNone/>
            </a:pPr>
            <a:r>
              <a:rPr i="1" lang="en-US" sz="2800"/>
              <a:t>“A planned undertaking”</a:t>
            </a:r>
            <a:endParaRPr i="1" sz="2800"/>
          </a:p>
          <a:p>
            <a:pPr indent="-342900" lvl="0" marL="342900" rtl="0" algn="l">
              <a:spcBef>
                <a:spcPts val="180"/>
              </a:spcBef>
              <a:spcAft>
                <a:spcPts val="0"/>
              </a:spcAft>
              <a:buClr>
                <a:schemeClr val="dk1"/>
              </a:buClr>
              <a:buSzPts val="900"/>
              <a:buFont typeface="Tahoma"/>
              <a:buNone/>
            </a:pPr>
            <a:r>
              <a:t/>
            </a:r>
            <a:endParaRPr i="1" sz="900"/>
          </a:p>
          <a:p>
            <a:pPr indent="-342900" lvl="0" marL="342900" rtl="0" algn="l">
              <a:spcBef>
                <a:spcPts val="560"/>
              </a:spcBef>
              <a:spcAft>
                <a:spcPts val="0"/>
              </a:spcAft>
              <a:buClr>
                <a:schemeClr val="dk1"/>
              </a:buClr>
              <a:buSzPts val="2800"/>
              <a:buFont typeface="Tahoma"/>
              <a:buNone/>
            </a:pPr>
            <a:r>
              <a:rPr i="1" lang="en-US" sz="2800"/>
              <a:t>“A large undertaking e.g. a public works scheme”</a:t>
            </a:r>
            <a:endParaRPr i="1" sz="2800"/>
          </a:p>
          <a:p>
            <a:pPr indent="-342900" lvl="0" marL="342900" rtl="0" algn="r">
              <a:spcBef>
                <a:spcPts val="360"/>
              </a:spcBef>
              <a:spcAft>
                <a:spcPts val="0"/>
              </a:spcAft>
              <a:buClr>
                <a:schemeClr val="dk1"/>
              </a:buClr>
              <a:buSzPts val="1800"/>
              <a:buFont typeface="Tahoma"/>
              <a:buNone/>
            </a:pPr>
            <a:r>
              <a:rPr lang="en-US" sz="1800"/>
              <a:t>Longmans dictionary</a:t>
            </a:r>
            <a:endParaRPr sz="1800"/>
          </a:p>
          <a:p>
            <a:pPr indent="-342900" lvl="0" marL="342900" rtl="0" algn="ctr">
              <a:spcBef>
                <a:spcPts val="200"/>
              </a:spcBef>
              <a:spcAft>
                <a:spcPts val="0"/>
              </a:spcAft>
              <a:buClr>
                <a:schemeClr val="dk1"/>
              </a:buClr>
              <a:buSzPts val="1000"/>
              <a:buFont typeface="Tahoma"/>
              <a:buNone/>
            </a:pPr>
            <a:r>
              <a:t/>
            </a:r>
            <a:endParaRPr sz="1000"/>
          </a:p>
          <a:p>
            <a:pPr indent="-342900" lvl="0" marL="342900" rtl="0" algn="ctr">
              <a:spcBef>
                <a:spcPts val="640"/>
              </a:spcBef>
              <a:spcAft>
                <a:spcPts val="0"/>
              </a:spcAft>
              <a:buClr>
                <a:schemeClr val="dk1"/>
              </a:buClr>
              <a:buSzPts val="3200"/>
              <a:buFont typeface="Tahoma"/>
              <a:buNone/>
            </a:pPr>
            <a:r>
              <a:rPr lang="en-US"/>
              <a:t>Key points above are </a:t>
            </a:r>
            <a:r>
              <a:rPr b="1" i="1" lang="en-US"/>
              <a:t>planning</a:t>
            </a:r>
            <a:r>
              <a:rPr lang="en-US"/>
              <a:t> and </a:t>
            </a:r>
            <a:r>
              <a:rPr b="1" i="1" lang="en-US"/>
              <a:t>size</a:t>
            </a:r>
            <a:r>
              <a:rPr lang="en-US"/>
              <a:t> of task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0"/>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290" name="Google Shape;290;p2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Jobs versus projects</a:t>
            </a:r>
            <a:endParaRPr u="sng"/>
          </a:p>
        </p:txBody>
      </p:sp>
      <p:sp>
        <p:nvSpPr>
          <p:cNvPr id="291" name="Google Shape;291;p20"/>
          <p:cNvSpPr txBox="1"/>
          <p:nvPr>
            <p:ph idx="1" type="body"/>
          </p:nvPr>
        </p:nvSpPr>
        <p:spPr>
          <a:xfrm>
            <a:off x="1331913" y="4437063"/>
            <a:ext cx="6553200" cy="18716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ahoma"/>
              <a:buNone/>
            </a:pPr>
            <a:r>
              <a:rPr b="1" lang="en-US" sz="2000"/>
              <a:t>‘Jobs’</a:t>
            </a:r>
            <a:r>
              <a:rPr b="1" lang="en-US" sz="2800"/>
              <a:t> </a:t>
            </a:r>
            <a:r>
              <a:rPr b="1" lang="en-US" sz="2000"/>
              <a:t>– repetition of very well-defined and well understood tasks with very little uncertainty</a:t>
            </a:r>
            <a:endParaRPr b="1" sz="2000"/>
          </a:p>
          <a:p>
            <a:pPr indent="-342900" lvl="0" marL="342900" rtl="0" algn="l">
              <a:lnSpc>
                <a:spcPct val="90000"/>
              </a:lnSpc>
              <a:spcBef>
                <a:spcPts val="140"/>
              </a:spcBef>
              <a:spcAft>
                <a:spcPts val="0"/>
              </a:spcAft>
              <a:buClr>
                <a:schemeClr val="dk1"/>
              </a:buClr>
              <a:buSzPts val="700"/>
              <a:buFont typeface="Tahoma"/>
              <a:buNone/>
            </a:pPr>
            <a:r>
              <a:t/>
            </a:r>
            <a:endParaRPr b="1" sz="700"/>
          </a:p>
          <a:p>
            <a:pPr indent="-342900" lvl="0" marL="342900" rtl="0" algn="l">
              <a:lnSpc>
                <a:spcPct val="90000"/>
              </a:lnSpc>
              <a:spcBef>
                <a:spcPts val="400"/>
              </a:spcBef>
              <a:spcAft>
                <a:spcPts val="0"/>
              </a:spcAft>
              <a:buClr>
                <a:schemeClr val="dk1"/>
              </a:buClr>
              <a:buSzPts val="2000"/>
              <a:buFont typeface="Tahoma"/>
              <a:buNone/>
            </a:pPr>
            <a:r>
              <a:rPr b="1" lang="en-US" sz="2000"/>
              <a:t>‘Exploration’ – e.g. finding a cure for cancer: the outcome is very uncertain</a:t>
            </a:r>
            <a:endParaRPr b="1" sz="2000"/>
          </a:p>
          <a:p>
            <a:pPr indent="-342900" lvl="0" marL="342900" rtl="0" algn="l">
              <a:lnSpc>
                <a:spcPct val="90000"/>
              </a:lnSpc>
              <a:spcBef>
                <a:spcPts val="140"/>
              </a:spcBef>
              <a:spcAft>
                <a:spcPts val="0"/>
              </a:spcAft>
              <a:buClr>
                <a:schemeClr val="dk1"/>
              </a:buClr>
              <a:buSzPts val="700"/>
              <a:buFont typeface="Tahoma"/>
              <a:buNone/>
            </a:pPr>
            <a:r>
              <a:t/>
            </a:r>
            <a:endParaRPr b="1" sz="700"/>
          </a:p>
          <a:p>
            <a:pPr indent="-342900" lvl="0" marL="342900" rtl="0" algn="l">
              <a:lnSpc>
                <a:spcPct val="90000"/>
              </a:lnSpc>
              <a:spcBef>
                <a:spcPts val="400"/>
              </a:spcBef>
              <a:spcAft>
                <a:spcPts val="0"/>
              </a:spcAft>
              <a:buClr>
                <a:schemeClr val="dk1"/>
              </a:buClr>
              <a:buSzPts val="2000"/>
              <a:buFont typeface="Tahoma"/>
              <a:buNone/>
            </a:pPr>
            <a:r>
              <a:rPr b="1" lang="en-US" sz="2000"/>
              <a:t>‘Projects’ – in the middle!</a:t>
            </a:r>
            <a:endParaRPr b="1" sz="2000"/>
          </a:p>
        </p:txBody>
      </p:sp>
      <p:pic>
        <p:nvPicPr>
          <p:cNvPr id="292" name="Google Shape;292;p20"/>
          <p:cNvPicPr preferRelativeResize="0"/>
          <p:nvPr>
            <p:ph idx="2" type="body"/>
          </p:nvPr>
        </p:nvPicPr>
        <p:blipFill rotWithShape="1">
          <a:blip r:embed="rId3">
            <a:alphaModFix/>
          </a:blip>
          <a:srcRect b="0" l="0" r="0" t="0"/>
          <a:stretch/>
        </p:blipFill>
        <p:spPr>
          <a:xfrm>
            <a:off x="1403350" y="1557338"/>
            <a:ext cx="6264275" cy="29130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1"/>
          <p:cNvSpPr txBox="1"/>
          <p:nvPr>
            <p:ph type="title"/>
          </p:nvPr>
        </p:nvSpPr>
        <p:spPr>
          <a:xfrm>
            <a:off x="685800" y="333375"/>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Tahoma"/>
              <a:buNone/>
            </a:pPr>
            <a:r>
              <a:rPr lang="en-US"/>
              <a:t>Definition of a Project</a:t>
            </a:r>
            <a:endParaRPr/>
          </a:p>
        </p:txBody>
      </p:sp>
      <p:sp>
        <p:nvSpPr>
          <p:cNvPr id="298" name="Google Shape;298;p21"/>
          <p:cNvSpPr txBox="1"/>
          <p:nvPr>
            <p:ph idx="1" type="body"/>
          </p:nvPr>
        </p:nvSpPr>
        <p:spPr>
          <a:xfrm>
            <a:off x="711200" y="1700213"/>
            <a:ext cx="7772400" cy="46243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Tahoma"/>
              <a:buNone/>
            </a:pPr>
            <a:r>
              <a:rPr lang="en-US"/>
              <a:t>A project is </a:t>
            </a:r>
            <a:r>
              <a:rPr b="1" lang="en-US"/>
              <a:t>a temporary endeavor undertaken to create</a:t>
            </a:r>
            <a:r>
              <a:rPr lang="en-US"/>
              <a:t> a unique product, service, or result.(PMBoK)</a:t>
            </a:r>
            <a:endParaRPr/>
          </a:p>
          <a:p>
            <a:pPr indent="0" lvl="0" marL="0" rtl="0" algn="l">
              <a:spcBef>
                <a:spcPts val="640"/>
              </a:spcBef>
              <a:spcAft>
                <a:spcPts val="0"/>
              </a:spcAft>
              <a:buClr>
                <a:schemeClr val="dk1"/>
              </a:buClr>
              <a:buSzPts val="3200"/>
              <a:buFont typeface="Tahoma"/>
              <a:buNone/>
            </a:pPr>
            <a:r>
              <a:t/>
            </a:r>
            <a:endParaRPr/>
          </a:p>
          <a:p>
            <a:pPr indent="0" lvl="0" marL="0" rtl="0" algn="l">
              <a:spcBef>
                <a:spcPts val="640"/>
              </a:spcBef>
              <a:spcAft>
                <a:spcPts val="0"/>
              </a:spcAft>
              <a:buClr>
                <a:schemeClr val="dk1"/>
              </a:buClr>
              <a:buSzPts val="3200"/>
              <a:buFont typeface="Tahoma"/>
              <a:buNone/>
            </a:pPr>
            <a:r>
              <a:rPr lang="en-US"/>
              <a:t>A </a:t>
            </a:r>
            <a:r>
              <a:rPr b="1" lang="en-US"/>
              <a:t>project</a:t>
            </a:r>
            <a:r>
              <a:rPr lang="en-US"/>
              <a:t> is </a:t>
            </a:r>
            <a:r>
              <a:rPr b="1" lang="en-US"/>
              <a:t>defined</a:t>
            </a:r>
            <a:r>
              <a:rPr lang="en-US"/>
              <a:t> as “a temporary organization that is created for the purpose of delivering one or more business products according to an agreed Business Case.” (PRINCE 2)</a:t>
            </a:r>
            <a:endParaRPr/>
          </a:p>
        </p:txBody>
      </p:sp>
      <p:sp>
        <p:nvSpPr>
          <p:cNvPr id="299" name="Google Shape;299;p21"/>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2"/>
          <p:cNvSpPr txBox="1"/>
          <p:nvPr>
            <p:ph type="title"/>
          </p:nvPr>
        </p:nvSpPr>
        <p:spPr>
          <a:xfrm>
            <a:off x="683895" y="260985"/>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Project</a:t>
            </a:r>
            <a:endParaRPr u="sng"/>
          </a:p>
        </p:txBody>
      </p:sp>
      <p:sp>
        <p:nvSpPr>
          <p:cNvPr id="306" name="Google Shape;306;p2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Font typeface="Tahoma"/>
              <a:buChar char="•"/>
            </a:pPr>
            <a:r>
              <a:rPr lang="en-US"/>
              <a:t>Characteristics that distinguish projects:</a:t>
            </a:r>
            <a:endParaRPr/>
          </a:p>
          <a:p>
            <a:pPr indent="-285750" lvl="1" marL="742950" rtl="0" algn="l">
              <a:spcBef>
                <a:spcPts val="518"/>
              </a:spcBef>
              <a:spcAft>
                <a:spcPts val="0"/>
              </a:spcAft>
              <a:buClr>
                <a:schemeClr val="dk1"/>
              </a:buClr>
              <a:buSzPct val="100000"/>
              <a:buFont typeface="Tahoma"/>
              <a:buChar char="–"/>
            </a:pPr>
            <a:r>
              <a:rPr lang="en-US"/>
              <a:t>Non-routine tasks</a:t>
            </a:r>
            <a:endParaRPr/>
          </a:p>
          <a:p>
            <a:pPr indent="-285750" lvl="1" marL="742950" rtl="0" algn="l">
              <a:spcBef>
                <a:spcPts val="518"/>
              </a:spcBef>
              <a:spcAft>
                <a:spcPts val="0"/>
              </a:spcAft>
              <a:buClr>
                <a:schemeClr val="dk1"/>
              </a:buClr>
              <a:buSzPct val="100000"/>
              <a:buFont typeface="Tahoma"/>
              <a:buChar char="–"/>
            </a:pPr>
            <a:r>
              <a:rPr lang="en-US"/>
              <a:t>Planning is required</a:t>
            </a:r>
            <a:endParaRPr/>
          </a:p>
          <a:p>
            <a:pPr indent="-285750" lvl="1" marL="742950" rtl="0" algn="l">
              <a:spcBef>
                <a:spcPts val="518"/>
              </a:spcBef>
              <a:spcAft>
                <a:spcPts val="0"/>
              </a:spcAft>
              <a:buClr>
                <a:schemeClr val="dk1"/>
              </a:buClr>
              <a:buSzPct val="100000"/>
              <a:buFont typeface="Tahoma"/>
              <a:buChar char="–"/>
            </a:pPr>
            <a:r>
              <a:rPr lang="en-US"/>
              <a:t>Specific objectives are to be met</a:t>
            </a:r>
            <a:endParaRPr/>
          </a:p>
          <a:p>
            <a:pPr indent="-285750" lvl="1" marL="742950" rtl="0" algn="l">
              <a:spcBef>
                <a:spcPts val="518"/>
              </a:spcBef>
              <a:spcAft>
                <a:spcPts val="0"/>
              </a:spcAft>
              <a:buClr>
                <a:schemeClr val="dk1"/>
              </a:buClr>
              <a:buSzPct val="100000"/>
              <a:buFont typeface="Tahoma"/>
              <a:buChar char="–"/>
            </a:pPr>
            <a:r>
              <a:rPr lang="en-US"/>
              <a:t>Pre determined time span</a:t>
            </a:r>
            <a:endParaRPr/>
          </a:p>
          <a:p>
            <a:pPr indent="-285750" lvl="1" marL="742950" rtl="0" algn="l">
              <a:spcBef>
                <a:spcPts val="518"/>
              </a:spcBef>
              <a:spcAft>
                <a:spcPts val="0"/>
              </a:spcAft>
              <a:buClr>
                <a:schemeClr val="dk1"/>
              </a:buClr>
              <a:buSzPct val="100000"/>
              <a:buFont typeface="Tahoma"/>
              <a:buChar char="–"/>
            </a:pPr>
            <a:r>
              <a:rPr lang="en-US"/>
              <a:t>Work involves several specialisms</a:t>
            </a:r>
            <a:endParaRPr/>
          </a:p>
          <a:p>
            <a:pPr indent="-285750" lvl="1" marL="742950" rtl="0" algn="l">
              <a:spcBef>
                <a:spcPts val="518"/>
              </a:spcBef>
              <a:spcAft>
                <a:spcPts val="0"/>
              </a:spcAft>
              <a:buClr>
                <a:schemeClr val="dk1"/>
              </a:buClr>
              <a:buSzPct val="100000"/>
              <a:buFont typeface="Tahoma"/>
              <a:buChar char="–"/>
            </a:pPr>
            <a:r>
              <a:rPr lang="en-US"/>
              <a:t>A temporary work group is formed</a:t>
            </a:r>
            <a:endParaRPr/>
          </a:p>
          <a:p>
            <a:pPr indent="-285750" lvl="1" marL="742950" rtl="0" algn="l">
              <a:spcBef>
                <a:spcPts val="518"/>
              </a:spcBef>
              <a:spcAft>
                <a:spcPts val="0"/>
              </a:spcAft>
              <a:buClr>
                <a:schemeClr val="dk1"/>
              </a:buClr>
              <a:buSzPct val="100000"/>
              <a:buFont typeface="Tahoma"/>
              <a:buChar char="–"/>
            </a:pPr>
            <a:r>
              <a:rPr lang="en-US"/>
              <a:t>Work is carried out in several phases</a:t>
            </a:r>
            <a:endParaRPr/>
          </a:p>
          <a:p>
            <a:pPr indent="-285750" lvl="1" marL="742950" rtl="0" algn="l">
              <a:spcBef>
                <a:spcPts val="518"/>
              </a:spcBef>
              <a:spcAft>
                <a:spcPts val="0"/>
              </a:spcAft>
              <a:buClr>
                <a:schemeClr val="dk1"/>
              </a:buClr>
              <a:buSzPct val="100000"/>
              <a:buFont typeface="Tahoma"/>
              <a:buChar char="–"/>
            </a:pPr>
            <a:r>
              <a:rPr lang="en-US"/>
              <a:t>Resources are constrained</a:t>
            </a:r>
            <a:endParaRPr/>
          </a:p>
          <a:p>
            <a:pPr indent="-285750" lvl="1" marL="742950" rtl="0" algn="l">
              <a:spcBef>
                <a:spcPts val="518"/>
              </a:spcBef>
              <a:spcAft>
                <a:spcPts val="0"/>
              </a:spcAft>
              <a:buClr>
                <a:schemeClr val="dk1"/>
              </a:buClr>
              <a:buSzPct val="100000"/>
              <a:buFont typeface="Tahoma"/>
              <a:buChar char="–"/>
            </a:pPr>
            <a:r>
              <a:rPr lang="en-US"/>
              <a:t>Large or complex</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Activity 1</a:t>
            </a:r>
            <a:endParaRPr u="sng"/>
          </a:p>
        </p:txBody>
      </p:sp>
      <p:sp>
        <p:nvSpPr>
          <p:cNvPr id="312" name="Google Shape;312;p2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Font typeface="Tahoma"/>
              <a:buChar char="•"/>
            </a:pPr>
            <a:r>
              <a:rPr lang="en-US"/>
              <a:t>Put following into an order such that most closely matching to what constitutes a project is at top of the list.</a:t>
            </a:r>
            <a:endParaRPr/>
          </a:p>
          <a:p>
            <a:pPr indent="-285750" lvl="1" marL="742950" rtl="0" algn="just">
              <a:spcBef>
                <a:spcPts val="518"/>
              </a:spcBef>
              <a:spcAft>
                <a:spcPts val="0"/>
              </a:spcAft>
              <a:buClr>
                <a:schemeClr val="dk1"/>
              </a:buClr>
              <a:buSzPct val="100000"/>
              <a:buFont typeface="Tahoma"/>
              <a:buChar char="–"/>
            </a:pPr>
            <a:r>
              <a:rPr lang="en-US"/>
              <a:t>Producing an edition of a newspaper</a:t>
            </a:r>
            <a:endParaRPr/>
          </a:p>
          <a:p>
            <a:pPr indent="-285750" lvl="1" marL="742950" rtl="0" algn="just">
              <a:spcBef>
                <a:spcPts val="518"/>
              </a:spcBef>
              <a:spcAft>
                <a:spcPts val="0"/>
              </a:spcAft>
              <a:buClr>
                <a:schemeClr val="dk1"/>
              </a:buClr>
              <a:buSzPct val="100000"/>
              <a:buFont typeface="Tahoma"/>
              <a:buChar char="–"/>
            </a:pPr>
            <a:r>
              <a:rPr lang="en-US"/>
              <a:t>Putting a robot vehicle on mars</a:t>
            </a:r>
            <a:endParaRPr/>
          </a:p>
          <a:p>
            <a:pPr indent="-285750" lvl="1" marL="742950" rtl="0" algn="just">
              <a:spcBef>
                <a:spcPts val="518"/>
              </a:spcBef>
              <a:spcAft>
                <a:spcPts val="0"/>
              </a:spcAft>
              <a:buClr>
                <a:schemeClr val="dk1"/>
              </a:buClr>
              <a:buSzPct val="100000"/>
              <a:buFont typeface="Tahoma"/>
              <a:buChar char="–"/>
            </a:pPr>
            <a:r>
              <a:rPr lang="en-US"/>
              <a:t>Amending a financial computer system to deal with a common European currency</a:t>
            </a:r>
            <a:endParaRPr/>
          </a:p>
          <a:p>
            <a:pPr indent="-285750" lvl="1" marL="742950" rtl="0" algn="just">
              <a:spcBef>
                <a:spcPts val="518"/>
              </a:spcBef>
              <a:spcAft>
                <a:spcPts val="0"/>
              </a:spcAft>
              <a:buClr>
                <a:schemeClr val="dk1"/>
              </a:buClr>
              <a:buSzPct val="100000"/>
              <a:buFont typeface="Tahoma"/>
              <a:buChar char="–"/>
            </a:pPr>
            <a:r>
              <a:rPr lang="en-US"/>
              <a:t>An investigation into the reason why a user has a problem with a computer system</a:t>
            </a:r>
            <a:endParaRPr/>
          </a:p>
          <a:p>
            <a:pPr indent="-285750" lvl="1" marL="742950" rtl="0" algn="just">
              <a:spcBef>
                <a:spcPts val="518"/>
              </a:spcBef>
              <a:spcAft>
                <a:spcPts val="0"/>
              </a:spcAft>
              <a:buClr>
                <a:schemeClr val="dk1"/>
              </a:buClr>
              <a:buSzPct val="100000"/>
              <a:buFont typeface="Tahoma"/>
              <a:buChar char="–"/>
            </a:pPr>
            <a:r>
              <a:rPr lang="en-US"/>
              <a:t>A programming assignment for a computing student.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4"/>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19" name="Google Shape;319;p24"/>
          <p:cNvSpPr txBox="1"/>
          <p:nvPr>
            <p:ph type="title"/>
          </p:nvPr>
        </p:nvSpPr>
        <p:spPr>
          <a:xfrm>
            <a:off x="684213" y="26035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u="sng"/>
              <a:t>Are </a:t>
            </a:r>
            <a:r>
              <a:rPr i="1" lang="en-US" sz="4000" u="sng"/>
              <a:t>software</a:t>
            </a:r>
            <a:r>
              <a:rPr lang="en-US" sz="4000" u="sng"/>
              <a:t> projects really different from other projects?</a:t>
            </a:r>
            <a:endParaRPr sz="4000" u="sng"/>
          </a:p>
        </p:txBody>
      </p:sp>
      <p:sp>
        <p:nvSpPr>
          <p:cNvPr id="320" name="Google Shape;320;p24"/>
          <p:cNvSpPr txBox="1"/>
          <p:nvPr>
            <p:ph idx="1" type="body"/>
          </p:nvPr>
        </p:nvSpPr>
        <p:spPr>
          <a:xfrm>
            <a:off x="323850" y="1557338"/>
            <a:ext cx="8569325" cy="47672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Tahoma"/>
              <a:buNone/>
            </a:pPr>
            <a:r>
              <a:rPr lang="en-US"/>
              <a:t>Not really! …but…</a:t>
            </a:r>
            <a:endParaRPr/>
          </a:p>
          <a:p>
            <a:pPr indent="-342900" lvl="0" marL="342900" rtl="0" algn="l">
              <a:lnSpc>
                <a:spcPct val="90000"/>
              </a:lnSpc>
              <a:spcBef>
                <a:spcPts val="200"/>
              </a:spcBef>
              <a:spcAft>
                <a:spcPts val="0"/>
              </a:spcAft>
              <a:buClr>
                <a:schemeClr val="dk1"/>
              </a:buClr>
              <a:buSzPts val="1000"/>
              <a:buFont typeface="Tahoma"/>
              <a:buNone/>
            </a:pPr>
            <a:r>
              <a:t/>
            </a:r>
            <a:endParaRPr sz="1000"/>
          </a:p>
          <a:p>
            <a:pPr indent="-342900" lvl="0" marL="342900" rtl="0" algn="l">
              <a:spcBef>
                <a:spcPts val="560"/>
              </a:spcBef>
              <a:spcAft>
                <a:spcPts val="0"/>
              </a:spcAft>
              <a:buClr>
                <a:srgbClr val="7030A0"/>
              </a:buClr>
              <a:buSzPts val="2800"/>
              <a:buFont typeface="Tahoma"/>
              <a:buChar char="•"/>
            </a:pPr>
            <a:r>
              <a:rPr lang="en-US" sz="2800" u="sng">
                <a:solidFill>
                  <a:srgbClr val="7030A0"/>
                </a:solidFill>
              </a:rPr>
              <a:t>Invisibility</a:t>
            </a:r>
            <a:r>
              <a:rPr lang="en-US" sz="2800"/>
              <a:t>: With software, progress is not immediately visible</a:t>
            </a:r>
            <a:endParaRPr sz="2800"/>
          </a:p>
          <a:p>
            <a:pPr indent="-342900" lvl="0" marL="342900" rtl="0" algn="l">
              <a:spcBef>
                <a:spcPts val="560"/>
              </a:spcBef>
              <a:spcAft>
                <a:spcPts val="0"/>
              </a:spcAft>
              <a:buClr>
                <a:srgbClr val="7030A0"/>
              </a:buClr>
              <a:buSzPts val="2800"/>
              <a:buFont typeface="Tahoma"/>
              <a:buChar char="•"/>
            </a:pPr>
            <a:r>
              <a:rPr lang="en-US" sz="2800" u="sng">
                <a:solidFill>
                  <a:srgbClr val="7030A0"/>
                </a:solidFill>
              </a:rPr>
              <a:t>Complexity</a:t>
            </a:r>
            <a:r>
              <a:rPr lang="en-US" sz="2800"/>
              <a:t>: Per dollar, software products contain more complexity than other engineered artefacts</a:t>
            </a:r>
            <a:endParaRPr sz="2800"/>
          </a:p>
          <a:p>
            <a:pPr indent="-342900" lvl="0" marL="342900" rtl="0" algn="l">
              <a:spcBef>
                <a:spcPts val="560"/>
              </a:spcBef>
              <a:spcAft>
                <a:spcPts val="0"/>
              </a:spcAft>
              <a:buClr>
                <a:srgbClr val="7030A0"/>
              </a:buClr>
              <a:buSzPts val="2800"/>
              <a:buFont typeface="Tahoma"/>
              <a:buChar char="•"/>
            </a:pPr>
            <a:r>
              <a:rPr lang="en-US" sz="2800" u="sng">
                <a:solidFill>
                  <a:srgbClr val="7030A0"/>
                </a:solidFill>
              </a:rPr>
              <a:t>Conformity</a:t>
            </a:r>
            <a:r>
              <a:rPr lang="en-US" sz="2800"/>
              <a:t>: Software developers have to conform to the requirements of human clients</a:t>
            </a:r>
            <a:endParaRPr sz="2800"/>
          </a:p>
          <a:p>
            <a:pPr indent="-342900" lvl="0" marL="342900" rtl="0" algn="l">
              <a:spcBef>
                <a:spcPts val="560"/>
              </a:spcBef>
              <a:spcAft>
                <a:spcPts val="0"/>
              </a:spcAft>
              <a:buClr>
                <a:srgbClr val="7030A0"/>
              </a:buClr>
              <a:buSzPts val="2800"/>
              <a:buFont typeface="Tahoma"/>
              <a:buChar char="•"/>
            </a:pPr>
            <a:r>
              <a:rPr lang="en-US" sz="2800" u="sng">
                <a:solidFill>
                  <a:srgbClr val="7030A0"/>
                </a:solidFill>
              </a:rPr>
              <a:t>Flexibility</a:t>
            </a:r>
            <a:r>
              <a:rPr lang="en-US" sz="2800"/>
              <a:t>: Software systems are particularly subject to change </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27" name="Google Shape;327;p25"/>
          <p:cNvSpPr txBox="1"/>
          <p:nvPr>
            <p:ph type="title"/>
          </p:nvPr>
        </p:nvSpPr>
        <p:spPr>
          <a:xfrm>
            <a:off x="684213" y="18891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u="sng"/>
              <a:t>Activities covered by project management</a:t>
            </a:r>
            <a:endParaRPr sz="4000" u="sng"/>
          </a:p>
        </p:txBody>
      </p:sp>
      <p:sp>
        <p:nvSpPr>
          <p:cNvPr id="328" name="Google Shape;328;p25"/>
          <p:cNvSpPr txBox="1"/>
          <p:nvPr/>
        </p:nvSpPr>
        <p:spPr>
          <a:xfrm>
            <a:off x="762000" y="1600200"/>
            <a:ext cx="8004175" cy="4572000"/>
          </a:xfrm>
          <a:prstGeom prst="rect">
            <a:avLst/>
          </a:prstGeom>
          <a:noFill/>
          <a:ln>
            <a:noFill/>
          </a:ln>
        </p:spPr>
        <p:txBody>
          <a:bodyPr anchorCtr="0" anchor="t" bIns="45700" lIns="91425" spcFirstLastPara="1" rIns="91425" wrap="square" tIns="45700">
            <a:noAutofit/>
          </a:bodyPr>
          <a:lstStyle/>
          <a:p>
            <a:pPr indent="-319405" lvl="0" marL="319405" marR="0" rtl="0" algn="l">
              <a:lnSpc>
                <a:spcPct val="100000"/>
              </a:lnSpc>
              <a:spcBef>
                <a:spcPts val="0"/>
              </a:spcBef>
              <a:spcAft>
                <a:spcPts val="0"/>
              </a:spcAft>
              <a:buClr>
                <a:srgbClr val="775F55"/>
              </a:buClr>
              <a:buSzPts val="1200"/>
              <a:buFont typeface="Noto Sans Symbols"/>
              <a:buChar char="◻"/>
            </a:pPr>
            <a:r>
              <a:rPr b="0" i="1" lang="en-US" sz="2000" u="none" cap="none" strike="noStrike">
                <a:solidFill>
                  <a:srgbClr val="000000"/>
                </a:solidFill>
                <a:latin typeface="Georgia"/>
                <a:ea typeface="Georgia"/>
                <a:cs typeface="Georgia"/>
                <a:sym typeface="Georgia"/>
              </a:rPr>
              <a:t>A software project is not only concerned with the actual writing of software. In fact, where a software application is bought in “of the shelf”, there may be no software writing as such, but this is still fundamentally a software project because so many of the other activities associated with software will still be present.</a:t>
            </a:r>
            <a:endParaRPr b="0" i="1" sz="2000" u="none" cap="none" strike="noStrike">
              <a:solidFill>
                <a:srgbClr val="000000"/>
              </a:solidFill>
              <a:latin typeface="Georgia"/>
              <a:ea typeface="Georgia"/>
              <a:cs typeface="Georgia"/>
              <a:sym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6"/>
          <p:cNvSpPr txBox="1"/>
          <p:nvPr>
            <p:ph type="title"/>
          </p:nvPr>
        </p:nvSpPr>
        <p:spPr>
          <a:xfrm>
            <a:off x="1043940" y="332740"/>
            <a:ext cx="7051675"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Common Challenges</a:t>
            </a:r>
            <a:endParaRPr/>
          </a:p>
        </p:txBody>
      </p:sp>
      <p:pic>
        <p:nvPicPr>
          <p:cNvPr id="334" name="Google Shape;334;p26"/>
          <p:cNvPicPr preferRelativeResize="0"/>
          <p:nvPr/>
        </p:nvPicPr>
        <p:blipFill rotWithShape="1">
          <a:blip r:embed="rId3">
            <a:alphaModFix/>
          </a:blip>
          <a:srcRect b="0" l="0" r="0" t="0"/>
          <a:stretch/>
        </p:blipFill>
        <p:spPr>
          <a:xfrm>
            <a:off x="179705" y="1196975"/>
            <a:ext cx="8935720" cy="508127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7"/>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41" name="Google Shape;341;p27"/>
          <p:cNvSpPr txBox="1"/>
          <p:nvPr>
            <p:ph type="title"/>
          </p:nvPr>
        </p:nvSpPr>
        <p:spPr>
          <a:xfrm>
            <a:off x="684213" y="333375"/>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u="sng"/>
              <a:t>The software development life-cycle (ISO 12207)</a:t>
            </a:r>
            <a:endParaRPr sz="4000" u="sng"/>
          </a:p>
        </p:txBody>
      </p:sp>
      <p:sp>
        <p:nvSpPr>
          <p:cNvPr id="342" name="Google Shape;342;p27"/>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Tahoma"/>
              <a:buNone/>
            </a:pPr>
            <a:r>
              <a:t/>
            </a:r>
            <a:endParaRPr sz="2800">
              <a:solidFill>
                <a:srgbClr val="FF0000"/>
              </a:solidFill>
            </a:endParaRPr>
          </a:p>
          <a:p>
            <a:pPr indent="-342900" lvl="0" marL="342900" rtl="0" algn="l">
              <a:spcBef>
                <a:spcPts val="560"/>
              </a:spcBef>
              <a:spcAft>
                <a:spcPts val="0"/>
              </a:spcAft>
              <a:buClr>
                <a:schemeClr val="dk1"/>
              </a:buClr>
              <a:buSzPts val="2800"/>
              <a:buFont typeface="Tahoma"/>
              <a:buNone/>
            </a:pPr>
            <a:r>
              <a:t/>
            </a:r>
            <a:endParaRPr sz="2800">
              <a:solidFill>
                <a:srgbClr val="FF0000"/>
              </a:solidFill>
            </a:endParaRPr>
          </a:p>
          <a:p>
            <a:pPr indent="-342900" lvl="0" marL="342900" rtl="0" algn="l">
              <a:spcBef>
                <a:spcPts val="560"/>
              </a:spcBef>
              <a:spcAft>
                <a:spcPts val="0"/>
              </a:spcAft>
              <a:buClr>
                <a:schemeClr val="dk1"/>
              </a:buClr>
              <a:buSzPts val="2800"/>
              <a:buFont typeface="Tahoma"/>
              <a:buNone/>
            </a:pPr>
            <a:r>
              <a:t/>
            </a:r>
            <a:endParaRPr sz="2800">
              <a:solidFill>
                <a:srgbClr val="FF0000"/>
              </a:solidFill>
            </a:endParaRPr>
          </a:p>
          <a:p>
            <a:pPr indent="-342900" lvl="0" marL="342900" rtl="0" algn="l">
              <a:spcBef>
                <a:spcPts val="560"/>
              </a:spcBef>
              <a:spcAft>
                <a:spcPts val="0"/>
              </a:spcAft>
              <a:buClr>
                <a:schemeClr val="dk1"/>
              </a:buClr>
              <a:buSzPts val="2800"/>
              <a:buFont typeface="Tahoma"/>
              <a:buNone/>
            </a:pPr>
            <a:r>
              <a:t/>
            </a:r>
            <a:endParaRPr sz="2800">
              <a:solidFill>
                <a:srgbClr val="FF0000"/>
              </a:solidFill>
            </a:endParaRPr>
          </a:p>
        </p:txBody>
      </p:sp>
      <p:pic>
        <p:nvPicPr>
          <p:cNvPr id="343" name="Google Shape;343;p27"/>
          <p:cNvPicPr preferRelativeResize="0"/>
          <p:nvPr>
            <p:ph idx="2" type="body"/>
          </p:nvPr>
        </p:nvPicPr>
        <p:blipFill rotWithShape="1">
          <a:blip r:embed="rId3">
            <a:alphaModFix/>
          </a:blip>
          <a:srcRect b="0" l="0" r="0" t="0"/>
          <a:stretch/>
        </p:blipFill>
        <p:spPr>
          <a:xfrm>
            <a:off x="2484438" y="1844675"/>
            <a:ext cx="4168775" cy="45370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8"/>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50" name="Google Shape;350;p28"/>
          <p:cNvSpPr txBox="1"/>
          <p:nvPr>
            <p:ph type="title"/>
          </p:nvPr>
        </p:nvSpPr>
        <p:spPr>
          <a:xfrm>
            <a:off x="684213" y="18891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ISO 12207 life-cycle</a:t>
            </a:r>
            <a:endParaRPr u="sng"/>
          </a:p>
        </p:txBody>
      </p:sp>
      <p:sp>
        <p:nvSpPr>
          <p:cNvPr id="351" name="Google Shape;351;p28"/>
          <p:cNvSpPr txBox="1"/>
          <p:nvPr>
            <p:ph idx="1" type="body"/>
          </p:nvPr>
        </p:nvSpPr>
        <p:spPr>
          <a:xfrm>
            <a:off x="755650" y="1557338"/>
            <a:ext cx="7772400" cy="46799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Tahoma"/>
              <a:buNone/>
            </a:pPr>
            <a:r>
              <a:rPr b="1" lang="en-US"/>
              <a:t>Requirements analysis</a:t>
            </a:r>
            <a:endParaRPr b="1"/>
          </a:p>
          <a:p>
            <a:pPr indent="-342900" lvl="0" marL="342900" rtl="0" algn="l">
              <a:lnSpc>
                <a:spcPct val="90000"/>
              </a:lnSpc>
              <a:spcBef>
                <a:spcPts val="180"/>
              </a:spcBef>
              <a:spcAft>
                <a:spcPts val="0"/>
              </a:spcAft>
              <a:buClr>
                <a:schemeClr val="dk1"/>
              </a:buClr>
              <a:buSzPts val="900"/>
              <a:buFont typeface="Tahoma"/>
              <a:buNone/>
            </a:pPr>
            <a:r>
              <a:t/>
            </a:r>
            <a:endParaRPr b="1" sz="900"/>
          </a:p>
          <a:p>
            <a:pPr indent="-285750" lvl="1" marL="742950" rtl="0" algn="l">
              <a:lnSpc>
                <a:spcPct val="90000"/>
              </a:lnSpc>
              <a:spcBef>
                <a:spcPts val="560"/>
              </a:spcBef>
              <a:spcAft>
                <a:spcPts val="0"/>
              </a:spcAft>
              <a:buClr>
                <a:schemeClr val="dk1"/>
              </a:buClr>
              <a:buSzPts val="2800"/>
              <a:buFont typeface="Tahoma"/>
              <a:buChar char="–"/>
            </a:pPr>
            <a:r>
              <a:rPr lang="en-US"/>
              <a:t>Requirements elicitation: what does the client need?</a:t>
            </a:r>
            <a:endParaRPr/>
          </a:p>
          <a:p>
            <a:pPr indent="-285750" lvl="1" marL="742950" rtl="0" algn="l">
              <a:lnSpc>
                <a:spcPct val="90000"/>
              </a:lnSpc>
              <a:spcBef>
                <a:spcPts val="560"/>
              </a:spcBef>
              <a:spcAft>
                <a:spcPts val="0"/>
              </a:spcAft>
              <a:buClr>
                <a:schemeClr val="dk1"/>
              </a:buClr>
              <a:buSzPts val="2800"/>
              <a:buFont typeface="Tahoma"/>
              <a:buChar char="–"/>
            </a:pPr>
            <a:r>
              <a:rPr lang="en-US"/>
              <a:t>Analysis: converting ‘customer-facing’ requirements into equivalents that developers can understand</a:t>
            </a:r>
            <a:endParaRPr/>
          </a:p>
          <a:p>
            <a:pPr indent="-285750" lvl="1" marL="742950" rtl="0" algn="l">
              <a:lnSpc>
                <a:spcPct val="90000"/>
              </a:lnSpc>
              <a:spcBef>
                <a:spcPts val="560"/>
              </a:spcBef>
              <a:spcAft>
                <a:spcPts val="0"/>
              </a:spcAft>
              <a:buClr>
                <a:schemeClr val="dk1"/>
              </a:buClr>
              <a:buSzPts val="2800"/>
              <a:buFont typeface="Tahoma"/>
              <a:buChar char="–"/>
            </a:pPr>
            <a:r>
              <a:rPr lang="en-US"/>
              <a:t>Requirements will cover </a:t>
            </a:r>
            <a:endParaRPr/>
          </a:p>
          <a:p>
            <a:pPr indent="-228600" lvl="2" marL="1143000" rtl="0" algn="l">
              <a:lnSpc>
                <a:spcPct val="90000"/>
              </a:lnSpc>
              <a:spcBef>
                <a:spcPts val="480"/>
              </a:spcBef>
              <a:spcAft>
                <a:spcPts val="0"/>
              </a:spcAft>
              <a:buClr>
                <a:schemeClr val="dk1"/>
              </a:buClr>
              <a:buSzPts val="2400"/>
              <a:buFont typeface="Tahoma"/>
              <a:buChar char="•"/>
            </a:pPr>
            <a:r>
              <a:rPr lang="en-US"/>
              <a:t>Functions</a:t>
            </a:r>
            <a:endParaRPr/>
          </a:p>
          <a:p>
            <a:pPr indent="-228600" lvl="2" marL="1143000" rtl="0" algn="l">
              <a:lnSpc>
                <a:spcPct val="90000"/>
              </a:lnSpc>
              <a:spcBef>
                <a:spcPts val="480"/>
              </a:spcBef>
              <a:spcAft>
                <a:spcPts val="0"/>
              </a:spcAft>
              <a:buClr>
                <a:schemeClr val="dk1"/>
              </a:buClr>
              <a:buSzPts val="2400"/>
              <a:buFont typeface="Tahoma"/>
              <a:buChar char="•"/>
            </a:pPr>
            <a:r>
              <a:rPr lang="en-US"/>
              <a:t>Quality</a:t>
            </a:r>
            <a:endParaRPr/>
          </a:p>
          <a:p>
            <a:pPr indent="-228600" lvl="2" marL="1143000" rtl="0" algn="l">
              <a:lnSpc>
                <a:spcPct val="90000"/>
              </a:lnSpc>
              <a:spcBef>
                <a:spcPts val="480"/>
              </a:spcBef>
              <a:spcAft>
                <a:spcPts val="0"/>
              </a:spcAft>
              <a:buClr>
                <a:schemeClr val="dk1"/>
              </a:buClr>
              <a:buSzPts val="2400"/>
              <a:buFont typeface="Tahoma"/>
              <a:buChar char="•"/>
            </a:pPr>
            <a:r>
              <a:rPr lang="en-US"/>
              <a:t>Resource constraints i.e. costs</a:t>
            </a:r>
            <a:endParaRPr/>
          </a:p>
          <a:p>
            <a:pPr indent="-107950" lvl="1" marL="742950" rtl="0" algn="l">
              <a:lnSpc>
                <a:spcPct val="90000"/>
              </a:lnSpc>
              <a:spcBef>
                <a:spcPts val="560"/>
              </a:spcBef>
              <a:spcAft>
                <a:spcPts val="0"/>
              </a:spcAft>
              <a:buClr>
                <a:schemeClr val="dk1"/>
              </a:buClr>
              <a:buSzPts val="2800"/>
              <a:buFont typeface="Tahoma"/>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9"/>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58" name="Google Shape;358;p29"/>
          <p:cNvSpPr txBox="1"/>
          <p:nvPr>
            <p:ph type="title"/>
          </p:nvPr>
        </p:nvSpPr>
        <p:spPr>
          <a:xfrm>
            <a:off x="611188" y="18891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ISO 12207 life-cycle</a:t>
            </a:r>
            <a:endParaRPr u="sng"/>
          </a:p>
        </p:txBody>
      </p:sp>
      <p:sp>
        <p:nvSpPr>
          <p:cNvPr id="359" name="Google Shape;359;p29"/>
          <p:cNvSpPr txBox="1"/>
          <p:nvPr>
            <p:ph idx="1" type="body"/>
          </p:nvPr>
        </p:nvSpPr>
        <p:spPr>
          <a:xfrm>
            <a:off x="684213" y="1484313"/>
            <a:ext cx="7772400" cy="47529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Tahoma"/>
              <a:buChar char="•"/>
            </a:pPr>
            <a:r>
              <a:rPr lang="en-US"/>
              <a:t>Architecture design</a:t>
            </a:r>
            <a:endParaRPr/>
          </a:p>
          <a:p>
            <a:pPr indent="-285750" lvl="1" marL="742950" rtl="0" algn="l">
              <a:lnSpc>
                <a:spcPct val="90000"/>
              </a:lnSpc>
              <a:spcBef>
                <a:spcPts val="560"/>
              </a:spcBef>
              <a:spcAft>
                <a:spcPts val="0"/>
              </a:spcAft>
              <a:buClr>
                <a:schemeClr val="dk1"/>
              </a:buClr>
              <a:buSzPts val="2800"/>
              <a:buFont typeface="Tahoma"/>
              <a:buChar char="–"/>
            </a:pPr>
            <a:r>
              <a:rPr lang="en-US"/>
              <a:t>Based on </a:t>
            </a:r>
            <a:r>
              <a:rPr i="1" lang="en-US"/>
              <a:t>system requirements</a:t>
            </a:r>
            <a:endParaRPr i="1"/>
          </a:p>
          <a:p>
            <a:pPr indent="-285750" lvl="1" marL="742950" rtl="0" algn="l">
              <a:lnSpc>
                <a:spcPct val="90000"/>
              </a:lnSpc>
              <a:spcBef>
                <a:spcPts val="560"/>
              </a:spcBef>
              <a:spcAft>
                <a:spcPts val="0"/>
              </a:spcAft>
              <a:buClr>
                <a:schemeClr val="dk1"/>
              </a:buClr>
              <a:buSzPts val="2800"/>
              <a:buFont typeface="Tahoma"/>
              <a:buChar char="–"/>
            </a:pPr>
            <a:r>
              <a:rPr lang="en-US"/>
              <a:t>Defines components of system: hardware, software, organizational</a:t>
            </a:r>
            <a:endParaRPr/>
          </a:p>
          <a:p>
            <a:pPr indent="-285750" lvl="1" marL="742950" rtl="0" algn="l">
              <a:lnSpc>
                <a:spcPct val="90000"/>
              </a:lnSpc>
              <a:spcBef>
                <a:spcPts val="560"/>
              </a:spcBef>
              <a:spcAft>
                <a:spcPts val="0"/>
              </a:spcAft>
              <a:buClr>
                <a:schemeClr val="dk1"/>
              </a:buClr>
              <a:buSzPts val="2800"/>
              <a:buFont typeface="Tahoma"/>
              <a:buChar char="–"/>
            </a:pPr>
            <a:r>
              <a:rPr i="1" lang="en-US"/>
              <a:t>Software requirements</a:t>
            </a:r>
            <a:r>
              <a:rPr lang="en-US"/>
              <a:t> will come out of this</a:t>
            </a:r>
            <a:endParaRPr/>
          </a:p>
          <a:p>
            <a:pPr indent="-342900" lvl="0" marL="342900" rtl="0" algn="l">
              <a:lnSpc>
                <a:spcPct val="90000"/>
              </a:lnSpc>
              <a:spcBef>
                <a:spcPts val="640"/>
              </a:spcBef>
              <a:spcAft>
                <a:spcPts val="0"/>
              </a:spcAft>
              <a:buClr>
                <a:schemeClr val="dk1"/>
              </a:buClr>
              <a:buSzPts val="3200"/>
              <a:buFont typeface="Tahoma"/>
              <a:buChar char="•"/>
            </a:pPr>
            <a:r>
              <a:rPr lang="en-US"/>
              <a:t>Code and test</a:t>
            </a:r>
            <a:endParaRPr/>
          </a:p>
          <a:p>
            <a:pPr indent="-285750" lvl="1" marL="742950" rtl="0" algn="l">
              <a:lnSpc>
                <a:spcPct val="90000"/>
              </a:lnSpc>
              <a:spcBef>
                <a:spcPts val="560"/>
              </a:spcBef>
              <a:spcAft>
                <a:spcPts val="0"/>
              </a:spcAft>
              <a:buClr>
                <a:schemeClr val="dk1"/>
              </a:buClr>
              <a:buSzPts val="2800"/>
              <a:buFont typeface="Tahoma"/>
              <a:buChar char="–"/>
            </a:pPr>
            <a:r>
              <a:rPr lang="en-US"/>
              <a:t>Of individual components</a:t>
            </a:r>
            <a:endParaRPr/>
          </a:p>
          <a:p>
            <a:pPr indent="-342900" lvl="0" marL="342900" rtl="0" algn="l">
              <a:lnSpc>
                <a:spcPct val="90000"/>
              </a:lnSpc>
              <a:spcBef>
                <a:spcPts val="640"/>
              </a:spcBef>
              <a:spcAft>
                <a:spcPts val="0"/>
              </a:spcAft>
              <a:buClr>
                <a:schemeClr val="dk1"/>
              </a:buClr>
              <a:buSzPts val="3200"/>
              <a:buFont typeface="Tahoma"/>
              <a:buChar char="•"/>
            </a:pPr>
            <a:r>
              <a:rPr lang="en-US"/>
              <a:t>Integration</a:t>
            </a:r>
            <a:endParaRPr/>
          </a:p>
          <a:p>
            <a:pPr indent="-285750" lvl="1" marL="742950" rtl="0" algn="l">
              <a:lnSpc>
                <a:spcPct val="90000"/>
              </a:lnSpc>
              <a:spcBef>
                <a:spcPts val="560"/>
              </a:spcBef>
              <a:spcAft>
                <a:spcPts val="0"/>
              </a:spcAft>
              <a:buClr>
                <a:schemeClr val="dk1"/>
              </a:buClr>
              <a:buSzPts val="2800"/>
              <a:buFont typeface="Tahoma"/>
              <a:buChar char="–"/>
            </a:pPr>
            <a:r>
              <a:rPr lang="en-US"/>
              <a:t>Putting the components together</a:t>
            </a:r>
            <a:endParaRPr/>
          </a:p>
          <a:p>
            <a:pPr indent="-342900" lvl="0" marL="342900" rtl="0" algn="l">
              <a:lnSpc>
                <a:spcPct val="90000"/>
              </a:lnSpc>
              <a:spcBef>
                <a:spcPts val="640"/>
              </a:spcBef>
              <a:spcAft>
                <a:spcPts val="0"/>
              </a:spcAft>
              <a:buClr>
                <a:schemeClr val="dk1"/>
              </a:buClr>
              <a:buSzPts val="3200"/>
              <a:buFont typeface="Tahoma"/>
              <a:buNone/>
            </a:pPr>
            <a:r>
              <a:t/>
            </a:r>
            <a:endParaRPr/>
          </a:p>
          <a:p>
            <a:pPr indent="-139700" lvl="0" marL="342900" rtl="0" algn="l">
              <a:lnSpc>
                <a:spcPct val="90000"/>
              </a:lnSpc>
              <a:spcBef>
                <a:spcPts val="640"/>
              </a:spcBef>
              <a:spcAft>
                <a:spcPts val="0"/>
              </a:spcAft>
              <a:buClr>
                <a:schemeClr val="dk1"/>
              </a:buClr>
              <a:buSzPts val="3200"/>
              <a:buFont typeface="Tahoma"/>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0"/>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66" name="Google Shape;366;p30"/>
          <p:cNvSpPr txBox="1"/>
          <p:nvPr>
            <p:ph type="title"/>
          </p:nvPr>
        </p:nvSpPr>
        <p:spPr>
          <a:xfrm>
            <a:off x="684213" y="18891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ISO12207 continued</a:t>
            </a:r>
            <a:endParaRPr u="sng"/>
          </a:p>
        </p:txBody>
      </p:sp>
      <p:sp>
        <p:nvSpPr>
          <p:cNvPr id="367" name="Google Shape;367;p30"/>
          <p:cNvSpPr txBox="1"/>
          <p:nvPr>
            <p:ph idx="1" type="body"/>
          </p:nvPr>
        </p:nvSpPr>
        <p:spPr>
          <a:xfrm>
            <a:off x="684213" y="1412875"/>
            <a:ext cx="7772400" cy="49688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Tahoma"/>
              <a:buChar char="•"/>
            </a:pPr>
            <a:r>
              <a:rPr lang="en-US"/>
              <a:t>Qualification testing</a:t>
            </a:r>
            <a:endParaRPr/>
          </a:p>
          <a:p>
            <a:pPr indent="-285750" lvl="1" marL="742950" rtl="0" algn="l">
              <a:lnSpc>
                <a:spcPct val="90000"/>
              </a:lnSpc>
              <a:spcBef>
                <a:spcPts val="560"/>
              </a:spcBef>
              <a:spcAft>
                <a:spcPts val="0"/>
              </a:spcAft>
              <a:buClr>
                <a:schemeClr val="dk1"/>
              </a:buClr>
              <a:buSzPts val="2800"/>
              <a:buFont typeface="Tahoma"/>
              <a:buChar char="–"/>
            </a:pPr>
            <a:r>
              <a:rPr lang="en-US"/>
              <a:t>Testing the </a:t>
            </a:r>
            <a:r>
              <a:rPr i="1" lang="en-US"/>
              <a:t>system </a:t>
            </a:r>
            <a:r>
              <a:rPr lang="en-US"/>
              <a:t>(not just the </a:t>
            </a:r>
            <a:r>
              <a:rPr i="1" lang="en-US"/>
              <a:t>software</a:t>
            </a:r>
            <a:r>
              <a:rPr lang="en-US"/>
              <a:t>)</a:t>
            </a:r>
            <a:endParaRPr/>
          </a:p>
          <a:p>
            <a:pPr indent="-342900" lvl="0" marL="342900" rtl="0" algn="l">
              <a:lnSpc>
                <a:spcPct val="90000"/>
              </a:lnSpc>
              <a:spcBef>
                <a:spcPts val="640"/>
              </a:spcBef>
              <a:spcAft>
                <a:spcPts val="0"/>
              </a:spcAft>
              <a:buClr>
                <a:schemeClr val="dk1"/>
              </a:buClr>
              <a:buSzPts val="3200"/>
              <a:buFont typeface="Tahoma"/>
              <a:buChar char="•"/>
            </a:pPr>
            <a:r>
              <a:rPr lang="en-US"/>
              <a:t>Installation</a:t>
            </a:r>
            <a:endParaRPr/>
          </a:p>
          <a:p>
            <a:pPr indent="-285750" lvl="1" marL="742950" rtl="0" algn="l">
              <a:lnSpc>
                <a:spcPct val="90000"/>
              </a:lnSpc>
              <a:spcBef>
                <a:spcPts val="560"/>
              </a:spcBef>
              <a:spcAft>
                <a:spcPts val="0"/>
              </a:spcAft>
              <a:buClr>
                <a:schemeClr val="dk1"/>
              </a:buClr>
              <a:buSzPts val="2800"/>
              <a:buFont typeface="Tahoma"/>
              <a:buChar char="–"/>
            </a:pPr>
            <a:r>
              <a:rPr lang="en-US"/>
              <a:t>The process of making the system operational</a:t>
            </a:r>
            <a:endParaRPr/>
          </a:p>
          <a:p>
            <a:pPr indent="-285750" lvl="1" marL="742950" rtl="0" algn="l">
              <a:lnSpc>
                <a:spcPct val="90000"/>
              </a:lnSpc>
              <a:spcBef>
                <a:spcPts val="560"/>
              </a:spcBef>
              <a:spcAft>
                <a:spcPts val="0"/>
              </a:spcAft>
              <a:buClr>
                <a:schemeClr val="dk1"/>
              </a:buClr>
              <a:buSzPts val="2800"/>
              <a:buFont typeface="Tahoma"/>
              <a:buChar char="–"/>
            </a:pPr>
            <a:r>
              <a:rPr lang="en-US"/>
              <a:t>Includes setting up standing data, setting system parameters, installing on operational hardware platforms, user training etc</a:t>
            </a:r>
            <a:endParaRPr/>
          </a:p>
          <a:p>
            <a:pPr indent="-342900" lvl="0" marL="342900" rtl="0" algn="l">
              <a:lnSpc>
                <a:spcPct val="90000"/>
              </a:lnSpc>
              <a:spcBef>
                <a:spcPts val="640"/>
              </a:spcBef>
              <a:spcAft>
                <a:spcPts val="0"/>
              </a:spcAft>
              <a:buClr>
                <a:schemeClr val="dk1"/>
              </a:buClr>
              <a:buSzPts val="3200"/>
              <a:buFont typeface="Tahoma"/>
              <a:buChar char="•"/>
            </a:pPr>
            <a:r>
              <a:rPr lang="en-US"/>
              <a:t>Acceptance support</a:t>
            </a:r>
            <a:endParaRPr/>
          </a:p>
          <a:p>
            <a:pPr indent="-285750" lvl="1" marL="742950" rtl="0" algn="l">
              <a:lnSpc>
                <a:spcPct val="90000"/>
              </a:lnSpc>
              <a:spcBef>
                <a:spcPts val="560"/>
              </a:spcBef>
              <a:spcAft>
                <a:spcPts val="0"/>
              </a:spcAft>
              <a:buClr>
                <a:schemeClr val="dk1"/>
              </a:buClr>
              <a:buSzPts val="2800"/>
              <a:buFont typeface="Tahoma"/>
              <a:buChar char="–"/>
            </a:pPr>
            <a:r>
              <a:rPr lang="en-US"/>
              <a:t>Including maintenance and enhancement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1"/>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74" name="Google Shape;374;p31"/>
          <p:cNvSpPr txBox="1"/>
          <p:nvPr>
            <p:ph type="title"/>
          </p:nvPr>
        </p:nvSpPr>
        <p:spPr>
          <a:xfrm>
            <a:off x="684213" y="47625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u="sng"/>
              <a:t>Some ways of categorizing projects</a:t>
            </a:r>
            <a:br>
              <a:rPr lang="en-US" sz="4000" u="sng"/>
            </a:br>
            <a:endParaRPr sz="4000" u="sng"/>
          </a:p>
        </p:txBody>
      </p:sp>
      <p:sp>
        <p:nvSpPr>
          <p:cNvPr id="375" name="Google Shape;375;p31"/>
          <p:cNvSpPr txBox="1"/>
          <p:nvPr>
            <p:ph idx="1" type="body"/>
          </p:nvPr>
        </p:nvSpPr>
        <p:spPr>
          <a:xfrm>
            <a:off x="323850" y="1412875"/>
            <a:ext cx="8370888" cy="460851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Tahoma"/>
              <a:buChar char="•"/>
            </a:pPr>
            <a:r>
              <a:rPr lang="en-US"/>
              <a:t>Compulsory vs. voluntary users</a:t>
            </a:r>
            <a:endParaRPr/>
          </a:p>
          <a:p>
            <a:pPr indent="-285750" lvl="1" marL="742950" rtl="0" algn="l">
              <a:spcBef>
                <a:spcPts val="560"/>
              </a:spcBef>
              <a:spcAft>
                <a:spcPts val="0"/>
              </a:spcAft>
              <a:buClr>
                <a:schemeClr val="dk1"/>
              </a:buClr>
              <a:buSzPts val="2800"/>
              <a:buFont typeface="Tahoma"/>
              <a:buChar char="–"/>
            </a:pPr>
            <a:r>
              <a:rPr lang="en-US"/>
              <a:t>Supermarket transaction system vs. computer game</a:t>
            </a:r>
            <a:endParaRPr/>
          </a:p>
          <a:p>
            <a:pPr indent="-342900" lvl="0" marL="342900" rtl="0" algn="l">
              <a:spcBef>
                <a:spcPts val="640"/>
              </a:spcBef>
              <a:spcAft>
                <a:spcPts val="0"/>
              </a:spcAft>
              <a:buClr>
                <a:schemeClr val="dk1"/>
              </a:buClr>
              <a:buSzPts val="3200"/>
              <a:buFont typeface="Tahoma"/>
              <a:buChar char="•"/>
            </a:pPr>
            <a:r>
              <a:rPr lang="en-US"/>
              <a:t>Information systems vs. embedded systems</a:t>
            </a:r>
            <a:endParaRPr/>
          </a:p>
          <a:p>
            <a:pPr indent="-285750" lvl="1" marL="742950" rtl="0" algn="l">
              <a:spcBef>
                <a:spcPts val="560"/>
              </a:spcBef>
              <a:spcAft>
                <a:spcPts val="0"/>
              </a:spcAft>
              <a:buClr>
                <a:schemeClr val="dk1"/>
              </a:buClr>
              <a:buSzPts val="2800"/>
              <a:buFont typeface="Tahoma"/>
              <a:buChar char="–"/>
            </a:pPr>
            <a:r>
              <a:rPr lang="en-US"/>
              <a:t>Office system vs. machine control system</a:t>
            </a:r>
            <a:endParaRPr/>
          </a:p>
          <a:p>
            <a:pPr indent="-342900" lvl="0" marL="342900" rtl="0" algn="l">
              <a:spcBef>
                <a:spcPts val="640"/>
              </a:spcBef>
              <a:spcAft>
                <a:spcPts val="0"/>
              </a:spcAft>
              <a:buClr>
                <a:schemeClr val="dk1"/>
              </a:buClr>
              <a:buSzPts val="3200"/>
              <a:buFont typeface="Tahoma"/>
              <a:buChar char="•"/>
            </a:pPr>
            <a:r>
              <a:rPr lang="en-US"/>
              <a:t>Objectives vs. products</a:t>
            </a:r>
            <a:endParaRPr/>
          </a:p>
          <a:p>
            <a:pPr indent="-285750" lvl="1" marL="742950" rtl="0" algn="l">
              <a:spcBef>
                <a:spcPts val="560"/>
              </a:spcBef>
              <a:spcAft>
                <a:spcPts val="0"/>
              </a:spcAft>
              <a:buClr>
                <a:schemeClr val="dk1"/>
              </a:buClr>
              <a:buSzPts val="2800"/>
              <a:buFont typeface="Tahoma"/>
              <a:buChar char="–"/>
            </a:pPr>
            <a:r>
              <a:rPr lang="en-US"/>
              <a:t>to meet certain objectives vs. to produce a product.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2"/>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82" name="Google Shape;382;p32"/>
          <p:cNvSpPr txBox="1"/>
          <p:nvPr>
            <p:ph type="title"/>
          </p:nvPr>
        </p:nvSpPr>
        <p:spPr>
          <a:xfrm>
            <a:off x="684213" y="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Setting objectives</a:t>
            </a:r>
            <a:endParaRPr u="sng"/>
          </a:p>
        </p:txBody>
      </p:sp>
      <p:sp>
        <p:nvSpPr>
          <p:cNvPr id="383" name="Google Shape;383;p32"/>
          <p:cNvSpPr txBox="1"/>
          <p:nvPr>
            <p:ph idx="1" type="body"/>
          </p:nvPr>
        </p:nvSpPr>
        <p:spPr>
          <a:xfrm>
            <a:off x="684213" y="1268413"/>
            <a:ext cx="7772400" cy="490061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Tahoma"/>
              <a:buChar char="•"/>
            </a:pPr>
            <a:r>
              <a:rPr lang="en-US"/>
              <a:t>Answering the question ‘</a:t>
            </a:r>
            <a:r>
              <a:rPr i="1" lang="en-US"/>
              <a:t>What do we have to do to have a success?’</a:t>
            </a:r>
            <a:endParaRPr i="1"/>
          </a:p>
          <a:p>
            <a:pPr indent="-342900" lvl="0" marL="342900" rtl="0" algn="l">
              <a:lnSpc>
                <a:spcPct val="90000"/>
              </a:lnSpc>
              <a:spcBef>
                <a:spcPts val="200"/>
              </a:spcBef>
              <a:spcAft>
                <a:spcPts val="0"/>
              </a:spcAft>
              <a:buClr>
                <a:schemeClr val="dk1"/>
              </a:buClr>
              <a:buSzPts val="1000"/>
              <a:buFont typeface="Tahoma"/>
              <a:buNone/>
            </a:pPr>
            <a:r>
              <a:t/>
            </a:r>
            <a:endParaRPr i="1" sz="1000"/>
          </a:p>
          <a:p>
            <a:pPr indent="-342900" lvl="0" marL="342900" rtl="0" algn="l">
              <a:lnSpc>
                <a:spcPct val="90000"/>
              </a:lnSpc>
              <a:spcBef>
                <a:spcPts val="180"/>
              </a:spcBef>
              <a:spcAft>
                <a:spcPts val="0"/>
              </a:spcAft>
              <a:buClr>
                <a:schemeClr val="dk1"/>
              </a:buClr>
              <a:buSzPts val="900"/>
              <a:buFont typeface="Tahoma"/>
              <a:buNone/>
            </a:pPr>
            <a:r>
              <a:t/>
            </a:r>
            <a:endParaRPr i="1" sz="900"/>
          </a:p>
          <a:p>
            <a:pPr indent="-342900" lvl="0" marL="342900" rtl="0" algn="l">
              <a:lnSpc>
                <a:spcPct val="90000"/>
              </a:lnSpc>
              <a:spcBef>
                <a:spcPts val="640"/>
              </a:spcBef>
              <a:spcAft>
                <a:spcPts val="0"/>
              </a:spcAft>
              <a:buClr>
                <a:schemeClr val="dk1"/>
              </a:buClr>
              <a:buSzPts val="3200"/>
              <a:buFont typeface="Tahoma"/>
              <a:buChar char="•"/>
            </a:pPr>
            <a:r>
              <a:rPr lang="en-US"/>
              <a:t>Need for a </a:t>
            </a:r>
            <a:r>
              <a:rPr i="1" lang="en-US"/>
              <a:t>project authority</a:t>
            </a:r>
            <a:endParaRPr i="1"/>
          </a:p>
          <a:p>
            <a:pPr indent="-285750" lvl="1" marL="742950" rtl="0" algn="l">
              <a:lnSpc>
                <a:spcPct val="90000"/>
              </a:lnSpc>
              <a:spcBef>
                <a:spcPts val="480"/>
              </a:spcBef>
              <a:spcAft>
                <a:spcPts val="0"/>
              </a:spcAft>
              <a:buClr>
                <a:schemeClr val="dk1"/>
              </a:buClr>
              <a:buSzPts val="2400"/>
              <a:buFont typeface="Tahoma"/>
              <a:buChar char="–"/>
            </a:pPr>
            <a:r>
              <a:rPr lang="en-US" sz="2400"/>
              <a:t>Sets the project scope</a:t>
            </a:r>
            <a:endParaRPr sz="2400"/>
          </a:p>
          <a:p>
            <a:pPr indent="-285750" lvl="1" marL="742950" rtl="0" algn="l">
              <a:lnSpc>
                <a:spcPct val="90000"/>
              </a:lnSpc>
              <a:spcBef>
                <a:spcPts val="480"/>
              </a:spcBef>
              <a:spcAft>
                <a:spcPts val="0"/>
              </a:spcAft>
              <a:buClr>
                <a:schemeClr val="dk1"/>
              </a:buClr>
              <a:buSzPts val="2400"/>
              <a:buFont typeface="Tahoma"/>
              <a:buChar char="–"/>
            </a:pPr>
            <a:r>
              <a:rPr lang="en-US" sz="2400"/>
              <a:t>Allocates/approves costs</a:t>
            </a:r>
            <a:endParaRPr sz="2400"/>
          </a:p>
          <a:p>
            <a:pPr indent="-285750" lvl="1" marL="742950" rtl="0" algn="l">
              <a:lnSpc>
                <a:spcPct val="90000"/>
              </a:lnSpc>
              <a:spcBef>
                <a:spcPts val="160"/>
              </a:spcBef>
              <a:spcAft>
                <a:spcPts val="0"/>
              </a:spcAft>
              <a:buClr>
                <a:schemeClr val="dk1"/>
              </a:buClr>
              <a:buSzPts val="800"/>
              <a:buFont typeface="Tahoma"/>
              <a:buNone/>
            </a:pPr>
            <a:r>
              <a:t/>
            </a:r>
            <a:endParaRPr sz="800"/>
          </a:p>
          <a:p>
            <a:pPr indent="-285750" lvl="1" marL="742950" rtl="0" algn="l">
              <a:lnSpc>
                <a:spcPct val="90000"/>
              </a:lnSpc>
              <a:spcBef>
                <a:spcPts val="180"/>
              </a:spcBef>
              <a:spcAft>
                <a:spcPts val="0"/>
              </a:spcAft>
              <a:buClr>
                <a:schemeClr val="dk1"/>
              </a:buClr>
              <a:buSzPts val="900"/>
              <a:buFont typeface="Tahoma"/>
              <a:buNone/>
            </a:pPr>
            <a:r>
              <a:t/>
            </a:r>
            <a:endParaRPr sz="900"/>
          </a:p>
          <a:p>
            <a:pPr indent="-342900" lvl="0" marL="342900" rtl="0" algn="l">
              <a:lnSpc>
                <a:spcPct val="90000"/>
              </a:lnSpc>
              <a:spcBef>
                <a:spcPts val="640"/>
              </a:spcBef>
              <a:spcAft>
                <a:spcPts val="0"/>
              </a:spcAft>
              <a:buClr>
                <a:schemeClr val="dk1"/>
              </a:buClr>
              <a:buSzPts val="3200"/>
              <a:buFont typeface="Tahoma"/>
              <a:buChar char="•"/>
            </a:pPr>
            <a:r>
              <a:rPr lang="en-US"/>
              <a:t>Could be one person - or a group</a:t>
            </a:r>
            <a:endParaRPr/>
          </a:p>
          <a:p>
            <a:pPr indent="-285750" lvl="1" marL="742950" rtl="0" algn="l">
              <a:lnSpc>
                <a:spcPct val="90000"/>
              </a:lnSpc>
              <a:spcBef>
                <a:spcPts val="480"/>
              </a:spcBef>
              <a:spcAft>
                <a:spcPts val="0"/>
              </a:spcAft>
              <a:buClr>
                <a:schemeClr val="dk1"/>
              </a:buClr>
              <a:buSzPts val="2400"/>
              <a:buFont typeface="Tahoma"/>
              <a:buChar char="–"/>
            </a:pPr>
            <a:r>
              <a:rPr lang="en-US" sz="2400"/>
              <a:t>Project Board</a:t>
            </a:r>
            <a:endParaRPr sz="2400"/>
          </a:p>
          <a:p>
            <a:pPr indent="-285750" lvl="1" marL="742950" rtl="0" algn="l">
              <a:lnSpc>
                <a:spcPct val="90000"/>
              </a:lnSpc>
              <a:spcBef>
                <a:spcPts val="480"/>
              </a:spcBef>
              <a:spcAft>
                <a:spcPts val="0"/>
              </a:spcAft>
              <a:buClr>
                <a:schemeClr val="dk1"/>
              </a:buClr>
              <a:buSzPts val="2400"/>
              <a:buFont typeface="Tahoma"/>
              <a:buChar char="–"/>
            </a:pPr>
            <a:r>
              <a:rPr lang="en-US" sz="2400"/>
              <a:t>Project Management Board</a:t>
            </a:r>
            <a:endParaRPr sz="2400"/>
          </a:p>
          <a:p>
            <a:pPr indent="-285750" lvl="1" marL="742950" rtl="0" algn="l">
              <a:lnSpc>
                <a:spcPct val="90000"/>
              </a:lnSpc>
              <a:spcBef>
                <a:spcPts val="480"/>
              </a:spcBef>
              <a:spcAft>
                <a:spcPts val="0"/>
              </a:spcAft>
              <a:buClr>
                <a:schemeClr val="dk1"/>
              </a:buClr>
              <a:buSzPts val="2400"/>
              <a:buFont typeface="Tahoma"/>
              <a:buChar char="–"/>
            </a:pPr>
            <a:r>
              <a:rPr lang="en-US" sz="2400"/>
              <a:t>Steering committee</a:t>
            </a:r>
            <a:endParaRPr sz="2400"/>
          </a:p>
          <a:p>
            <a:pPr indent="-139700" lvl="0" marL="342900" rtl="0" algn="l">
              <a:lnSpc>
                <a:spcPct val="90000"/>
              </a:lnSpc>
              <a:spcBef>
                <a:spcPts val="640"/>
              </a:spcBef>
              <a:spcAft>
                <a:spcPts val="0"/>
              </a:spcAft>
              <a:buClr>
                <a:schemeClr val="dk1"/>
              </a:buClr>
              <a:buSzPts val="3200"/>
              <a:buFont typeface="Tahoma"/>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3"/>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90" name="Google Shape;390;p33"/>
          <p:cNvSpPr txBox="1"/>
          <p:nvPr>
            <p:ph type="title"/>
          </p:nvPr>
        </p:nvSpPr>
        <p:spPr>
          <a:xfrm>
            <a:off x="611188" y="26035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Objectives</a:t>
            </a:r>
            <a:endParaRPr u="sng"/>
          </a:p>
        </p:txBody>
      </p:sp>
      <p:sp>
        <p:nvSpPr>
          <p:cNvPr id="391" name="Google Shape;391;p33"/>
          <p:cNvSpPr txBox="1"/>
          <p:nvPr>
            <p:ph idx="1" type="body"/>
          </p:nvPr>
        </p:nvSpPr>
        <p:spPr>
          <a:xfrm>
            <a:off x="684213" y="1412875"/>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Tahoma"/>
              <a:buNone/>
            </a:pPr>
            <a:r>
              <a:rPr i="1" lang="en-US" sz="2800"/>
              <a:t>Informally</a:t>
            </a:r>
            <a:r>
              <a:rPr lang="en-US" sz="2800"/>
              <a:t>, the objective of a project can be defined by completing the statement:</a:t>
            </a:r>
            <a:endParaRPr sz="2800"/>
          </a:p>
          <a:p>
            <a:pPr indent="-342900" lvl="0" marL="342900" rtl="0" algn="l">
              <a:spcBef>
                <a:spcPts val="240"/>
              </a:spcBef>
              <a:spcAft>
                <a:spcPts val="0"/>
              </a:spcAft>
              <a:buClr>
                <a:schemeClr val="dk1"/>
              </a:buClr>
              <a:buSzPts val="1200"/>
              <a:buFont typeface="Tahoma"/>
              <a:buNone/>
            </a:pPr>
            <a:r>
              <a:t/>
            </a:r>
            <a:endParaRPr sz="1200"/>
          </a:p>
          <a:p>
            <a:pPr indent="-342900" lvl="0" marL="342900" rtl="0" algn="l">
              <a:spcBef>
                <a:spcPts val="640"/>
              </a:spcBef>
              <a:spcAft>
                <a:spcPts val="0"/>
              </a:spcAft>
              <a:buClr>
                <a:schemeClr val="dk1"/>
              </a:buClr>
              <a:buSzPts val="3200"/>
              <a:buFont typeface="Tahoma"/>
              <a:buNone/>
            </a:pPr>
            <a:r>
              <a:rPr lang="en-US"/>
              <a:t>	</a:t>
            </a:r>
            <a:r>
              <a:rPr b="1" i="1" lang="en-US" sz="2800"/>
              <a:t>The project will be regarded as a success if………………………………..</a:t>
            </a:r>
            <a:endParaRPr b="1" i="1" sz="2800"/>
          </a:p>
          <a:p>
            <a:pPr indent="-342900" lvl="0" marL="342900" rtl="0" algn="l">
              <a:spcBef>
                <a:spcPts val="240"/>
              </a:spcBef>
              <a:spcAft>
                <a:spcPts val="0"/>
              </a:spcAft>
              <a:buClr>
                <a:schemeClr val="dk1"/>
              </a:buClr>
              <a:buSzPts val="1200"/>
              <a:buFont typeface="Tahoma"/>
              <a:buNone/>
            </a:pPr>
            <a:r>
              <a:t/>
            </a:r>
            <a:endParaRPr b="1" i="1" sz="1200"/>
          </a:p>
          <a:p>
            <a:pPr indent="-342900" lvl="0" marL="342900" rtl="0" algn="l">
              <a:spcBef>
                <a:spcPts val="640"/>
              </a:spcBef>
              <a:spcAft>
                <a:spcPts val="0"/>
              </a:spcAft>
              <a:buClr>
                <a:schemeClr val="dk1"/>
              </a:buClr>
              <a:buSzPts val="3200"/>
              <a:buFont typeface="Tahoma"/>
              <a:buNone/>
            </a:pPr>
            <a:r>
              <a:rPr lang="en-US"/>
              <a:t>	</a:t>
            </a:r>
            <a:r>
              <a:rPr lang="en-US" sz="2800"/>
              <a:t>Rather like </a:t>
            </a:r>
            <a:r>
              <a:rPr i="1" lang="en-US" sz="2800"/>
              <a:t>post-conditions</a:t>
            </a:r>
            <a:r>
              <a:rPr lang="en-US" sz="2800"/>
              <a:t> for the project</a:t>
            </a:r>
            <a:endParaRPr sz="2800"/>
          </a:p>
          <a:p>
            <a:pPr indent="-342900" lvl="0" marL="342900" rtl="0" algn="l">
              <a:spcBef>
                <a:spcPts val="560"/>
              </a:spcBef>
              <a:spcAft>
                <a:spcPts val="0"/>
              </a:spcAft>
              <a:buClr>
                <a:schemeClr val="dk1"/>
              </a:buClr>
              <a:buSzPts val="2800"/>
              <a:buFont typeface="Tahoma"/>
              <a:buNone/>
            </a:pPr>
            <a:r>
              <a:t/>
            </a:r>
            <a:endParaRPr sz="2800"/>
          </a:p>
          <a:p>
            <a:pPr indent="-342900" lvl="0" marL="342900" rtl="0" algn="l">
              <a:spcBef>
                <a:spcPts val="180"/>
              </a:spcBef>
              <a:spcAft>
                <a:spcPts val="0"/>
              </a:spcAft>
              <a:buClr>
                <a:schemeClr val="dk1"/>
              </a:buClr>
              <a:buSzPts val="900"/>
              <a:buFont typeface="Tahoma"/>
              <a:buNone/>
            </a:pPr>
            <a:r>
              <a:t/>
            </a:r>
            <a:endParaRPr sz="900"/>
          </a:p>
          <a:p>
            <a:pPr indent="-342900" lvl="0" marL="342900" rtl="0" algn="l">
              <a:spcBef>
                <a:spcPts val="560"/>
              </a:spcBef>
              <a:spcAft>
                <a:spcPts val="0"/>
              </a:spcAft>
              <a:buClr>
                <a:schemeClr val="dk1"/>
              </a:buClr>
              <a:buSzPts val="2800"/>
              <a:buFont typeface="Tahoma"/>
              <a:buNone/>
            </a:pPr>
            <a:r>
              <a:rPr lang="en-US" sz="2800"/>
              <a:t>Focus on </a:t>
            </a:r>
            <a:r>
              <a:rPr i="1" lang="en-US" sz="2800"/>
              <a:t>what</a:t>
            </a:r>
            <a:r>
              <a:rPr lang="en-US" sz="2800"/>
              <a:t> will be put in place, rather than </a:t>
            </a:r>
            <a:r>
              <a:rPr i="1" lang="en-US" sz="2800"/>
              <a:t>how </a:t>
            </a:r>
            <a:r>
              <a:rPr lang="en-US" sz="2800"/>
              <a:t>activities will be carried out</a:t>
            </a:r>
            <a:endParaRPr sz="2800"/>
          </a:p>
          <a:p>
            <a:pPr indent="-342900" lvl="0" marL="342900" rtl="0" algn="l">
              <a:spcBef>
                <a:spcPts val="560"/>
              </a:spcBef>
              <a:spcAft>
                <a:spcPts val="0"/>
              </a:spcAft>
              <a:buClr>
                <a:schemeClr val="dk1"/>
              </a:buClr>
              <a:buSzPts val="2800"/>
              <a:buFont typeface="Tahoma"/>
              <a:buNone/>
            </a:pPr>
            <a:r>
              <a:t/>
            </a:r>
            <a:endParaRPr sz="2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4"/>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398" name="Google Shape;398;p34"/>
          <p:cNvSpPr txBox="1"/>
          <p:nvPr>
            <p:ph type="title"/>
          </p:nvPr>
        </p:nvSpPr>
        <p:spPr>
          <a:xfrm>
            <a:off x="684213" y="18891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Objectives should be SMART</a:t>
            </a:r>
            <a:endParaRPr u="sng"/>
          </a:p>
        </p:txBody>
      </p:sp>
      <p:sp>
        <p:nvSpPr>
          <p:cNvPr id="399" name="Google Shape;399;p34"/>
          <p:cNvSpPr txBox="1"/>
          <p:nvPr>
            <p:ph idx="1" type="body"/>
          </p:nvPr>
        </p:nvSpPr>
        <p:spPr>
          <a:xfrm>
            <a:off x="684213" y="1557338"/>
            <a:ext cx="7772400" cy="48244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Tahoma"/>
              <a:buNone/>
            </a:pPr>
            <a:r>
              <a:rPr b="1" lang="en-US" sz="2800"/>
              <a:t>S</a:t>
            </a:r>
            <a:r>
              <a:rPr lang="en-US" sz="2800"/>
              <a:t> – 	</a:t>
            </a:r>
            <a:r>
              <a:rPr lang="en-US" sz="2400"/>
              <a:t>specific, that is, concrete and well-defined</a:t>
            </a:r>
            <a:endParaRPr sz="2400"/>
          </a:p>
          <a:p>
            <a:pPr indent="-342900" lvl="0" marL="342900" rtl="0" algn="l">
              <a:spcBef>
                <a:spcPts val="160"/>
              </a:spcBef>
              <a:spcAft>
                <a:spcPts val="0"/>
              </a:spcAft>
              <a:buClr>
                <a:schemeClr val="dk1"/>
              </a:buClr>
              <a:buSzPts val="800"/>
              <a:buFont typeface="Tahoma"/>
              <a:buNone/>
            </a:pPr>
            <a:r>
              <a:t/>
            </a:r>
            <a:endParaRPr sz="800"/>
          </a:p>
          <a:p>
            <a:pPr indent="-342900" lvl="0" marL="342900" rtl="0" algn="l">
              <a:spcBef>
                <a:spcPts val="560"/>
              </a:spcBef>
              <a:spcAft>
                <a:spcPts val="0"/>
              </a:spcAft>
              <a:buClr>
                <a:schemeClr val="dk1"/>
              </a:buClr>
              <a:buSzPts val="2800"/>
              <a:buFont typeface="Tahoma"/>
              <a:buNone/>
            </a:pPr>
            <a:r>
              <a:rPr b="1" lang="en-US" sz="2800"/>
              <a:t>M</a:t>
            </a:r>
            <a:r>
              <a:rPr lang="en-US" sz="2800"/>
              <a:t> – 	</a:t>
            </a:r>
            <a:r>
              <a:rPr lang="en-US" sz="2400"/>
              <a:t>measurable, that is, satisfaction of the   	objective can be objectively judged</a:t>
            </a:r>
            <a:endParaRPr sz="2400"/>
          </a:p>
          <a:p>
            <a:pPr indent="-342900" lvl="0" marL="342900" rtl="0" algn="l">
              <a:spcBef>
                <a:spcPts val="160"/>
              </a:spcBef>
              <a:spcAft>
                <a:spcPts val="0"/>
              </a:spcAft>
              <a:buClr>
                <a:schemeClr val="dk1"/>
              </a:buClr>
              <a:buSzPts val="800"/>
              <a:buFont typeface="Tahoma"/>
              <a:buNone/>
            </a:pPr>
            <a:r>
              <a:t/>
            </a:r>
            <a:endParaRPr sz="800"/>
          </a:p>
          <a:p>
            <a:pPr indent="-342900" lvl="0" marL="342900" rtl="0" algn="l">
              <a:spcBef>
                <a:spcPts val="560"/>
              </a:spcBef>
              <a:spcAft>
                <a:spcPts val="0"/>
              </a:spcAft>
              <a:buClr>
                <a:schemeClr val="dk1"/>
              </a:buClr>
              <a:buSzPts val="2800"/>
              <a:buFont typeface="Tahoma"/>
              <a:buNone/>
            </a:pPr>
            <a:r>
              <a:rPr b="1" lang="en-US" sz="2800"/>
              <a:t>A</a:t>
            </a:r>
            <a:r>
              <a:rPr lang="en-US" sz="2800"/>
              <a:t> – 	</a:t>
            </a:r>
            <a:r>
              <a:rPr lang="en-US" sz="2400"/>
              <a:t>achievable, that is, it is within the power of the 	individual or group concerned to meet the target</a:t>
            </a:r>
            <a:endParaRPr sz="2400"/>
          </a:p>
          <a:p>
            <a:pPr indent="-342900" lvl="0" marL="342900" rtl="0" algn="l">
              <a:spcBef>
                <a:spcPts val="160"/>
              </a:spcBef>
              <a:spcAft>
                <a:spcPts val="0"/>
              </a:spcAft>
              <a:buClr>
                <a:schemeClr val="dk1"/>
              </a:buClr>
              <a:buSzPts val="800"/>
              <a:buFont typeface="Tahoma"/>
              <a:buNone/>
            </a:pPr>
            <a:r>
              <a:t/>
            </a:r>
            <a:endParaRPr sz="800"/>
          </a:p>
          <a:p>
            <a:pPr indent="-342900" lvl="0" marL="342900" rtl="0" algn="l">
              <a:spcBef>
                <a:spcPts val="560"/>
              </a:spcBef>
              <a:spcAft>
                <a:spcPts val="0"/>
              </a:spcAft>
              <a:buClr>
                <a:schemeClr val="dk1"/>
              </a:buClr>
              <a:buSzPts val="2800"/>
              <a:buFont typeface="Tahoma"/>
              <a:buNone/>
            </a:pPr>
            <a:r>
              <a:rPr b="1" lang="en-US" sz="2800"/>
              <a:t>R</a:t>
            </a:r>
            <a:r>
              <a:rPr lang="en-US" sz="2800"/>
              <a:t> – 	</a:t>
            </a:r>
            <a:r>
              <a:rPr lang="en-US" sz="2400"/>
              <a:t>relevant, the objective must relevant to 	the true 	purpose of the project</a:t>
            </a:r>
            <a:endParaRPr sz="2400"/>
          </a:p>
          <a:p>
            <a:pPr indent="-342900" lvl="0" marL="342900" rtl="0" algn="l">
              <a:spcBef>
                <a:spcPts val="160"/>
              </a:spcBef>
              <a:spcAft>
                <a:spcPts val="0"/>
              </a:spcAft>
              <a:buClr>
                <a:schemeClr val="dk1"/>
              </a:buClr>
              <a:buSzPts val="800"/>
              <a:buFont typeface="Tahoma"/>
              <a:buNone/>
            </a:pPr>
            <a:r>
              <a:t/>
            </a:r>
            <a:endParaRPr sz="800"/>
          </a:p>
          <a:p>
            <a:pPr indent="-342900" lvl="0" marL="342900" rtl="0" algn="l">
              <a:spcBef>
                <a:spcPts val="560"/>
              </a:spcBef>
              <a:spcAft>
                <a:spcPts val="0"/>
              </a:spcAft>
              <a:buClr>
                <a:schemeClr val="dk1"/>
              </a:buClr>
              <a:buSzPts val="2800"/>
              <a:buFont typeface="Tahoma"/>
              <a:buNone/>
            </a:pPr>
            <a:r>
              <a:rPr b="1" lang="en-US" sz="2800"/>
              <a:t>T</a:t>
            </a:r>
            <a:r>
              <a:rPr lang="en-US" sz="2800"/>
              <a:t> – 	</a:t>
            </a:r>
            <a:r>
              <a:rPr lang="en-US" sz="2400"/>
              <a:t>time constrained: there is defined point in 	time by which the objective should be achieved</a:t>
            </a:r>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5"/>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406" name="Google Shape;406;p35"/>
          <p:cNvSpPr txBox="1"/>
          <p:nvPr>
            <p:ph type="title"/>
          </p:nvPr>
        </p:nvSpPr>
        <p:spPr>
          <a:xfrm>
            <a:off x="684213" y="18891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Goals/sub-objectives</a:t>
            </a:r>
            <a:endParaRPr u="sng"/>
          </a:p>
        </p:txBody>
      </p:sp>
      <p:sp>
        <p:nvSpPr>
          <p:cNvPr id="407" name="Google Shape;407;p35"/>
          <p:cNvSpPr txBox="1"/>
          <p:nvPr>
            <p:ph idx="1" type="body"/>
          </p:nvPr>
        </p:nvSpPr>
        <p:spPr>
          <a:xfrm>
            <a:off x="685800" y="1412875"/>
            <a:ext cx="7772400" cy="46831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Tahoma"/>
              <a:buNone/>
            </a:pPr>
            <a:r>
              <a:rPr lang="en-US" sz="2800"/>
              <a:t>	These are steps along the way to achieving the objective. Informally, these can be defined by completing the sentence…</a:t>
            </a:r>
            <a:endParaRPr sz="2800"/>
          </a:p>
          <a:p>
            <a:pPr indent="-342900" lvl="0" marL="342900" rtl="0" algn="l">
              <a:spcBef>
                <a:spcPts val="560"/>
              </a:spcBef>
              <a:spcAft>
                <a:spcPts val="0"/>
              </a:spcAft>
              <a:buClr>
                <a:schemeClr val="dk1"/>
              </a:buClr>
              <a:buSzPts val="2800"/>
              <a:buFont typeface="Tahoma"/>
              <a:buNone/>
            </a:pPr>
            <a:r>
              <a:t/>
            </a:r>
            <a:endParaRPr sz="2800"/>
          </a:p>
          <a:p>
            <a:pPr indent="-342900" lvl="0" marL="342900" rtl="0" algn="ctr">
              <a:spcBef>
                <a:spcPts val="480"/>
              </a:spcBef>
              <a:spcAft>
                <a:spcPts val="0"/>
              </a:spcAft>
              <a:buClr>
                <a:schemeClr val="dk1"/>
              </a:buClr>
              <a:buSzPts val="2400"/>
              <a:buFont typeface="Tahoma"/>
              <a:buNone/>
            </a:pPr>
            <a:r>
              <a:rPr b="1" lang="en-US" sz="2400"/>
              <a:t>Objective X will be achieved </a:t>
            </a:r>
            <a:endParaRPr b="1" sz="2400"/>
          </a:p>
          <a:p>
            <a:pPr indent="-342900" lvl="0" marL="342900" rtl="0" algn="ctr">
              <a:spcBef>
                <a:spcPts val="480"/>
              </a:spcBef>
              <a:spcAft>
                <a:spcPts val="0"/>
              </a:spcAft>
              <a:buClr>
                <a:schemeClr val="dk1"/>
              </a:buClr>
              <a:buSzPts val="2400"/>
              <a:buFont typeface="Tahoma"/>
              <a:buNone/>
            </a:pPr>
            <a:r>
              <a:rPr b="1" lang="en-US" sz="2400"/>
              <a:t>IF the following goals are all achieved</a:t>
            </a:r>
            <a:endParaRPr b="1" sz="2400"/>
          </a:p>
          <a:p>
            <a:pPr indent="-342900" lvl="0" marL="342900" rtl="0" algn="ctr">
              <a:spcBef>
                <a:spcPts val="480"/>
              </a:spcBef>
              <a:spcAft>
                <a:spcPts val="0"/>
              </a:spcAft>
              <a:buClr>
                <a:schemeClr val="dk1"/>
              </a:buClr>
              <a:buSzPts val="2400"/>
              <a:buFont typeface="Tahoma"/>
              <a:buNone/>
            </a:pPr>
            <a:r>
              <a:rPr b="1" lang="en-US" sz="2400"/>
              <a:t>A……………</a:t>
            </a:r>
            <a:endParaRPr b="1" sz="2400"/>
          </a:p>
          <a:p>
            <a:pPr indent="-342900" lvl="0" marL="342900" rtl="0" algn="ctr">
              <a:spcBef>
                <a:spcPts val="480"/>
              </a:spcBef>
              <a:spcAft>
                <a:spcPts val="0"/>
              </a:spcAft>
              <a:buClr>
                <a:schemeClr val="dk1"/>
              </a:buClr>
              <a:buSzPts val="2400"/>
              <a:buFont typeface="Tahoma"/>
              <a:buNone/>
            </a:pPr>
            <a:r>
              <a:rPr b="1" lang="en-US" sz="2400"/>
              <a:t>B……………</a:t>
            </a:r>
            <a:endParaRPr b="1" sz="2400"/>
          </a:p>
          <a:p>
            <a:pPr indent="-342900" lvl="0" marL="342900" rtl="0" algn="ctr">
              <a:spcBef>
                <a:spcPts val="480"/>
              </a:spcBef>
              <a:spcAft>
                <a:spcPts val="0"/>
              </a:spcAft>
              <a:buClr>
                <a:schemeClr val="dk1"/>
              </a:buClr>
              <a:buSzPts val="2400"/>
              <a:buFont typeface="Tahoma"/>
              <a:buNone/>
            </a:pPr>
            <a:r>
              <a:rPr b="1" lang="en-US" sz="2400"/>
              <a:t>	  C…………… etc</a:t>
            </a:r>
            <a:endParaRPr b="1"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6"/>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414" name="Google Shape;414;p36"/>
          <p:cNvSpPr txBox="1"/>
          <p:nvPr>
            <p:ph type="title"/>
          </p:nvPr>
        </p:nvSpPr>
        <p:spPr>
          <a:xfrm>
            <a:off x="539750" y="0"/>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Goals/sub-objectives continued</a:t>
            </a:r>
            <a:endParaRPr u="sng"/>
          </a:p>
        </p:txBody>
      </p:sp>
      <p:sp>
        <p:nvSpPr>
          <p:cNvPr id="415" name="Google Shape;415;p36"/>
          <p:cNvSpPr txBox="1"/>
          <p:nvPr>
            <p:ph idx="1" type="body"/>
          </p:nvPr>
        </p:nvSpPr>
        <p:spPr>
          <a:xfrm>
            <a:off x="468313" y="1412875"/>
            <a:ext cx="8229600" cy="43497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Tahoma"/>
              <a:buNone/>
            </a:pPr>
            <a:r>
              <a:rPr lang="en-US"/>
              <a:t>  </a:t>
            </a:r>
            <a:r>
              <a:rPr lang="en-US" sz="2800"/>
              <a:t>Often a goal can be allocated to an individual.</a:t>
            </a:r>
            <a:endParaRPr sz="2800"/>
          </a:p>
          <a:p>
            <a:pPr indent="-342900" lvl="0" marL="342900" rtl="0" algn="l">
              <a:spcBef>
                <a:spcPts val="560"/>
              </a:spcBef>
              <a:spcAft>
                <a:spcPts val="0"/>
              </a:spcAft>
              <a:buClr>
                <a:schemeClr val="dk1"/>
              </a:buClr>
              <a:buSzPts val="2800"/>
              <a:buFont typeface="Tahoma"/>
              <a:buNone/>
            </a:pPr>
            <a:r>
              <a:rPr lang="en-US" sz="2800"/>
              <a:t>  Individual may have the capability of achieving goal, but not the objective on their own e.g.</a:t>
            </a:r>
            <a:r>
              <a:rPr i="1" lang="en-US" sz="2800"/>
              <a:t> </a:t>
            </a:r>
            <a:endParaRPr i="1" sz="2800"/>
          </a:p>
          <a:p>
            <a:pPr indent="-342900" lvl="0" marL="342900" rtl="0" algn="l">
              <a:spcBef>
                <a:spcPts val="360"/>
              </a:spcBef>
              <a:spcAft>
                <a:spcPts val="0"/>
              </a:spcAft>
              <a:buClr>
                <a:schemeClr val="dk1"/>
              </a:buClr>
              <a:buSzPts val="1800"/>
              <a:buFont typeface="Tahoma"/>
              <a:buNone/>
            </a:pPr>
            <a:r>
              <a:t/>
            </a:r>
            <a:endParaRPr i="1" sz="1800"/>
          </a:p>
          <a:p>
            <a:pPr indent="-342900" lvl="0" marL="342900" rtl="0" algn="l">
              <a:spcBef>
                <a:spcPts val="160"/>
              </a:spcBef>
              <a:spcAft>
                <a:spcPts val="0"/>
              </a:spcAft>
              <a:buClr>
                <a:schemeClr val="dk1"/>
              </a:buClr>
              <a:buSzPts val="800"/>
              <a:buFont typeface="Tahoma"/>
              <a:buNone/>
            </a:pPr>
            <a:r>
              <a:t/>
            </a:r>
            <a:endParaRPr i="1" sz="800"/>
          </a:p>
          <a:p>
            <a:pPr indent="-342900" lvl="0" marL="342900" rtl="0" algn="l">
              <a:spcBef>
                <a:spcPts val="560"/>
              </a:spcBef>
              <a:spcAft>
                <a:spcPts val="0"/>
              </a:spcAft>
              <a:buClr>
                <a:schemeClr val="dk1"/>
              </a:buClr>
              <a:buSzPts val="2800"/>
              <a:buFont typeface="Tahoma"/>
              <a:buNone/>
            </a:pPr>
            <a:r>
              <a:rPr i="1" lang="en-US" sz="2800"/>
              <a:t>Objective – </a:t>
            </a:r>
            <a:r>
              <a:rPr lang="en-US" sz="2800"/>
              <a:t>user satisfaction with software product</a:t>
            </a:r>
            <a:endParaRPr sz="2800"/>
          </a:p>
          <a:p>
            <a:pPr indent="-342900" lvl="0" marL="342900" rtl="0" algn="l">
              <a:spcBef>
                <a:spcPts val="280"/>
              </a:spcBef>
              <a:spcAft>
                <a:spcPts val="0"/>
              </a:spcAft>
              <a:buClr>
                <a:schemeClr val="dk1"/>
              </a:buClr>
              <a:buSzPts val="1400"/>
              <a:buFont typeface="Tahoma"/>
              <a:buNone/>
            </a:pPr>
            <a:r>
              <a:t/>
            </a:r>
            <a:endParaRPr sz="1400"/>
          </a:p>
          <a:p>
            <a:pPr indent="-342900" lvl="0" marL="342900" rtl="0" algn="l">
              <a:spcBef>
                <a:spcPts val="560"/>
              </a:spcBef>
              <a:spcAft>
                <a:spcPts val="0"/>
              </a:spcAft>
              <a:buClr>
                <a:schemeClr val="dk1"/>
              </a:buClr>
              <a:buSzPts val="2800"/>
              <a:buFont typeface="Tahoma"/>
              <a:buNone/>
            </a:pPr>
            <a:r>
              <a:rPr i="1" lang="en-US" sz="2800"/>
              <a:t>Analyst goal</a:t>
            </a:r>
            <a:r>
              <a:rPr lang="en-US" sz="2800"/>
              <a:t> – accurate requirements </a:t>
            </a:r>
            <a:endParaRPr sz="2800"/>
          </a:p>
          <a:p>
            <a:pPr indent="-342900" lvl="0" marL="342900" rtl="0" algn="l">
              <a:spcBef>
                <a:spcPts val="280"/>
              </a:spcBef>
              <a:spcAft>
                <a:spcPts val="0"/>
              </a:spcAft>
              <a:buClr>
                <a:schemeClr val="dk1"/>
              </a:buClr>
              <a:buSzPts val="1400"/>
              <a:buFont typeface="Tahoma"/>
              <a:buNone/>
            </a:pPr>
            <a:r>
              <a:t/>
            </a:r>
            <a:endParaRPr sz="1400"/>
          </a:p>
          <a:p>
            <a:pPr indent="-342900" lvl="0" marL="342900" rtl="0" algn="l">
              <a:spcBef>
                <a:spcPts val="560"/>
              </a:spcBef>
              <a:spcAft>
                <a:spcPts val="0"/>
              </a:spcAft>
              <a:buClr>
                <a:schemeClr val="dk1"/>
              </a:buClr>
              <a:buSzPts val="2800"/>
              <a:buFont typeface="Tahoma"/>
              <a:buNone/>
            </a:pPr>
            <a:r>
              <a:rPr i="1" lang="en-US" sz="2800"/>
              <a:t>Developer goal</a:t>
            </a:r>
            <a:r>
              <a:rPr lang="en-US" sz="2800"/>
              <a:t> – software that is reliable</a:t>
            </a:r>
            <a:endParaRPr i="1" sz="2800"/>
          </a:p>
        </p:txBody>
      </p:sp>
      <p:sp>
        <p:nvSpPr>
          <p:cNvPr id="416" name="Google Shape;416;p36"/>
          <p:cNvSpPr/>
          <p:nvPr/>
        </p:nvSpPr>
        <p:spPr>
          <a:xfrm>
            <a:off x="0" y="4221163"/>
            <a:ext cx="7294563"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0"/>
              <a:buFont typeface="Tahoma"/>
              <a:buNone/>
            </a:pPr>
            <a:r>
              <a:t/>
            </a:r>
            <a:endParaRPr b="0" i="0" sz="4000" u="none" cap="none" strike="noStrike">
              <a:solidFill>
                <a:schemeClr val="dk1"/>
              </a:solidFill>
              <a:latin typeface="Tahoma"/>
              <a:ea typeface="Tahoma"/>
              <a:cs typeface="Tahoma"/>
              <a:sym typeface="Tahom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7"/>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423" name="Google Shape;423;p37"/>
          <p:cNvSpPr txBox="1"/>
          <p:nvPr>
            <p:ph type="title"/>
          </p:nvPr>
        </p:nvSpPr>
        <p:spPr>
          <a:xfrm>
            <a:off x="684213" y="26035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Measures of effectiveness</a:t>
            </a:r>
            <a:endParaRPr u="sng"/>
          </a:p>
        </p:txBody>
      </p:sp>
      <p:sp>
        <p:nvSpPr>
          <p:cNvPr id="424" name="Google Shape;424;p37"/>
          <p:cNvSpPr txBox="1"/>
          <p:nvPr>
            <p:ph idx="1" type="body"/>
          </p:nvPr>
        </p:nvSpPr>
        <p:spPr>
          <a:xfrm>
            <a:off x="323850" y="1557338"/>
            <a:ext cx="8569325" cy="45386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Tahoma"/>
              <a:buNone/>
            </a:pPr>
            <a:r>
              <a:rPr lang="en-US"/>
              <a:t>  	</a:t>
            </a:r>
            <a:r>
              <a:rPr lang="en-US" sz="2800"/>
              <a:t>How do we know that the goal or objective has been achieved?</a:t>
            </a:r>
            <a:endParaRPr sz="2800"/>
          </a:p>
          <a:p>
            <a:pPr indent="-342900" lvl="0" marL="342900" rtl="0" algn="l">
              <a:lnSpc>
                <a:spcPct val="90000"/>
              </a:lnSpc>
              <a:spcBef>
                <a:spcPts val="560"/>
              </a:spcBef>
              <a:spcAft>
                <a:spcPts val="0"/>
              </a:spcAft>
              <a:buClr>
                <a:schemeClr val="dk1"/>
              </a:buClr>
              <a:buSzPts val="2800"/>
              <a:buFont typeface="Tahoma"/>
              <a:buNone/>
            </a:pPr>
            <a:r>
              <a:rPr lang="en-US" sz="2800"/>
              <a:t>	By a practical test, that can be objectively assessed.</a:t>
            </a:r>
            <a:endParaRPr sz="2800"/>
          </a:p>
          <a:p>
            <a:pPr indent="-342900" lvl="0" marL="342900" rtl="0" algn="l">
              <a:lnSpc>
                <a:spcPct val="90000"/>
              </a:lnSpc>
              <a:spcBef>
                <a:spcPts val="560"/>
              </a:spcBef>
              <a:spcAft>
                <a:spcPts val="0"/>
              </a:spcAft>
              <a:buClr>
                <a:schemeClr val="dk1"/>
              </a:buClr>
              <a:buSzPts val="2800"/>
              <a:buFont typeface="Tahoma"/>
              <a:buNone/>
            </a:pPr>
            <a:r>
              <a:t/>
            </a:r>
            <a:endParaRPr sz="2800"/>
          </a:p>
          <a:p>
            <a:pPr indent="-342900" lvl="0" marL="342900" rtl="0" algn="l">
              <a:lnSpc>
                <a:spcPct val="90000"/>
              </a:lnSpc>
              <a:spcBef>
                <a:spcPts val="560"/>
              </a:spcBef>
              <a:spcAft>
                <a:spcPts val="0"/>
              </a:spcAft>
              <a:buClr>
                <a:schemeClr val="dk1"/>
              </a:buClr>
              <a:buSzPts val="2800"/>
              <a:buFont typeface="Tahoma"/>
              <a:buNone/>
            </a:pPr>
            <a:r>
              <a:rPr lang="en-US" sz="2800"/>
              <a:t>e.g. for user satisfaction with software product:</a:t>
            </a:r>
            <a:endParaRPr sz="2800"/>
          </a:p>
          <a:p>
            <a:pPr indent="-342900" lvl="0" marL="342900" rtl="0" algn="l">
              <a:lnSpc>
                <a:spcPct val="90000"/>
              </a:lnSpc>
              <a:spcBef>
                <a:spcPts val="180"/>
              </a:spcBef>
              <a:spcAft>
                <a:spcPts val="0"/>
              </a:spcAft>
              <a:buClr>
                <a:schemeClr val="dk1"/>
              </a:buClr>
              <a:buSzPts val="900"/>
              <a:buFont typeface="Tahoma"/>
              <a:buNone/>
            </a:pPr>
            <a:r>
              <a:t/>
            </a:r>
            <a:endParaRPr sz="900"/>
          </a:p>
          <a:p>
            <a:pPr indent="-342900" lvl="0" marL="342900" rtl="0" algn="l">
              <a:lnSpc>
                <a:spcPct val="90000"/>
              </a:lnSpc>
              <a:spcBef>
                <a:spcPts val="560"/>
              </a:spcBef>
              <a:spcAft>
                <a:spcPts val="0"/>
              </a:spcAft>
              <a:buClr>
                <a:schemeClr val="dk1"/>
              </a:buClr>
              <a:buSzPts val="2800"/>
              <a:buFont typeface="Tahoma"/>
              <a:buChar char="•"/>
            </a:pPr>
            <a:r>
              <a:rPr lang="en-US" sz="2800"/>
              <a:t>Repeat business – they buy further products from us</a:t>
            </a:r>
            <a:endParaRPr sz="2800"/>
          </a:p>
          <a:p>
            <a:pPr indent="-342900" lvl="0" marL="342900" rtl="0" algn="l">
              <a:lnSpc>
                <a:spcPct val="90000"/>
              </a:lnSpc>
              <a:spcBef>
                <a:spcPts val="180"/>
              </a:spcBef>
              <a:spcAft>
                <a:spcPts val="0"/>
              </a:spcAft>
              <a:buClr>
                <a:schemeClr val="dk1"/>
              </a:buClr>
              <a:buSzPts val="900"/>
              <a:buFont typeface="Tahoma"/>
              <a:buNone/>
            </a:pPr>
            <a:r>
              <a:t/>
            </a:r>
            <a:endParaRPr sz="900"/>
          </a:p>
          <a:p>
            <a:pPr indent="-342900" lvl="0" marL="342900" rtl="0" algn="l">
              <a:lnSpc>
                <a:spcPct val="90000"/>
              </a:lnSpc>
              <a:spcBef>
                <a:spcPts val="560"/>
              </a:spcBef>
              <a:spcAft>
                <a:spcPts val="0"/>
              </a:spcAft>
              <a:buClr>
                <a:schemeClr val="dk1"/>
              </a:buClr>
              <a:buSzPts val="2800"/>
              <a:buFont typeface="Tahoma"/>
              <a:buChar char="•"/>
            </a:pPr>
            <a:r>
              <a:rPr lang="en-US" sz="2800"/>
              <a:t>Number of complaints – if low etc etc</a:t>
            </a:r>
            <a:endParaRPr sz="2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431" name="Google Shape;431;p38"/>
          <p:cNvSpPr txBox="1"/>
          <p:nvPr>
            <p:ph type="title"/>
          </p:nvPr>
        </p:nvSpPr>
        <p:spPr>
          <a:xfrm>
            <a:off x="684213" y="26035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Stakeholders</a:t>
            </a:r>
            <a:endParaRPr u="sng"/>
          </a:p>
        </p:txBody>
      </p:sp>
      <p:sp>
        <p:nvSpPr>
          <p:cNvPr id="432" name="Google Shape;432;p38"/>
          <p:cNvSpPr txBox="1"/>
          <p:nvPr>
            <p:ph idx="1" type="body"/>
          </p:nvPr>
        </p:nvSpPr>
        <p:spPr>
          <a:xfrm>
            <a:off x="684213" y="1341438"/>
            <a:ext cx="7772400" cy="461168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Tahoma"/>
              <a:buNone/>
            </a:pPr>
            <a:r>
              <a:rPr lang="en-US" sz="2800"/>
              <a:t>	These are people who have a stake or interest in the project</a:t>
            </a:r>
            <a:endParaRPr sz="2800"/>
          </a:p>
          <a:p>
            <a:pPr indent="-342900" lvl="0" marL="342900" rtl="0" algn="l">
              <a:lnSpc>
                <a:spcPct val="90000"/>
              </a:lnSpc>
              <a:spcBef>
                <a:spcPts val="560"/>
              </a:spcBef>
              <a:spcAft>
                <a:spcPts val="0"/>
              </a:spcAft>
              <a:buClr>
                <a:schemeClr val="dk1"/>
              </a:buClr>
              <a:buSzPts val="2800"/>
              <a:buFont typeface="Tahoma"/>
              <a:buNone/>
            </a:pPr>
            <a:r>
              <a:rPr lang="en-US" sz="2800"/>
              <a:t>	In general, they could be </a:t>
            </a:r>
            <a:r>
              <a:rPr i="1" lang="en-US" sz="2800"/>
              <a:t>users/clients</a:t>
            </a:r>
            <a:r>
              <a:rPr lang="en-US" sz="2800"/>
              <a:t> or </a:t>
            </a:r>
            <a:r>
              <a:rPr i="1" lang="en-US" sz="2800"/>
              <a:t>developers/implementers</a:t>
            </a:r>
            <a:endParaRPr i="1" sz="2800"/>
          </a:p>
          <a:p>
            <a:pPr indent="-342900" lvl="0" marL="342900" rtl="0" algn="l">
              <a:lnSpc>
                <a:spcPct val="90000"/>
              </a:lnSpc>
              <a:spcBef>
                <a:spcPts val="560"/>
              </a:spcBef>
              <a:spcAft>
                <a:spcPts val="0"/>
              </a:spcAft>
              <a:buClr>
                <a:schemeClr val="dk1"/>
              </a:buClr>
              <a:buSzPts val="2800"/>
              <a:buFont typeface="Tahoma"/>
              <a:buNone/>
            </a:pPr>
            <a:r>
              <a:t/>
            </a:r>
            <a:endParaRPr i="1" sz="2800"/>
          </a:p>
          <a:p>
            <a:pPr indent="-342900" lvl="0" marL="342900" rtl="0" algn="l">
              <a:lnSpc>
                <a:spcPct val="90000"/>
              </a:lnSpc>
              <a:spcBef>
                <a:spcPts val="560"/>
              </a:spcBef>
              <a:spcAft>
                <a:spcPts val="0"/>
              </a:spcAft>
              <a:buClr>
                <a:schemeClr val="dk1"/>
              </a:buClr>
              <a:buSzPts val="2800"/>
              <a:buFont typeface="Tahoma"/>
              <a:buNone/>
            </a:pPr>
            <a:r>
              <a:rPr lang="en-US" sz="2800"/>
              <a:t>	They could be:</a:t>
            </a:r>
            <a:endParaRPr sz="2800"/>
          </a:p>
          <a:p>
            <a:pPr indent="-342900" lvl="0" marL="342900" rtl="0" algn="l">
              <a:lnSpc>
                <a:spcPct val="90000"/>
              </a:lnSpc>
              <a:spcBef>
                <a:spcPts val="560"/>
              </a:spcBef>
              <a:spcAft>
                <a:spcPts val="0"/>
              </a:spcAft>
              <a:buClr>
                <a:schemeClr val="dk1"/>
              </a:buClr>
              <a:buSzPts val="2800"/>
              <a:buFont typeface="Tahoma"/>
              <a:buChar char="•"/>
            </a:pPr>
            <a:r>
              <a:rPr lang="en-US" sz="2800"/>
              <a:t>Within the project team</a:t>
            </a:r>
            <a:endParaRPr sz="2800"/>
          </a:p>
          <a:p>
            <a:pPr indent="-342900" lvl="0" marL="342900" rtl="0" algn="l">
              <a:lnSpc>
                <a:spcPct val="90000"/>
              </a:lnSpc>
              <a:spcBef>
                <a:spcPts val="560"/>
              </a:spcBef>
              <a:spcAft>
                <a:spcPts val="0"/>
              </a:spcAft>
              <a:buClr>
                <a:schemeClr val="dk1"/>
              </a:buClr>
              <a:buSzPts val="2800"/>
              <a:buFont typeface="Tahoma"/>
              <a:buChar char="•"/>
            </a:pPr>
            <a:r>
              <a:rPr lang="en-US" sz="2800"/>
              <a:t>Outside the project team, but within the same organization</a:t>
            </a:r>
            <a:endParaRPr sz="2800"/>
          </a:p>
          <a:p>
            <a:pPr indent="-342900" lvl="0" marL="342900" rtl="0" algn="l">
              <a:lnSpc>
                <a:spcPct val="90000"/>
              </a:lnSpc>
              <a:spcBef>
                <a:spcPts val="560"/>
              </a:spcBef>
              <a:spcAft>
                <a:spcPts val="0"/>
              </a:spcAft>
              <a:buClr>
                <a:schemeClr val="dk1"/>
              </a:buClr>
              <a:buSzPts val="2800"/>
              <a:buFont typeface="Tahoma"/>
              <a:buChar char="•"/>
            </a:pPr>
            <a:r>
              <a:rPr lang="en-US" sz="2800"/>
              <a:t>Outside both the project team and the organization</a:t>
            </a:r>
            <a:endParaRPr sz="2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9"/>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439" name="Google Shape;439;p39"/>
          <p:cNvSpPr txBox="1"/>
          <p:nvPr>
            <p:ph type="title"/>
          </p:nvPr>
        </p:nvSpPr>
        <p:spPr>
          <a:xfrm>
            <a:off x="684213" y="26035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The business case</a:t>
            </a:r>
            <a:endParaRPr u="sng"/>
          </a:p>
        </p:txBody>
      </p:sp>
      <p:sp>
        <p:nvSpPr>
          <p:cNvPr id="440" name="Google Shape;440;p39"/>
          <p:cNvSpPr txBox="1"/>
          <p:nvPr>
            <p:ph idx="1" type="body"/>
          </p:nvPr>
        </p:nvSpPr>
        <p:spPr>
          <a:xfrm>
            <a:off x="4572000" y="1557338"/>
            <a:ext cx="4321175" cy="405923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Tahoma"/>
              <a:buNone/>
            </a:pPr>
            <a:r>
              <a:rPr lang="en-US"/>
              <a:t>  </a:t>
            </a:r>
            <a:r>
              <a:rPr lang="en-US" sz="2800"/>
              <a:t>Benefits of delivered project must outweigh costs</a:t>
            </a:r>
            <a:endParaRPr sz="2800"/>
          </a:p>
          <a:p>
            <a:pPr indent="-342900" lvl="0" marL="342900" rtl="0" algn="l">
              <a:lnSpc>
                <a:spcPct val="90000"/>
              </a:lnSpc>
              <a:spcBef>
                <a:spcPts val="180"/>
              </a:spcBef>
              <a:spcAft>
                <a:spcPts val="0"/>
              </a:spcAft>
              <a:buClr>
                <a:schemeClr val="dk1"/>
              </a:buClr>
              <a:buSzPts val="900"/>
              <a:buFont typeface="Tahoma"/>
              <a:buNone/>
            </a:pPr>
            <a:r>
              <a:t/>
            </a:r>
            <a:endParaRPr sz="900"/>
          </a:p>
          <a:p>
            <a:pPr indent="-342900" lvl="0" marL="342900" rtl="0" algn="l">
              <a:lnSpc>
                <a:spcPct val="90000"/>
              </a:lnSpc>
              <a:spcBef>
                <a:spcPts val="560"/>
              </a:spcBef>
              <a:spcAft>
                <a:spcPts val="0"/>
              </a:spcAft>
              <a:buClr>
                <a:schemeClr val="dk1"/>
              </a:buClr>
              <a:buSzPts val="2800"/>
              <a:buFont typeface="Tahoma"/>
              <a:buNone/>
            </a:pPr>
            <a:r>
              <a:rPr lang="en-US" sz="2800"/>
              <a:t>Costs include:</a:t>
            </a:r>
            <a:endParaRPr sz="2800"/>
          </a:p>
          <a:p>
            <a:pPr indent="-285750" lvl="1" marL="742950" rtl="0" algn="l">
              <a:lnSpc>
                <a:spcPct val="90000"/>
              </a:lnSpc>
              <a:spcBef>
                <a:spcPts val="480"/>
              </a:spcBef>
              <a:spcAft>
                <a:spcPts val="0"/>
              </a:spcAft>
              <a:buClr>
                <a:schemeClr val="dk1"/>
              </a:buClr>
              <a:buSzPts val="2400"/>
              <a:buFont typeface="Tahoma"/>
              <a:buChar char="-"/>
            </a:pPr>
            <a:r>
              <a:rPr lang="en-US" sz="2400"/>
              <a:t>Development</a:t>
            </a:r>
            <a:endParaRPr sz="2400"/>
          </a:p>
          <a:p>
            <a:pPr indent="-285750" lvl="1" marL="742950" rtl="0" algn="l">
              <a:lnSpc>
                <a:spcPct val="90000"/>
              </a:lnSpc>
              <a:spcBef>
                <a:spcPts val="480"/>
              </a:spcBef>
              <a:spcAft>
                <a:spcPts val="0"/>
              </a:spcAft>
              <a:buClr>
                <a:schemeClr val="dk1"/>
              </a:buClr>
              <a:buSzPts val="2400"/>
              <a:buFont typeface="Tahoma"/>
              <a:buChar char="-"/>
            </a:pPr>
            <a:r>
              <a:rPr lang="en-US" sz="2400"/>
              <a:t>Operation</a:t>
            </a:r>
            <a:endParaRPr sz="2400"/>
          </a:p>
          <a:p>
            <a:pPr indent="-285750" lvl="1" marL="742950" rtl="0" algn="l">
              <a:lnSpc>
                <a:spcPct val="90000"/>
              </a:lnSpc>
              <a:spcBef>
                <a:spcPts val="480"/>
              </a:spcBef>
              <a:spcAft>
                <a:spcPts val="0"/>
              </a:spcAft>
              <a:buClr>
                <a:schemeClr val="dk1"/>
              </a:buClr>
              <a:buSzPts val="2400"/>
              <a:buFont typeface="Tahoma"/>
              <a:buNone/>
            </a:pPr>
            <a:r>
              <a:t/>
            </a:r>
            <a:endParaRPr sz="2400"/>
          </a:p>
          <a:p>
            <a:pPr indent="-342900" lvl="0" marL="342900" rtl="0" algn="l">
              <a:lnSpc>
                <a:spcPct val="90000"/>
              </a:lnSpc>
              <a:spcBef>
                <a:spcPts val="560"/>
              </a:spcBef>
              <a:spcAft>
                <a:spcPts val="0"/>
              </a:spcAft>
              <a:buClr>
                <a:schemeClr val="dk1"/>
              </a:buClr>
              <a:buSzPts val="2800"/>
              <a:buFont typeface="Tahoma"/>
              <a:buNone/>
            </a:pPr>
            <a:r>
              <a:rPr lang="en-US" sz="2800"/>
              <a:t>Benefits</a:t>
            </a:r>
            <a:endParaRPr sz="2800"/>
          </a:p>
          <a:p>
            <a:pPr indent="-285750" lvl="1" marL="742950" rtl="0" algn="l">
              <a:lnSpc>
                <a:spcPct val="90000"/>
              </a:lnSpc>
              <a:spcBef>
                <a:spcPts val="480"/>
              </a:spcBef>
              <a:spcAft>
                <a:spcPts val="0"/>
              </a:spcAft>
              <a:buClr>
                <a:schemeClr val="dk1"/>
              </a:buClr>
              <a:buSzPts val="2400"/>
              <a:buFont typeface="Tahoma"/>
              <a:buNone/>
            </a:pPr>
            <a:r>
              <a:rPr lang="en-US" sz="2400"/>
              <a:t>- Quantifiable</a:t>
            </a:r>
            <a:endParaRPr sz="2400"/>
          </a:p>
          <a:p>
            <a:pPr indent="-285750" lvl="1" marL="742950" rtl="0" algn="l">
              <a:lnSpc>
                <a:spcPct val="90000"/>
              </a:lnSpc>
              <a:spcBef>
                <a:spcPts val="480"/>
              </a:spcBef>
              <a:spcAft>
                <a:spcPts val="0"/>
              </a:spcAft>
              <a:buClr>
                <a:schemeClr val="dk1"/>
              </a:buClr>
              <a:buSzPts val="2400"/>
              <a:buFont typeface="Tahoma"/>
              <a:buNone/>
            </a:pPr>
            <a:r>
              <a:rPr lang="en-US" sz="2400"/>
              <a:t>- Non-quantifiable</a:t>
            </a:r>
            <a:endParaRPr sz="2400"/>
          </a:p>
        </p:txBody>
      </p:sp>
      <p:sp>
        <p:nvSpPr>
          <p:cNvPr id="441" name="Google Shape;441;p39"/>
          <p:cNvSpPr/>
          <p:nvPr/>
        </p:nvSpPr>
        <p:spPr>
          <a:xfrm>
            <a:off x="1116013" y="2565400"/>
            <a:ext cx="1152525" cy="3168650"/>
          </a:xfrm>
          <a:prstGeom prst="rect">
            <a:avLst/>
          </a:prstGeom>
          <a:solidFill>
            <a:srgbClr val="99CCFF"/>
          </a:solidFill>
          <a:ln cap="flat" cmpd="sng" w="9525">
            <a:solidFill>
              <a:srgbClr val="99CC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77777"/>
              </a:buClr>
              <a:buSzPts val="3600"/>
              <a:buFont typeface="Arial"/>
              <a:buNone/>
            </a:pPr>
            <a:r>
              <a:rPr b="0" i="0" lang="en-US" sz="3600" u="none" cap="none" strike="noStrike">
                <a:solidFill>
                  <a:srgbClr val="777777"/>
                </a:solidFill>
                <a:latin typeface="Arial"/>
                <a:ea typeface="Arial"/>
                <a:cs typeface="Arial"/>
                <a:sym typeface="Arial"/>
              </a:rPr>
              <a:t>£</a:t>
            </a:r>
            <a:endParaRPr b="0" i="0" sz="3600" u="none" cap="none" strike="noStrike">
              <a:solidFill>
                <a:srgbClr val="777777"/>
              </a:solidFill>
              <a:latin typeface="Arial"/>
              <a:ea typeface="Arial"/>
              <a:cs typeface="Arial"/>
              <a:sym typeface="Arial"/>
            </a:endParaRPr>
          </a:p>
        </p:txBody>
      </p:sp>
      <p:sp>
        <p:nvSpPr>
          <p:cNvPr id="442" name="Google Shape;442;p39"/>
          <p:cNvSpPr/>
          <p:nvPr/>
        </p:nvSpPr>
        <p:spPr>
          <a:xfrm>
            <a:off x="2843213" y="3573463"/>
            <a:ext cx="1081087" cy="2160587"/>
          </a:xfrm>
          <a:prstGeom prst="rect">
            <a:avLst/>
          </a:prstGeom>
          <a:solidFill>
            <a:srgbClr val="99CCFF"/>
          </a:solidFill>
          <a:ln cap="flat" cmpd="sng" w="9525">
            <a:solidFill>
              <a:srgbClr val="99CC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77777"/>
              </a:buClr>
              <a:buSzPts val="3200"/>
              <a:buFont typeface="Arial"/>
              <a:buNone/>
            </a:pPr>
            <a:r>
              <a:rPr b="0" i="0" lang="en-US" sz="3200" u="none" cap="none" strike="noStrike">
                <a:solidFill>
                  <a:srgbClr val="777777"/>
                </a:solidFill>
                <a:latin typeface="Arial"/>
                <a:ea typeface="Arial"/>
                <a:cs typeface="Arial"/>
                <a:sym typeface="Arial"/>
              </a:rPr>
              <a:t>£</a:t>
            </a:r>
            <a:endParaRPr b="0" i="0" sz="3200" u="none" cap="none" strike="noStrike">
              <a:solidFill>
                <a:srgbClr val="777777"/>
              </a:solidFill>
              <a:latin typeface="Arial"/>
              <a:ea typeface="Arial"/>
              <a:cs typeface="Arial"/>
              <a:sym typeface="Arial"/>
            </a:endParaRPr>
          </a:p>
        </p:txBody>
      </p:sp>
      <p:cxnSp>
        <p:nvCxnSpPr>
          <p:cNvPr id="443" name="Google Shape;443;p39"/>
          <p:cNvCxnSpPr/>
          <p:nvPr/>
        </p:nvCxnSpPr>
        <p:spPr>
          <a:xfrm>
            <a:off x="539750" y="5734050"/>
            <a:ext cx="3744913" cy="0"/>
          </a:xfrm>
          <a:prstGeom prst="straightConnector1">
            <a:avLst/>
          </a:prstGeom>
          <a:noFill/>
          <a:ln cap="flat" cmpd="sng" w="9525">
            <a:solidFill>
              <a:schemeClr val="lt1"/>
            </a:solidFill>
            <a:prstDash val="solid"/>
            <a:round/>
            <a:headEnd len="sm" w="sm" type="none"/>
            <a:tailEnd len="sm" w="sm" type="none"/>
          </a:ln>
        </p:spPr>
      </p:cxnSp>
      <p:sp>
        <p:nvSpPr>
          <p:cNvPr id="444" name="Google Shape;444;p39"/>
          <p:cNvSpPr txBox="1"/>
          <p:nvPr/>
        </p:nvSpPr>
        <p:spPr>
          <a:xfrm>
            <a:off x="971550" y="1844675"/>
            <a:ext cx="1285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77777"/>
              </a:buClr>
              <a:buSzPts val="2400"/>
              <a:buFont typeface="Arial"/>
              <a:buNone/>
            </a:pPr>
            <a:r>
              <a:rPr b="0" i="0" lang="en-US" sz="2400" u="none" cap="none" strike="noStrike">
                <a:solidFill>
                  <a:srgbClr val="777777"/>
                </a:solidFill>
                <a:latin typeface="Arial"/>
                <a:ea typeface="Arial"/>
                <a:cs typeface="Arial"/>
                <a:sym typeface="Arial"/>
              </a:rPr>
              <a:t>Benefits</a:t>
            </a:r>
            <a:endParaRPr b="0" i="0" sz="2400" u="none" cap="none" strike="noStrike">
              <a:solidFill>
                <a:srgbClr val="777777"/>
              </a:solidFill>
              <a:latin typeface="Arial"/>
              <a:ea typeface="Arial"/>
              <a:cs typeface="Arial"/>
              <a:sym typeface="Arial"/>
            </a:endParaRPr>
          </a:p>
        </p:txBody>
      </p:sp>
      <p:sp>
        <p:nvSpPr>
          <p:cNvPr id="445" name="Google Shape;445;p39"/>
          <p:cNvSpPr txBox="1"/>
          <p:nvPr/>
        </p:nvSpPr>
        <p:spPr>
          <a:xfrm>
            <a:off x="2916238" y="2781300"/>
            <a:ext cx="963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77777"/>
              </a:buClr>
              <a:buSzPts val="2400"/>
              <a:buFont typeface="Arial"/>
              <a:buNone/>
            </a:pPr>
            <a:r>
              <a:rPr b="0" i="0" lang="en-US" sz="2400" u="none" cap="none" strike="noStrike">
                <a:solidFill>
                  <a:srgbClr val="777777"/>
                </a:solidFill>
                <a:latin typeface="Arial"/>
                <a:ea typeface="Arial"/>
                <a:cs typeface="Arial"/>
                <a:sym typeface="Arial"/>
              </a:rPr>
              <a:t>Costs</a:t>
            </a:r>
            <a:endParaRPr b="0" i="0" sz="2400" u="none" cap="none" strike="noStrike">
              <a:solidFill>
                <a:srgbClr val="777777"/>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0"/>
          <p:cNvSpPr txBox="1"/>
          <p:nvPr>
            <p:ph type="title"/>
          </p:nvPr>
        </p:nvSpPr>
        <p:spPr>
          <a:xfrm>
            <a:off x="685800" y="33274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Project Charter</a:t>
            </a:r>
            <a:endParaRPr u="sng"/>
          </a:p>
        </p:txBody>
      </p:sp>
      <p:sp>
        <p:nvSpPr>
          <p:cNvPr id="451" name="Google Shape;451;p40"/>
          <p:cNvSpPr txBox="1"/>
          <p:nvPr>
            <p:ph idx="1" type="body"/>
          </p:nvPr>
        </p:nvSpPr>
        <p:spPr>
          <a:xfrm>
            <a:off x="685800" y="1701165"/>
            <a:ext cx="7772400" cy="41148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Font typeface="Tahoma"/>
              <a:buChar char="•"/>
            </a:pPr>
            <a:r>
              <a:rPr lang="en-US"/>
              <a:t>Project charter is an important high level document that authorizes the starting of a project and use of the required resources.</a:t>
            </a:r>
            <a:endParaRPr/>
          </a:p>
          <a:p>
            <a:pPr indent="-342900" lvl="0" marL="342900" rtl="0" algn="just">
              <a:spcBef>
                <a:spcPts val="592"/>
              </a:spcBef>
              <a:spcAft>
                <a:spcPts val="0"/>
              </a:spcAft>
              <a:buClr>
                <a:schemeClr val="dk1"/>
              </a:buClr>
              <a:buSzPct val="100000"/>
              <a:buFont typeface="Tahoma"/>
              <a:buChar char="•"/>
            </a:pPr>
            <a:r>
              <a:rPr lang="en-US"/>
              <a:t>The project manager for a project is usually appointed before the project charter is issued and undertakes to write the project charter.</a:t>
            </a:r>
            <a:endParaRPr/>
          </a:p>
          <a:p>
            <a:pPr indent="-342900" lvl="0" marL="342900" rtl="0" algn="just">
              <a:spcBef>
                <a:spcPts val="592"/>
              </a:spcBef>
              <a:spcAft>
                <a:spcPts val="0"/>
              </a:spcAft>
              <a:buClr>
                <a:schemeClr val="dk1"/>
              </a:buClr>
              <a:buSzPct val="100000"/>
              <a:buFont typeface="Tahoma"/>
              <a:buChar char="•"/>
            </a:pPr>
            <a:r>
              <a:rPr lang="en-US"/>
              <a:t>The project charter serves as a guiding document for all activities concerning the project and is not expected to change throughout the project life cycle.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1"/>
          <p:cNvSpPr txBox="1"/>
          <p:nvPr>
            <p:ph type="title"/>
          </p:nvPr>
        </p:nvSpPr>
        <p:spPr>
          <a:xfrm>
            <a:off x="2889250" y="476885"/>
            <a:ext cx="3063875"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Program</a:t>
            </a:r>
            <a:endParaRPr/>
          </a:p>
        </p:txBody>
      </p:sp>
      <p:sp>
        <p:nvSpPr>
          <p:cNvPr id="457" name="Google Shape;457;p41"/>
          <p:cNvSpPr txBox="1"/>
          <p:nvPr/>
        </p:nvSpPr>
        <p:spPr>
          <a:xfrm>
            <a:off x="467995" y="1701165"/>
            <a:ext cx="8064500" cy="3597275"/>
          </a:xfrm>
          <a:prstGeom prst="rect">
            <a:avLst/>
          </a:prstGeom>
          <a:noFill/>
          <a:ln>
            <a:noFill/>
          </a:ln>
        </p:spPr>
        <p:txBody>
          <a:bodyPr anchorCtr="0" anchor="t" bIns="0" lIns="0" spcFirstLastPara="1" rIns="0" wrap="square" tIns="104275">
            <a:noAutofit/>
          </a:bodyPr>
          <a:lstStyle/>
          <a:p>
            <a:pPr indent="0" lvl="0" marL="12700" marR="0" rtl="0" algn="l">
              <a:lnSpc>
                <a:spcPct val="100000"/>
              </a:lnSpc>
              <a:spcBef>
                <a:spcPts val="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Program is a related group of projects.</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99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They are grouped to achieve a Org. goal.</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100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Categorized work into smaller sets of related projects.</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100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May be done sequentially or parallel</a:t>
            </a:r>
            <a:endParaRPr b="0" i="0" sz="2400" u="none" cap="none" strike="noStrike">
              <a:solidFill>
                <a:schemeClr val="lt1"/>
              </a:solidFill>
              <a:latin typeface="Verdana"/>
              <a:ea typeface="Verdana"/>
              <a:cs typeface="Verdana"/>
              <a:sym typeface="Verdan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2"/>
          <p:cNvSpPr txBox="1"/>
          <p:nvPr>
            <p:ph type="title"/>
          </p:nvPr>
        </p:nvSpPr>
        <p:spPr>
          <a:xfrm>
            <a:off x="1501140" y="549275"/>
            <a:ext cx="6369050" cy="378460"/>
          </a:xfrm>
          <a:prstGeom prst="rect">
            <a:avLst/>
          </a:prstGeom>
          <a:noFill/>
          <a:ln>
            <a:noFill/>
          </a:ln>
        </p:spPr>
        <p:txBody>
          <a:bodyPr anchorCtr="0" anchor="ctr" bIns="0" lIns="0" spcFirstLastPara="1" rIns="0" wrap="square" tIns="10000">
            <a:spAutoFit/>
          </a:bodyPr>
          <a:lstStyle/>
          <a:p>
            <a:pPr indent="0" lvl="0" marL="12700" rtl="0" algn="ctr">
              <a:lnSpc>
                <a:spcPct val="100000"/>
              </a:lnSpc>
              <a:spcBef>
                <a:spcPts val="0"/>
              </a:spcBef>
              <a:spcAft>
                <a:spcPts val="0"/>
              </a:spcAft>
              <a:buNone/>
            </a:pPr>
            <a:r>
              <a:rPr lang="en-US" sz="2400"/>
              <a:t>Portfolio,</a:t>
            </a:r>
            <a:endParaRPr sz="2400"/>
          </a:p>
        </p:txBody>
      </p:sp>
      <p:sp>
        <p:nvSpPr>
          <p:cNvPr id="463" name="Google Shape;463;p42"/>
          <p:cNvSpPr txBox="1"/>
          <p:nvPr/>
        </p:nvSpPr>
        <p:spPr>
          <a:xfrm>
            <a:off x="592455" y="1093470"/>
            <a:ext cx="8279130" cy="4793615"/>
          </a:xfrm>
          <a:prstGeom prst="rect">
            <a:avLst/>
          </a:prstGeom>
          <a:noFill/>
          <a:ln>
            <a:noFill/>
          </a:ln>
        </p:spPr>
        <p:txBody>
          <a:bodyPr anchorCtr="0" anchor="t" bIns="0" lIns="0" spcFirstLastPara="1" rIns="0" wrap="square" tIns="77625">
            <a:noAutofit/>
          </a:bodyPr>
          <a:lstStyle/>
          <a:p>
            <a:pPr indent="0" lvl="0" marL="12700" marR="0" rtl="0" algn="l">
              <a:lnSpc>
                <a:spcPct val="100000"/>
              </a:lnSpc>
              <a:spcBef>
                <a:spcPts val="0"/>
              </a:spcBef>
              <a:spcAft>
                <a:spcPts val="0"/>
              </a:spcAft>
              <a:buClr>
                <a:srgbClr val="A42F0F"/>
              </a:buClr>
              <a:buSzPts val="1350"/>
              <a:buFont typeface="Helvetica Neue"/>
              <a:buNone/>
            </a:pPr>
            <a:r>
              <a:rPr b="0" i="0" lang="en-US" sz="1350" u="none" cap="none" strike="noStrike">
                <a:solidFill>
                  <a:srgbClr val="A42F0F"/>
                </a:solidFill>
                <a:latin typeface="Helvetica Neue"/>
                <a:ea typeface="Helvetica Neue"/>
                <a:cs typeface="Helvetica Neue"/>
                <a:sym typeface="Helvetica Neue"/>
              </a:rPr>
              <a:t>🠶</a:t>
            </a: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Portfolio is a collection of program.</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100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May or may not be related</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99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Still part of Organizational goal</a:t>
            </a:r>
            <a:endParaRPr b="0" i="0" sz="2400" u="none" cap="none" strike="noStrike">
              <a:solidFill>
                <a:schemeClr val="lt1"/>
              </a:solidFill>
              <a:latin typeface="Verdana"/>
              <a:ea typeface="Verdana"/>
              <a:cs typeface="Verdana"/>
              <a:sym typeface="Verdana"/>
            </a:endParaRPr>
          </a:p>
          <a:p>
            <a:pPr indent="-342900" lvl="0" marL="355600" marR="5080" rtl="0" algn="l">
              <a:lnSpc>
                <a:spcPct val="100000"/>
              </a:lnSpc>
              <a:spcBef>
                <a:spcPts val="101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Org. maintains a portfolio of all the programs in order to meet its strategic  business goals.</a:t>
            </a:r>
            <a:endParaRPr b="0" i="0" sz="2400" u="none" cap="none" strike="noStrike">
              <a:solidFill>
                <a:schemeClr val="lt1"/>
              </a:solidFill>
              <a:latin typeface="Verdana"/>
              <a:ea typeface="Verdana"/>
              <a:cs typeface="Verdana"/>
              <a:sym typeface="Verdana"/>
            </a:endParaRPr>
          </a:p>
          <a:p>
            <a:pPr indent="0" lvl="0" marL="12700" marR="0" rtl="0" algn="l">
              <a:lnSpc>
                <a:spcPct val="100000"/>
              </a:lnSpc>
              <a:spcBef>
                <a:spcPts val="995"/>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It handles the governance of Project life cycle</a:t>
            </a:r>
            <a:endParaRPr b="0" i="0" sz="2400" u="none" cap="none" strike="noStrike">
              <a:solidFill>
                <a:schemeClr val="lt1"/>
              </a:solidFill>
              <a:latin typeface="Verdana"/>
              <a:ea typeface="Verdana"/>
              <a:cs typeface="Verdana"/>
              <a:sym typeface="Verdana"/>
            </a:endParaRPr>
          </a:p>
          <a:p>
            <a:pPr indent="-342900" lvl="0" marL="355600" marR="631190" rtl="0" algn="l">
              <a:lnSpc>
                <a:spcPct val="100000"/>
              </a:lnSpc>
              <a:spcBef>
                <a:spcPts val="1000"/>
              </a:spcBef>
              <a:spcAft>
                <a:spcPts val="0"/>
              </a:spcAft>
              <a:buClr>
                <a:srgbClr val="A42F0F"/>
              </a:buClr>
              <a:buSzPts val="2400"/>
              <a:buFont typeface="Helvetica Neue"/>
              <a:buNone/>
            </a:pPr>
            <a:r>
              <a:rPr b="0" i="0" lang="en-US" sz="2400" u="none" cap="none" strike="noStrike">
                <a:solidFill>
                  <a:srgbClr val="A42F0F"/>
                </a:solidFill>
                <a:latin typeface="Helvetica Neue"/>
                <a:ea typeface="Helvetica Neue"/>
                <a:cs typeface="Helvetica Neue"/>
                <a:sym typeface="Helvetica Neue"/>
              </a:rPr>
              <a:t>🠶	</a:t>
            </a:r>
            <a:r>
              <a:rPr b="0" i="0" lang="en-US" sz="2400" u="none" cap="none" strike="noStrike">
                <a:solidFill>
                  <a:srgbClr val="404040"/>
                </a:solidFill>
                <a:latin typeface="Verdana"/>
                <a:ea typeface="Verdana"/>
                <a:cs typeface="Verdana"/>
                <a:sym typeface="Verdana"/>
              </a:rPr>
              <a:t>It maintains the program’s standards, document repository and any  portfolio management tools.</a:t>
            </a:r>
            <a:endParaRPr b="0" i="0" sz="2400" u="none" cap="none" strike="noStrike">
              <a:solidFill>
                <a:schemeClr val="lt1"/>
              </a:solidFill>
              <a:latin typeface="Verdana"/>
              <a:ea typeface="Verdana"/>
              <a:cs typeface="Verdana"/>
              <a:sym typeface="Verdan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3"/>
          <p:cNvSpPr txBox="1"/>
          <p:nvPr>
            <p:ph type="title"/>
          </p:nvPr>
        </p:nvSpPr>
        <p:spPr>
          <a:xfrm>
            <a:off x="611505" y="609600"/>
            <a:ext cx="8206740" cy="1143000"/>
          </a:xfrm>
          <a:prstGeom prst="rect">
            <a:avLst/>
          </a:prstGeom>
          <a:noFill/>
          <a:ln>
            <a:noFill/>
          </a:ln>
        </p:spPr>
        <p:txBody>
          <a:bodyPr anchorCtr="0" anchor="ctr" bIns="45700" lIns="91425" spcFirstLastPara="1" rIns="91425" wrap="square" tIns="45700">
            <a:noAutofit/>
          </a:bodyPr>
          <a:lstStyle/>
          <a:p>
            <a:pPr indent="0" lvl="0" marL="12700" rtl="0" algn="ctr">
              <a:spcBef>
                <a:spcPts val="0"/>
              </a:spcBef>
              <a:spcAft>
                <a:spcPts val="0"/>
              </a:spcAft>
              <a:buNone/>
            </a:pPr>
            <a:r>
              <a:rPr lang="en-US"/>
              <a:t>Project Management Life Cycle</a:t>
            </a:r>
            <a:endParaRPr/>
          </a:p>
        </p:txBody>
      </p:sp>
      <p:sp>
        <p:nvSpPr>
          <p:cNvPr id="469" name="Google Shape;469;p4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Tahoma"/>
              <a:buChar char="•"/>
            </a:pPr>
            <a:r>
              <a:rPr lang="en-US"/>
              <a:t>Different phases of a project management life cycle are shown in the following figure</a:t>
            </a:r>
            <a:endParaRPr/>
          </a:p>
          <a:p>
            <a:pPr indent="0" lvl="0" marL="0" rtl="0" algn="ctr">
              <a:spcBef>
                <a:spcPts val="640"/>
              </a:spcBef>
              <a:spcAft>
                <a:spcPts val="0"/>
              </a:spcAft>
              <a:buClr>
                <a:schemeClr val="dk1"/>
              </a:buClr>
              <a:buSzPts val="3200"/>
              <a:buFont typeface="Tahoma"/>
              <a:buNone/>
            </a:pPr>
            <a:r>
              <a:t/>
            </a:r>
            <a:endParaRPr/>
          </a:p>
        </p:txBody>
      </p:sp>
      <p:grpSp>
        <p:nvGrpSpPr>
          <p:cNvPr id="470" name="Google Shape;470;p43"/>
          <p:cNvGrpSpPr/>
          <p:nvPr/>
        </p:nvGrpSpPr>
        <p:grpSpPr>
          <a:xfrm>
            <a:off x="467360" y="3729012"/>
            <a:ext cx="8149508" cy="889686"/>
            <a:chOff x="0" y="660057"/>
            <a:chExt cx="8149508" cy="889686"/>
          </a:xfrm>
        </p:grpSpPr>
        <p:sp>
          <p:nvSpPr>
            <p:cNvPr id="471" name="Google Shape;471;p43"/>
            <p:cNvSpPr/>
            <p:nvPr/>
          </p:nvSpPr>
          <p:spPr>
            <a:xfrm>
              <a:off x="0" y="660057"/>
              <a:ext cx="2224216" cy="889686"/>
            </a:xfrm>
            <a:prstGeom prst="chevron">
              <a:avLst>
                <a:gd fmla="val 50000" name="adj"/>
              </a:avLst>
            </a:prstGeom>
            <a:solidFill>
              <a:schemeClr val="accent3"/>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3"/>
            <p:cNvSpPr txBox="1"/>
            <p:nvPr/>
          </p:nvSpPr>
          <p:spPr>
            <a:xfrm>
              <a:off x="0" y="660057"/>
              <a:ext cx="2224216" cy="889686"/>
            </a:xfrm>
            <a:prstGeom prst="rect">
              <a:avLst/>
            </a:prstGeom>
            <a:noFill/>
            <a:ln>
              <a:noFill/>
            </a:ln>
          </p:spPr>
          <p:txBody>
            <a:bodyPr anchorCtr="0" anchor="ctr" bIns="29325" lIns="88000" spcFirstLastPara="1" rIns="29325" wrap="square" tIns="29325">
              <a:noAutofit/>
            </a:bodyPr>
            <a:lstStyle/>
            <a:p>
              <a:pPr indent="0" lvl="0" marL="0" marR="0" rtl="0" algn="ctr">
                <a:lnSpc>
                  <a:spcPct val="100000"/>
                </a:lnSpc>
                <a:spcBef>
                  <a:spcPts val="0"/>
                </a:spcBef>
                <a:spcAft>
                  <a:spcPts val="0"/>
                </a:spcAft>
                <a:buClr>
                  <a:schemeClr val="lt1"/>
                </a:buClr>
                <a:buSzPts val="2200"/>
                <a:buFont typeface="Arial"/>
                <a:buNone/>
              </a:pPr>
              <a:r>
                <a:rPr b="0" i="0" lang="en-US" sz="2200" u="none" cap="none" strike="noStrike">
                  <a:solidFill>
                    <a:schemeClr val="lt1"/>
                  </a:solidFill>
                  <a:latin typeface="Arial"/>
                  <a:ea typeface="Arial"/>
                  <a:cs typeface="Arial"/>
                  <a:sym typeface="Arial"/>
                </a:rPr>
                <a:t>Initiating</a:t>
              </a:r>
              <a:endParaRPr b="0" i="0" sz="2200" u="none" cap="none" strike="noStrike">
                <a:solidFill>
                  <a:schemeClr val="lt1"/>
                </a:solidFill>
                <a:latin typeface="Arial"/>
                <a:ea typeface="Arial"/>
                <a:cs typeface="Arial"/>
                <a:sym typeface="Arial"/>
              </a:endParaRPr>
            </a:p>
            <a:p>
              <a:pPr indent="0" lvl="0" marL="0" marR="0" rtl="0" algn="ctr">
                <a:lnSpc>
                  <a:spcPct val="100000"/>
                </a:lnSpc>
                <a:spcBef>
                  <a:spcPts val="770"/>
                </a:spcBef>
                <a:spcAft>
                  <a:spcPts val="0"/>
                </a:spcAft>
                <a:buClr>
                  <a:schemeClr val="lt1"/>
                </a:buClr>
                <a:buSzPts val="2200"/>
                <a:buFont typeface="Arial"/>
                <a:buNone/>
              </a:pPr>
              <a:r>
                <a:rPr b="0" i="0" lang="en-US" sz="2200" u="none" cap="none" strike="noStrike">
                  <a:solidFill>
                    <a:schemeClr val="lt1"/>
                  </a:solidFill>
                  <a:latin typeface="Arial"/>
                  <a:ea typeface="Arial"/>
                  <a:cs typeface="Arial"/>
                  <a:sym typeface="Arial"/>
                </a:rPr>
                <a:t>Phase</a:t>
              </a:r>
              <a:endParaRPr b="0" i="0" sz="2200" u="none" cap="none" strike="noStrike">
                <a:solidFill>
                  <a:schemeClr val="lt1"/>
                </a:solidFill>
                <a:latin typeface="Arial"/>
                <a:ea typeface="Arial"/>
                <a:cs typeface="Arial"/>
                <a:sym typeface="Arial"/>
              </a:endParaRPr>
            </a:p>
          </p:txBody>
        </p:sp>
        <p:sp>
          <p:nvSpPr>
            <p:cNvPr id="473" name="Google Shape;473;p43"/>
            <p:cNvSpPr/>
            <p:nvPr/>
          </p:nvSpPr>
          <p:spPr>
            <a:xfrm>
              <a:off x="2001795" y="660057"/>
              <a:ext cx="2224216" cy="889686"/>
            </a:xfrm>
            <a:prstGeom prst="chevron">
              <a:avLst>
                <a:gd fmla="val 50000" name="adj"/>
              </a:avLst>
            </a:prstGeom>
            <a:solidFill>
              <a:schemeClr val="accent3"/>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3"/>
            <p:cNvSpPr txBox="1"/>
            <p:nvPr/>
          </p:nvSpPr>
          <p:spPr>
            <a:xfrm>
              <a:off x="2001795" y="660057"/>
              <a:ext cx="2224216" cy="889686"/>
            </a:xfrm>
            <a:prstGeom prst="rect">
              <a:avLst/>
            </a:prstGeom>
            <a:noFill/>
            <a:ln>
              <a:noFill/>
            </a:ln>
          </p:spPr>
          <p:txBody>
            <a:bodyPr anchorCtr="0" anchor="ctr" bIns="29325" lIns="88000" spcFirstLastPara="1" rIns="29325" wrap="square" tIns="29325">
              <a:noAutofit/>
            </a:bodyPr>
            <a:lstStyle/>
            <a:p>
              <a:pPr indent="0" lvl="0" marL="0" marR="0" rtl="0" algn="ctr">
                <a:lnSpc>
                  <a:spcPct val="100000"/>
                </a:lnSpc>
                <a:spcBef>
                  <a:spcPts val="0"/>
                </a:spcBef>
                <a:spcAft>
                  <a:spcPts val="0"/>
                </a:spcAft>
                <a:buClr>
                  <a:schemeClr val="lt1"/>
                </a:buClr>
                <a:buSzPts val="2200"/>
                <a:buFont typeface="Arial"/>
                <a:buNone/>
              </a:pPr>
              <a:r>
                <a:rPr b="0" i="0" lang="en-US" sz="2200" u="none" cap="none" strike="noStrike">
                  <a:solidFill>
                    <a:schemeClr val="lt1"/>
                  </a:solidFill>
                  <a:latin typeface="Arial"/>
                  <a:ea typeface="Arial"/>
                  <a:cs typeface="Arial"/>
                  <a:sym typeface="Arial"/>
                </a:rPr>
                <a:t>Planning</a:t>
              </a:r>
              <a:endParaRPr b="0" i="0" sz="2200" u="none" cap="none" strike="noStrike">
                <a:solidFill>
                  <a:schemeClr val="lt1"/>
                </a:solidFill>
                <a:latin typeface="Arial"/>
                <a:ea typeface="Arial"/>
                <a:cs typeface="Arial"/>
                <a:sym typeface="Arial"/>
              </a:endParaRPr>
            </a:p>
            <a:p>
              <a:pPr indent="0" lvl="0" marL="0" marR="0" rtl="0" algn="ctr">
                <a:lnSpc>
                  <a:spcPct val="100000"/>
                </a:lnSpc>
                <a:spcBef>
                  <a:spcPts val="770"/>
                </a:spcBef>
                <a:spcAft>
                  <a:spcPts val="0"/>
                </a:spcAft>
                <a:buClr>
                  <a:schemeClr val="lt1"/>
                </a:buClr>
                <a:buSzPts val="2200"/>
                <a:buFont typeface="Arial"/>
                <a:buNone/>
              </a:pPr>
              <a:r>
                <a:rPr b="0" i="0" lang="en-US" sz="2200" u="none" cap="none" strike="noStrike">
                  <a:solidFill>
                    <a:schemeClr val="lt1"/>
                  </a:solidFill>
                  <a:latin typeface="Arial"/>
                  <a:ea typeface="Arial"/>
                  <a:cs typeface="Arial"/>
                  <a:sym typeface="Arial"/>
                </a:rPr>
                <a:t>Phase</a:t>
              </a:r>
              <a:endParaRPr b="0" i="0" sz="2200" u="none" cap="none" strike="noStrike">
                <a:solidFill>
                  <a:schemeClr val="lt1"/>
                </a:solidFill>
                <a:latin typeface="Arial"/>
                <a:ea typeface="Arial"/>
                <a:cs typeface="Arial"/>
                <a:sym typeface="Arial"/>
              </a:endParaRPr>
            </a:p>
          </p:txBody>
        </p:sp>
        <p:sp>
          <p:nvSpPr>
            <p:cNvPr id="475" name="Google Shape;475;p43"/>
            <p:cNvSpPr/>
            <p:nvPr/>
          </p:nvSpPr>
          <p:spPr>
            <a:xfrm>
              <a:off x="4003589" y="660057"/>
              <a:ext cx="2224216" cy="889686"/>
            </a:xfrm>
            <a:prstGeom prst="chevron">
              <a:avLst>
                <a:gd fmla="val 50000" name="adj"/>
              </a:avLst>
            </a:prstGeom>
            <a:solidFill>
              <a:schemeClr val="accent3"/>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3"/>
            <p:cNvSpPr txBox="1"/>
            <p:nvPr/>
          </p:nvSpPr>
          <p:spPr>
            <a:xfrm>
              <a:off x="4003589" y="660057"/>
              <a:ext cx="2224216" cy="889686"/>
            </a:xfrm>
            <a:prstGeom prst="rect">
              <a:avLst/>
            </a:prstGeom>
            <a:noFill/>
            <a:ln>
              <a:noFill/>
            </a:ln>
          </p:spPr>
          <p:txBody>
            <a:bodyPr anchorCtr="0" anchor="ctr" bIns="29325" lIns="88000" spcFirstLastPara="1" rIns="29325" wrap="square" tIns="29325">
              <a:noAutofit/>
            </a:bodyPr>
            <a:lstStyle/>
            <a:p>
              <a:pPr indent="0" lvl="0" marL="0" marR="0" rtl="0" algn="ctr">
                <a:lnSpc>
                  <a:spcPct val="100000"/>
                </a:lnSpc>
                <a:spcBef>
                  <a:spcPts val="0"/>
                </a:spcBef>
                <a:spcAft>
                  <a:spcPts val="0"/>
                </a:spcAft>
                <a:buClr>
                  <a:schemeClr val="lt1"/>
                </a:buClr>
                <a:buSzPts val="2200"/>
                <a:buFont typeface="Arial"/>
                <a:buNone/>
              </a:pPr>
              <a:r>
                <a:rPr b="0" i="0" lang="en-US" sz="2200" u="none" cap="none" strike="noStrike">
                  <a:solidFill>
                    <a:schemeClr val="lt1"/>
                  </a:solidFill>
                  <a:latin typeface="Arial"/>
                  <a:ea typeface="Arial"/>
                  <a:cs typeface="Arial"/>
                  <a:sym typeface="Arial"/>
                </a:rPr>
                <a:t>Executing</a:t>
              </a:r>
              <a:endParaRPr b="0" i="0" sz="2200" u="none" cap="none" strike="noStrike">
                <a:solidFill>
                  <a:schemeClr val="lt1"/>
                </a:solidFill>
                <a:latin typeface="Arial"/>
                <a:ea typeface="Arial"/>
                <a:cs typeface="Arial"/>
                <a:sym typeface="Arial"/>
              </a:endParaRPr>
            </a:p>
            <a:p>
              <a:pPr indent="0" lvl="0" marL="0" marR="0" rtl="0" algn="ctr">
                <a:lnSpc>
                  <a:spcPct val="100000"/>
                </a:lnSpc>
                <a:spcBef>
                  <a:spcPts val="770"/>
                </a:spcBef>
                <a:spcAft>
                  <a:spcPts val="0"/>
                </a:spcAft>
                <a:buClr>
                  <a:schemeClr val="lt1"/>
                </a:buClr>
                <a:buSzPts val="2200"/>
                <a:buFont typeface="Arial"/>
                <a:buNone/>
              </a:pPr>
              <a:r>
                <a:rPr b="0" i="0" lang="en-US" sz="2200" u="none" cap="none" strike="noStrike">
                  <a:solidFill>
                    <a:schemeClr val="lt1"/>
                  </a:solidFill>
                  <a:latin typeface="Arial"/>
                  <a:ea typeface="Arial"/>
                  <a:cs typeface="Arial"/>
                  <a:sym typeface="Arial"/>
                </a:rPr>
                <a:t>Phase</a:t>
              </a:r>
              <a:endParaRPr b="0" i="0" sz="2200" u="none" cap="none" strike="noStrike">
                <a:solidFill>
                  <a:schemeClr val="lt1"/>
                </a:solidFill>
                <a:latin typeface="Arial"/>
                <a:ea typeface="Arial"/>
                <a:cs typeface="Arial"/>
                <a:sym typeface="Arial"/>
              </a:endParaRPr>
            </a:p>
          </p:txBody>
        </p:sp>
        <p:sp>
          <p:nvSpPr>
            <p:cNvPr id="477" name="Google Shape;477;p43"/>
            <p:cNvSpPr/>
            <p:nvPr/>
          </p:nvSpPr>
          <p:spPr>
            <a:xfrm>
              <a:off x="5925292" y="660057"/>
              <a:ext cx="2224216" cy="889686"/>
            </a:xfrm>
            <a:prstGeom prst="chevron">
              <a:avLst>
                <a:gd fmla="val 50000" name="adj"/>
              </a:avLst>
            </a:prstGeom>
            <a:solidFill>
              <a:schemeClr val="accent3"/>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3"/>
            <p:cNvSpPr txBox="1"/>
            <p:nvPr/>
          </p:nvSpPr>
          <p:spPr>
            <a:xfrm>
              <a:off x="5925292" y="660057"/>
              <a:ext cx="2224216" cy="889686"/>
            </a:xfrm>
            <a:prstGeom prst="rect">
              <a:avLst/>
            </a:prstGeom>
            <a:noFill/>
            <a:ln>
              <a:noFill/>
            </a:ln>
          </p:spPr>
          <p:txBody>
            <a:bodyPr anchorCtr="0" anchor="ctr" bIns="29325" lIns="88000" spcFirstLastPara="1" rIns="29325" wrap="square" tIns="29325">
              <a:noAutofit/>
            </a:bodyPr>
            <a:lstStyle/>
            <a:p>
              <a:pPr indent="0" lvl="0" marL="0" marR="0" rtl="0" algn="ctr">
                <a:lnSpc>
                  <a:spcPct val="100000"/>
                </a:lnSpc>
                <a:spcBef>
                  <a:spcPts val="0"/>
                </a:spcBef>
                <a:spcAft>
                  <a:spcPts val="0"/>
                </a:spcAft>
                <a:buClr>
                  <a:schemeClr val="lt1"/>
                </a:buClr>
                <a:buSzPts val="2200"/>
                <a:buFont typeface="Arial"/>
                <a:buNone/>
              </a:pPr>
              <a:r>
                <a:rPr b="0" i="0" lang="en-US" sz="2200" u="none" cap="none" strike="noStrike">
                  <a:solidFill>
                    <a:schemeClr val="lt1"/>
                  </a:solidFill>
                  <a:latin typeface="Arial"/>
                  <a:ea typeface="Arial"/>
                  <a:cs typeface="Arial"/>
                  <a:sym typeface="Arial"/>
                </a:rPr>
                <a:t>Closing</a:t>
              </a:r>
              <a:endParaRPr b="0" i="0" sz="2200" u="none" cap="none" strike="noStrike">
                <a:solidFill>
                  <a:schemeClr val="lt1"/>
                </a:solidFill>
                <a:latin typeface="Arial"/>
                <a:ea typeface="Arial"/>
                <a:cs typeface="Arial"/>
                <a:sym typeface="Arial"/>
              </a:endParaRPr>
            </a:p>
            <a:p>
              <a:pPr indent="0" lvl="0" marL="0" marR="0" rtl="0" algn="ctr">
                <a:lnSpc>
                  <a:spcPct val="100000"/>
                </a:lnSpc>
                <a:spcBef>
                  <a:spcPts val="770"/>
                </a:spcBef>
                <a:spcAft>
                  <a:spcPts val="0"/>
                </a:spcAft>
                <a:buClr>
                  <a:schemeClr val="lt1"/>
                </a:buClr>
                <a:buSzPts val="2200"/>
                <a:buFont typeface="Arial"/>
                <a:buNone/>
              </a:pPr>
              <a:r>
                <a:rPr b="0" i="0" lang="en-US" sz="2200" u="none" cap="none" strike="noStrike">
                  <a:solidFill>
                    <a:schemeClr val="lt1"/>
                  </a:solidFill>
                  <a:latin typeface="Arial"/>
                  <a:ea typeface="Arial"/>
                  <a:cs typeface="Arial"/>
                  <a:sym typeface="Arial"/>
                </a:rPr>
                <a:t>Phase</a:t>
              </a:r>
              <a:endParaRPr b="0" i="0" sz="2200" u="none" cap="none" strike="noStrike">
                <a:solidFill>
                  <a:schemeClr val="lt1"/>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4"/>
          <p:cNvSpPr txBox="1"/>
          <p:nvPr>
            <p:ph type="title"/>
          </p:nvPr>
        </p:nvSpPr>
        <p:spPr>
          <a:xfrm>
            <a:off x="1547495" y="528320"/>
            <a:ext cx="5998845"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Project life cycle</a:t>
            </a:r>
            <a:endParaRPr/>
          </a:p>
        </p:txBody>
      </p:sp>
      <p:pic>
        <p:nvPicPr>
          <p:cNvPr id="484" name="Google Shape;484;p44"/>
          <p:cNvPicPr preferRelativeResize="0"/>
          <p:nvPr/>
        </p:nvPicPr>
        <p:blipFill rotWithShape="1">
          <a:blip r:embed="rId3">
            <a:alphaModFix/>
          </a:blip>
          <a:srcRect b="0" l="0" r="0" t="0"/>
          <a:stretch/>
        </p:blipFill>
        <p:spPr>
          <a:xfrm>
            <a:off x="539750" y="1412875"/>
            <a:ext cx="8275955" cy="484441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5"/>
          <p:cNvSpPr txBox="1"/>
          <p:nvPr>
            <p:ph type="title"/>
          </p:nvPr>
        </p:nvSpPr>
        <p:spPr>
          <a:xfrm>
            <a:off x="1763395" y="476885"/>
            <a:ext cx="5817870"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Documenting Phases</a:t>
            </a:r>
            <a:endParaRPr/>
          </a:p>
        </p:txBody>
      </p:sp>
      <p:pic>
        <p:nvPicPr>
          <p:cNvPr id="490" name="Google Shape;490;p45"/>
          <p:cNvPicPr preferRelativeResize="0"/>
          <p:nvPr/>
        </p:nvPicPr>
        <p:blipFill rotWithShape="1">
          <a:blip r:embed="rId3">
            <a:alphaModFix/>
          </a:blip>
          <a:srcRect b="0" l="0" r="0" t="0"/>
          <a:stretch/>
        </p:blipFill>
        <p:spPr>
          <a:xfrm>
            <a:off x="323215" y="1341120"/>
            <a:ext cx="8606155" cy="47688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6"/>
          <p:cNvSpPr txBox="1"/>
          <p:nvPr>
            <p:ph type="title"/>
          </p:nvPr>
        </p:nvSpPr>
        <p:spPr>
          <a:xfrm>
            <a:off x="1763395" y="260985"/>
            <a:ext cx="6384290" cy="686435"/>
          </a:xfrm>
          <a:prstGeom prst="rect">
            <a:avLst/>
          </a:prstGeom>
          <a:noFill/>
          <a:ln>
            <a:noFill/>
          </a:ln>
        </p:spPr>
        <p:txBody>
          <a:bodyPr anchorCtr="0" anchor="ctr" bIns="0" lIns="0" spcFirstLastPara="1" rIns="0" wrap="square" tIns="9525">
            <a:spAutoFit/>
          </a:bodyPr>
          <a:lstStyle/>
          <a:p>
            <a:pPr indent="0" lvl="0" marL="12700" rtl="0" algn="ctr">
              <a:lnSpc>
                <a:spcPct val="100000"/>
              </a:lnSpc>
              <a:spcBef>
                <a:spcPts val="0"/>
              </a:spcBef>
              <a:spcAft>
                <a:spcPts val="0"/>
              </a:spcAft>
              <a:buNone/>
            </a:pPr>
            <a:r>
              <a:rPr lang="en-US"/>
              <a:t>Project/Phase Gate</a:t>
            </a:r>
            <a:endParaRPr/>
          </a:p>
        </p:txBody>
      </p:sp>
      <p:pic>
        <p:nvPicPr>
          <p:cNvPr id="496" name="Google Shape;496;p46"/>
          <p:cNvPicPr preferRelativeResize="0"/>
          <p:nvPr/>
        </p:nvPicPr>
        <p:blipFill rotWithShape="1">
          <a:blip r:embed="rId3">
            <a:alphaModFix/>
          </a:blip>
          <a:srcRect b="0" l="0" r="0" t="0"/>
          <a:stretch/>
        </p:blipFill>
        <p:spPr>
          <a:xfrm>
            <a:off x="179705" y="1269365"/>
            <a:ext cx="8841105" cy="488505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7"/>
          <p:cNvSpPr txBox="1"/>
          <p:nvPr>
            <p:ph type="title"/>
          </p:nvPr>
        </p:nvSpPr>
        <p:spPr>
          <a:xfrm>
            <a:off x="685800" y="609600"/>
            <a:ext cx="8236585"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Project Management Life Cycle</a:t>
            </a:r>
            <a:endParaRPr/>
          </a:p>
        </p:txBody>
      </p:sp>
      <p:sp>
        <p:nvSpPr>
          <p:cNvPr id="502" name="Google Shape;502;p47"/>
          <p:cNvSpPr txBox="1"/>
          <p:nvPr>
            <p:ph idx="1" type="body"/>
          </p:nvPr>
        </p:nvSpPr>
        <p:spPr>
          <a:xfrm>
            <a:off x="685800" y="1772920"/>
            <a:ext cx="7772400" cy="41148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Font typeface="Tahoma"/>
              <a:buChar char="•"/>
            </a:pPr>
            <a:r>
              <a:rPr b="1" i="1" lang="en-US"/>
              <a:t>Project initiation</a:t>
            </a:r>
            <a:endParaRPr b="1" i="1"/>
          </a:p>
          <a:p>
            <a:pPr indent="-285750" lvl="1" marL="742950" rtl="0" algn="just">
              <a:spcBef>
                <a:spcPts val="560"/>
              </a:spcBef>
              <a:spcAft>
                <a:spcPts val="0"/>
              </a:spcAft>
              <a:buClr>
                <a:schemeClr val="dk1"/>
              </a:buClr>
              <a:buSzPts val="2800"/>
              <a:buFont typeface="Tahoma"/>
              <a:buChar char="–"/>
            </a:pPr>
            <a:r>
              <a:rPr lang="en-US"/>
              <a:t>Different aspects of the project are investigated and understood in this phase. These are</a:t>
            </a:r>
            <a:endParaRPr/>
          </a:p>
          <a:p>
            <a:pPr indent="-228600" lvl="2" marL="1143000" rtl="0" algn="just">
              <a:spcBef>
                <a:spcPts val="480"/>
              </a:spcBef>
              <a:spcAft>
                <a:spcPts val="0"/>
              </a:spcAft>
              <a:buClr>
                <a:schemeClr val="dk1"/>
              </a:buClr>
              <a:buSzPts val="2400"/>
              <a:buFont typeface="Tahoma"/>
              <a:buChar char="•"/>
            </a:pPr>
            <a:r>
              <a:rPr lang="en-US"/>
              <a:t>Scope of the project</a:t>
            </a:r>
            <a:endParaRPr/>
          </a:p>
          <a:p>
            <a:pPr indent="-228600" lvl="2" marL="1143000" rtl="0" algn="just">
              <a:spcBef>
                <a:spcPts val="480"/>
              </a:spcBef>
              <a:spcAft>
                <a:spcPts val="0"/>
              </a:spcAft>
              <a:buClr>
                <a:schemeClr val="dk1"/>
              </a:buClr>
              <a:buSzPts val="2400"/>
              <a:buFont typeface="Tahoma"/>
              <a:buChar char="•"/>
            </a:pPr>
            <a:r>
              <a:rPr lang="en-US"/>
              <a:t>Project constraints</a:t>
            </a:r>
            <a:endParaRPr/>
          </a:p>
          <a:p>
            <a:pPr indent="-228600" lvl="2" marL="1143000" rtl="0" algn="just">
              <a:spcBef>
                <a:spcPts val="480"/>
              </a:spcBef>
              <a:spcAft>
                <a:spcPts val="0"/>
              </a:spcAft>
              <a:buClr>
                <a:schemeClr val="dk1"/>
              </a:buClr>
              <a:buSzPts val="2400"/>
              <a:buFont typeface="Tahoma"/>
              <a:buChar char="•"/>
            </a:pPr>
            <a:r>
              <a:rPr lang="en-US"/>
              <a:t>The cost that would be spent</a:t>
            </a:r>
            <a:endParaRPr/>
          </a:p>
          <a:p>
            <a:pPr indent="-228600" lvl="2" marL="1143000" rtl="0" algn="just">
              <a:spcBef>
                <a:spcPts val="480"/>
              </a:spcBef>
              <a:spcAft>
                <a:spcPts val="0"/>
              </a:spcAft>
              <a:buClr>
                <a:schemeClr val="dk1"/>
              </a:buClr>
              <a:buSzPts val="2400"/>
              <a:buFont typeface="Tahoma"/>
              <a:buChar char="•"/>
            </a:pPr>
            <a:r>
              <a:rPr lang="en-US"/>
              <a:t>The benefits that would be gained</a:t>
            </a:r>
            <a:endParaRPr/>
          </a:p>
          <a:p>
            <a:pPr indent="-285750" lvl="1" marL="742950" rtl="0" algn="just">
              <a:spcBef>
                <a:spcPts val="560"/>
              </a:spcBef>
              <a:spcAft>
                <a:spcPts val="0"/>
              </a:spcAft>
              <a:buClr>
                <a:schemeClr val="dk1"/>
              </a:buClr>
              <a:buSzPts val="2800"/>
              <a:buFont typeface="Tahoma"/>
              <a:buChar char="–"/>
            </a:pPr>
            <a:r>
              <a:rPr lang="en-US"/>
              <a:t>Based on this understanding, a feasibility study is undertaken to determine whether the project would be financially and technically feasible.</a:t>
            </a:r>
            <a:endParaRPr/>
          </a:p>
          <a:p>
            <a:pPr indent="-76200" lvl="2" marL="1143000" rtl="0" algn="just">
              <a:spcBef>
                <a:spcPts val="480"/>
              </a:spcBef>
              <a:spcAft>
                <a:spcPts val="0"/>
              </a:spcAft>
              <a:buClr>
                <a:schemeClr val="dk1"/>
              </a:buClr>
              <a:buSzPts val="2400"/>
              <a:buFont typeface="Tahoma"/>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8"/>
          <p:cNvSpPr txBox="1"/>
          <p:nvPr>
            <p:ph type="title"/>
          </p:nvPr>
        </p:nvSpPr>
        <p:spPr>
          <a:xfrm>
            <a:off x="284480" y="476885"/>
            <a:ext cx="857504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Project Management Life Cycle</a:t>
            </a:r>
            <a:endParaRPr/>
          </a:p>
        </p:txBody>
      </p:sp>
      <p:sp>
        <p:nvSpPr>
          <p:cNvPr id="509" name="Google Shape;509;p4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285750" lvl="1" marL="742950" rtl="0" algn="just">
              <a:spcBef>
                <a:spcPts val="0"/>
              </a:spcBef>
              <a:spcAft>
                <a:spcPts val="0"/>
              </a:spcAft>
              <a:buClr>
                <a:schemeClr val="dk1"/>
              </a:buClr>
              <a:buSzPts val="2800"/>
              <a:buFont typeface="Tahoma"/>
              <a:buChar char="–"/>
            </a:pPr>
            <a:r>
              <a:rPr lang="en-US"/>
              <a:t>Based on feasibility study, the business case is developed.</a:t>
            </a:r>
            <a:endParaRPr/>
          </a:p>
          <a:p>
            <a:pPr indent="-285750" lvl="1" marL="742950" rtl="0" algn="just">
              <a:spcBef>
                <a:spcPts val="560"/>
              </a:spcBef>
              <a:spcAft>
                <a:spcPts val="0"/>
              </a:spcAft>
              <a:buClr>
                <a:schemeClr val="dk1"/>
              </a:buClr>
              <a:buSzPts val="2800"/>
              <a:buFont typeface="Tahoma"/>
              <a:buChar char="–"/>
            </a:pPr>
            <a:r>
              <a:rPr lang="en-US"/>
              <a:t>Once the top management agrees to the business case, the project manager is appointed, project charter is written and finally the project team is formed.</a:t>
            </a:r>
            <a:endParaRPr/>
          </a:p>
          <a:p>
            <a:pPr indent="-285750" lvl="1" marL="742950" rtl="0" algn="just">
              <a:spcBef>
                <a:spcPts val="560"/>
              </a:spcBef>
              <a:spcAft>
                <a:spcPts val="0"/>
              </a:spcAft>
              <a:buClr>
                <a:schemeClr val="dk1"/>
              </a:buClr>
              <a:buSzPts val="2800"/>
              <a:buFont typeface="Tahoma"/>
              <a:buChar char="–"/>
            </a:pPr>
            <a:r>
              <a:rPr lang="en-US"/>
              <a:t>The ground is now set for the project manager to start the project planning phase.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Project Management Life Cycle</a:t>
            </a:r>
            <a:endParaRPr/>
          </a:p>
        </p:txBody>
      </p:sp>
      <p:sp>
        <p:nvSpPr>
          <p:cNvPr id="515" name="Google Shape;515;p4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Font typeface="Tahoma"/>
              <a:buChar char="•"/>
            </a:pPr>
            <a:r>
              <a:rPr b="1" i="1" lang="en-US"/>
              <a:t>Project Planning : </a:t>
            </a:r>
            <a:r>
              <a:rPr lang="en-US"/>
              <a:t>Project manager carries out several processes and creates following documents</a:t>
            </a:r>
            <a:endParaRPr/>
          </a:p>
          <a:p>
            <a:pPr indent="-285750" lvl="1" marL="742950" rtl="0" algn="just">
              <a:spcBef>
                <a:spcPts val="560"/>
              </a:spcBef>
              <a:spcAft>
                <a:spcPts val="0"/>
              </a:spcAft>
              <a:buClr>
                <a:schemeClr val="dk1"/>
              </a:buClr>
              <a:buSzPts val="2800"/>
              <a:buFont typeface="Tahoma"/>
              <a:buChar char="–"/>
            </a:pPr>
            <a:r>
              <a:rPr b="1" i="1" lang="en-US"/>
              <a:t>Project plan: </a:t>
            </a:r>
            <a:r>
              <a:rPr lang="en-US"/>
              <a:t>it identifies the project tasks, and a schedule for the project tasks that assigns project resources and time frames to the tasks.</a:t>
            </a:r>
            <a:endParaRPr/>
          </a:p>
          <a:p>
            <a:pPr indent="-285750" lvl="1" marL="742950" rtl="0" algn="just">
              <a:spcBef>
                <a:spcPts val="560"/>
              </a:spcBef>
              <a:spcAft>
                <a:spcPts val="0"/>
              </a:spcAft>
              <a:buClr>
                <a:schemeClr val="dk1"/>
              </a:buClr>
              <a:buSzPts val="2800"/>
              <a:buFont typeface="Tahoma"/>
              <a:buChar char="–"/>
            </a:pPr>
            <a:r>
              <a:rPr b="1" i="1" lang="en-US"/>
              <a:t>Resource Plan: </a:t>
            </a:r>
            <a:r>
              <a:rPr lang="en-US"/>
              <a:t>it lists the resources, man power and equipment that would be required.</a:t>
            </a:r>
            <a:endParaRPr b="1" i="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Project Management Life Cycle</a:t>
            </a:r>
            <a:endParaRPr/>
          </a:p>
        </p:txBody>
      </p:sp>
      <p:sp>
        <p:nvSpPr>
          <p:cNvPr id="521" name="Google Shape;521;p5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285750" lvl="1" marL="742950" rtl="0" algn="just">
              <a:spcBef>
                <a:spcPts val="0"/>
              </a:spcBef>
              <a:spcAft>
                <a:spcPts val="0"/>
              </a:spcAft>
              <a:buClr>
                <a:schemeClr val="dk1"/>
              </a:buClr>
              <a:buSzPts val="2800"/>
              <a:buFont typeface="Tahoma"/>
              <a:buChar char="–"/>
            </a:pPr>
            <a:r>
              <a:rPr b="1" i="1" lang="en-US"/>
              <a:t>Financial Plan:</a:t>
            </a:r>
            <a:r>
              <a:rPr lang="en-US"/>
              <a:t> it documents the plan for man power, equipment and other costs.</a:t>
            </a:r>
            <a:endParaRPr/>
          </a:p>
          <a:p>
            <a:pPr indent="-285750" lvl="1" marL="742950" rtl="0" algn="just">
              <a:spcBef>
                <a:spcPts val="560"/>
              </a:spcBef>
              <a:spcAft>
                <a:spcPts val="0"/>
              </a:spcAft>
              <a:buClr>
                <a:schemeClr val="dk1"/>
              </a:buClr>
              <a:buSzPts val="2800"/>
              <a:buFont typeface="Tahoma"/>
              <a:buChar char="–"/>
            </a:pPr>
            <a:r>
              <a:rPr b="1" i="1" lang="en-US"/>
              <a:t>Quality Plan:</a:t>
            </a:r>
            <a:r>
              <a:rPr lang="en-US"/>
              <a:t> plan of quality targets and control plan are included.</a:t>
            </a:r>
            <a:endParaRPr/>
          </a:p>
          <a:p>
            <a:pPr indent="-285750" lvl="1" marL="742950" rtl="0" algn="just">
              <a:spcBef>
                <a:spcPts val="560"/>
              </a:spcBef>
              <a:spcAft>
                <a:spcPts val="0"/>
              </a:spcAft>
              <a:buClr>
                <a:schemeClr val="dk1"/>
              </a:buClr>
              <a:buSzPts val="2800"/>
              <a:buFont typeface="Tahoma"/>
              <a:buChar char="–"/>
            </a:pPr>
            <a:r>
              <a:rPr b="1" i="1" lang="en-US"/>
              <a:t>Risk Plan:</a:t>
            </a:r>
            <a:r>
              <a:rPr lang="en-US"/>
              <a:t> it lists the identification of potential risks, their prioritization and action plans that would be taken in case of risk happening.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1"/>
          <p:cNvSpPr txBox="1"/>
          <p:nvPr>
            <p:ph type="title"/>
          </p:nvPr>
        </p:nvSpPr>
        <p:spPr>
          <a:xfrm>
            <a:off x="755650" y="260985"/>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Project Management Life Cycle</a:t>
            </a:r>
            <a:endParaRPr/>
          </a:p>
        </p:txBody>
      </p:sp>
      <p:sp>
        <p:nvSpPr>
          <p:cNvPr id="527" name="Google Shape;527;p51"/>
          <p:cNvSpPr txBox="1"/>
          <p:nvPr>
            <p:ph idx="1" type="body"/>
          </p:nvPr>
        </p:nvSpPr>
        <p:spPr>
          <a:xfrm>
            <a:off x="685800" y="1629410"/>
            <a:ext cx="7772400" cy="4114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Font typeface="Tahoma"/>
              <a:buChar char="•"/>
            </a:pPr>
            <a:r>
              <a:rPr b="1" i="1" lang="en-US"/>
              <a:t>Project execution:</a:t>
            </a:r>
            <a:endParaRPr b="1" i="1"/>
          </a:p>
          <a:p>
            <a:pPr indent="-285750" lvl="1" marL="742950" rtl="0" algn="just">
              <a:spcBef>
                <a:spcPts val="560"/>
              </a:spcBef>
              <a:spcAft>
                <a:spcPts val="0"/>
              </a:spcAft>
              <a:buClr>
                <a:schemeClr val="dk1"/>
              </a:buClr>
              <a:buSzPts val="2800"/>
              <a:buFont typeface="Tahoma"/>
              <a:buChar char="–"/>
            </a:pPr>
            <a:r>
              <a:rPr lang="en-US"/>
              <a:t>Tasks are executed as per the project plan.</a:t>
            </a:r>
            <a:endParaRPr/>
          </a:p>
          <a:p>
            <a:pPr indent="-285750" lvl="1" marL="742950" rtl="0" algn="just">
              <a:spcBef>
                <a:spcPts val="560"/>
              </a:spcBef>
              <a:spcAft>
                <a:spcPts val="0"/>
              </a:spcAft>
              <a:buClr>
                <a:schemeClr val="dk1"/>
              </a:buClr>
              <a:buSzPts val="2800"/>
              <a:buFont typeface="Tahoma"/>
              <a:buChar char="–"/>
            </a:pPr>
            <a:r>
              <a:rPr lang="en-US"/>
              <a:t>Monitoring and control processes are executed to ensure that the tasks are executed  as per plan and corrective actions are initiated whenever deviations are noticed.</a:t>
            </a:r>
            <a:endParaRPr/>
          </a:p>
          <a:p>
            <a:pPr indent="-285750" lvl="1" marL="742950" rtl="0" algn="just">
              <a:spcBef>
                <a:spcPts val="560"/>
              </a:spcBef>
              <a:spcAft>
                <a:spcPts val="0"/>
              </a:spcAft>
              <a:buClr>
                <a:schemeClr val="dk1"/>
              </a:buClr>
              <a:buSzPts val="2800"/>
              <a:buFont typeface="Tahoma"/>
              <a:buChar char="–"/>
            </a:pPr>
            <a:r>
              <a:rPr lang="en-US"/>
              <a:t>Quality of the deliverables is ensured.</a:t>
            </a:r>
            <a:endParaRPr/>
          </a:p>
          <a:p>
            <a:pPr indent="-285750" lvl="1" marL="742950" rtl="0" algn="just">
              <a:spcBef>
                <a:spcPts val="560"/>
              </a:spcBef>
              <a:spcAft>
                <a:spcPts val="0"/>
              </a:spcAft>
              <a:buClr>
                <a:schemeClr val="dk1"/>
              </a:buClr>
              <a:buSzPts val="2800"/>
              <a:buFont typeface="Tahoma"/>
              <a:buChar char="–"/>
            </a:pPr>
            <a:r>
              <a:rPr lang="en-US"/>
              <a:t>This phase completes, once all the deliverables are produced and accepted by the customers.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Project Management Life Cycle</a:t>
            </a:r>
            <a:endParaRPr/>
          </a:p>
        </p:txBody>
      </p:sp>
      <p:sp>
        <p:nvSpPr>
          <p:cNvPr id="533" name="Google Shape;533;p52"/>
          <p:cNvSpPr txBox="1"/>
          <p:nvPr>
            <p:ph idx="1" type="body"/>
          </p:nvPr>
        </p:nvSpPr>
        <p:spPr>
          <a:xfrm>
            <a:off x="683260" y="1845310"/>
            <a:ext cx="7772400" cy="41148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Font typeface="Tahoma"/>
              <a:buChar char="•"/>
            </a:pPr>
            <a:r>
              <a:rPr b="1" i="1" lang="en-US"/>
              <a:t>Project Closure:</a:t>
            </a:r>
            <a:endParaRPr b="1" i="1"/>
          </a:p>
          <a:p>
            <a:pPr indent="-285750" lvl="1" marL="742950" rtl="0" algn="just">
              <a:spcBef>
                <a:spcPts val="560"/>
              </a:spcBef>
              <a:spcAft>
                <a:spcPts val="0"/>
              </a:spcAft>
              <a:buClr>
                <a:schemeClr val="dk1"/>
              </a:buClr>
              <a:buSzPts val="2800"/>
              <a:buFont typeface="Tahoma"/>
              <a:buChar char="–"/>
            </a:pPr>
            <a:r>
              <a:rPr lang="en-US"/>
              <a:t>It involves completing the release of all required deliverables to the customer along with the necessary documentation.</a:t>
            </a:r>
            <a:endParaRPr/>
          </a:p>
          <a:p>
            <a:pPr indent="-285750" lvl="1" marL="742950" rtl="0" algn="just">
              <a:spcBef>
                <a:spcPts val="560"/>
              </a:spcBef>
              <a:spcAft>
                <a:spcPts val="0"/>
              </a:spcAft>
              <a:buClr>
                <a:schemeClr val="dk1"/>
              </a:buClr>
              <a:buSzPts val="2800"/>
              <a:buFont typeface="Tahoma"/>
              <a:buChar char="–"/>
            </a:pPr>
            <a:r>
              <a:rPr lang="en-US"/>
              <a:t>All the project resources are released, supply agreements with the vendors are terminated and all pending payments are completed.</a:t>
            </a:r>
            <a:endParaRPr/>
          </a:p>
          <a:p>
            <a:pPr indent="-285750" lvl="1" marL="742950" rtl="0" algn="just">
              <a:spcBef>
                <a:spcPts val="560"/>
              </a:spcBef>
              <a:spcAft>
                <a:spcPts val="0"/>
              </a:spcAft>
              <a:buClr>
                <a:schemeClr val="dk1"/>
              </a:buClr>
              <a:buSzPts val="2800"/>
              <a:buFont typeface="Tahoma"/>
              <a:buChar char="–"/>
            </a:pPr>
            <a:r>
              <a:rPr lang="en-US"/>
              <a:t>A post implementation review is undertaken to analyze the project performance and to list the lessons learnt for use if future projects.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Traditional vs Modern Project Management Practices</a:t>
            </a:r>
            <a:endParaRPr/>
          </a:p>
        </p:txBody>
      </p:sp>
      <p:sp>
        <p:nvSpPr>
          <p:cNvPr id="539" name="Google Shape;539;p5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Font typeface="Tahoma"/>
              <a:buChar char="•"/>
            </a:pPr>
            <a:r>
              <a:rPr lang="en-US"/>
              <a:t>There is a radical change in the basic approach taken by software industry to develop softwares over the last two decades.</a:t>
            </a:r>
            <a:endParaRPr/>
          </a:p>
          <a:p>
            <a:pPr indent="-342900" lvl="0" marL="342900" rtl="0" algn="just">
              <a:spcBef>
                <a:spcPts val="640"/>
              </a:spcBef>
              <a:spcAft>
                <a:spcPts val="0"/>
              </a:spcAft>
              <a:buClr>
                <a:schemeClr val="dk1"/>
              </a:buClr>
              <a:buSzPts val="3200"/>
              <a:buFont typeface="Tahoma"/>
              <a:buChar char="•"/>
            </a:pPr>
            <a:r>
              <a:rPr lang="en-US"/>
              <a:t>Hardly any software is being developed from scratch any more.</a:t>
            </a:r>
            <a:endParaRPr/>
          </a:p>
          <a:p>
            <a:pPr indent="-342900" lvl="0" marL="342900" rtl="0" algn="just">
              <a:spcBef>
                <a:spcPts val="640"/>
              </a:spcBef>
              <a:spcAft>
                <a:spcPts val="0"/>
              </a:spcAft>
              <a:buClr>
                <a:schemeClr val="dk1"/>
              </a:buClr>
              <a:buSzPts val="3200"/>
              <a:buFont typeface="Tahoma"/>
              <a:buChar char="•"/>
            </a:pPr>
            <a:r>
              <a:rPr lang="en-US"/>
              <a:t>Software development projects are increasingly being based on either tailoring some existing product or reusing certain pre-built libraries.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Traditional vs Modern Project Management Practices</a:t>
            </a:r>
            <a:endParaRPr/>
          </a:p>
        </p:txBody>
      </p:sp>
      <p:sp>
        <p:nvSpPr>
          <p:cNvPr id="545" name="Google Shape;545;p5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Font typeface="Tahoma"/>
              <a:buChar char="•"/>
            </a:pPr>
            <a:r>
              <a:rPr lang="en-US"/>
              <a:t>Two important goals  of recent life cycle models are maximization of code reuse and compression of project durations.</a:t>
            </a:r>
            <a:endParaRPr/>
          </a:p>
          <a:p>
            <a:pPr indent="-342900" lvl="0" marL="342900" rtl="0" algn="just">
              <a:spcBef>
                <a:spcPts val="640"/>
              </a:spcBef>
              <a:spcAft>
                <a:spcPts val="0"/>
              </a:spcAft>
              <a:buClr>
                <a:schemeClr val="dk1"/>
              </a:buClr>
              <a:buSzPts val="3200"/>
              <a:buFont typeface="Tahoma"/>
              <a:buChar char="•"/>
            </a:pPr>
            <a:r>
              <a:rPr lang="en-US"/>
              <a:t>Some other goals include</a:t>
            </a:r>
            <a:endParaRPr/>
          </a:p>
          <a:p>
            <a:pPr indent="-285750" lvl="1" marL="742950" rtl="0" algn="just">
              <a:spcBef>
                <a:spcPts val="560"/>
              </a:spcBef>
              <a:spcAft>
                <a:spcPts val="0"/>
              </a:spcAft>
              <a:buClr>
                <a:schemeClr val="dk1"/>
              </a:buClr>
              <a:buSzPts val="2800"/>
              <a:buFont typeface="Tahoma"/>
              <a:buChar char="–"/>
            </a:pPr>
            <a:r>
              <a:rPr lang="en-US"/>
              <a:t>Fascilitating client feedbacks</a:t>
            </a:r>
            <a:endParaRPr/>
          </a:p>
          <a:p>
            <a:pPr indent="-285750" lvl="1" marL="742950" rtl="0" algn="just">
              <a:spcBef>
                <a:spcPts val="560"/>
              </a:spcBef>
              <a:spcAft>
                <a:spcPts val="0"/>
              </a:spcAft>
              <a:buClr>
                <a:schemeClr val="dk1"/>
              </a:buClr>
              <a:buSzPts val="2800"/>
              <a:buFont typeface="Tahoma"/>
              <a:buChar char="–"/>
            </a:pPr>
            <a:r>
              <a:rPr lang="en-US"/>
              <a:t>Accomodating customer participation</a:t>
            </a:r>
            <a:endParaRPr/>
          </a:p>
          <a:p>
            <a:pPr indent="-285750" lvl="1" marL="742950" rtl="0" algn="just">
              <a:spcBef>
                <a:spcPts val="560"/>
              </a:spcBef>
              <a:spcAft>
                <a:spcPts val="0"/>
              </a:spcAft>
              <a:buClr>
                <a:schemeClr val="dk1"/>
              </a:buClr>
              <a:buSzPts val="2800"/>
              <a:buFont typeface="Tahoma"/>
              <a:buChar char="–"/>
            </a:pPr>
            <a:r>
              <a:rPr lang="en-US"/>
              <a:t>Incremental delivery</a:t>
            </a:r>
            <a:endParaRPr/>
          </a:p>
          <a:p>
            <a:pPr indent="-342900" lvl="0" marL="342900" rtl="0" algn="just">
              <a:spcBef>
                <a:spcPts val="640"/>
              </a:spcBef>
              <a:spcAft>
                <a:spcPts val="0"/>
              </a:spcAft>
              <a:buClr>
                <a:schemeClr val="dk1"/>
              </a:buClr>
              <a:buSzPts val="3200"/>
              <a:buFont typeface="Tahoma"/>
              <a:buChar char="•"/>
            </a:pPr>
            <a:r>
              <a:rPr lang="en-US"/>
              <a:t>Change requests form clients are encouraged, rather than circumvented.</a:t>
            </a:r>
            <a:endParaRPr/>
          </a:p>
          <a:p>
            <a:pPr indent="-139700" lvl="0" marL="342900" rtl="0" algn="just">
              <a:spcBef>
                <a:spcPts val="640"/>
              </a:spcBef>
              <a:spcAft>
                <a:spcPts val="0"/>
              </a:spcAft>
              <a:buClr>
                <a:schemeClr val="dk1"/>
              </a:buClr>
              <a:buSzPts val="3200"/>
              <a:buFont typeface="Tahoma"/>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Traditional vs Modern Project Management Practices</a:t>
            </a:r>
            <a:endParaRPr/>
          </a:p>
        </p:txBody>
      </p:sp>
      <p:sp>
        <p:nvSpPr>
          <p:cNvPr id="552" name="Google Shape;552;p5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Font typeface="Tahoma"/>
              <a:buChar char="•"/>
            </a:pPr>
            <a:r>
              <a:rPr lang="en-US"/>
              <a:t>These recent trends have changed project management practices in many ways. Some of these are [pg. 23,24,25]</a:t>
            </a:r>
            <a:endParaRPr/>
          </a:p>
          <a:p>
            <a:pPr indent="-285750" lvl="1" marL="742950" rtl="0" algn="just">
              <a:spcBef>
                <a:spcPts val="518"/>
              </a:spcBef>
              <a:spcAft>
                <a:spcPts val="0"/>
              </a:spcAft>
              <a:buClr>
                <a:schemeClr val="dk1"/>
              </a:buClr>
              <a:buSzPct val="100000"/>
              <a:buFont typeface="Tahoma"/>
              <a:buChar char="–"/>
            </a:pPr>
            <a:r>
              <a:rPr lang="en-US"/>
              <a:t>Planning Incremental Delivery</a:t>
            </a:r>
            <a:endParaRPr/>
          </a:p>
          <a:p>
            <a:pPr indent="-285750" lvl="1" marL="742950" rtl="0" algn="just">
              <a:spcBef>
                <a:spcPts val="518"/>
              </a:spcBef>
              <a:spcAft>
                <a:spcPts val="0"/>
              </a:spcAft>
              <a:buClr>
                <a:schemeClr val="dk1"/>
              </a:buClr>
              <a:buSzPct val="100000"/>
              <a:buFont typeface="Tahoma"/>
              <a:buChar char="–"/>
            </a:pPr>
            <a:r>
              <a:rPr lang="en-US"/>
              <a:t>Quality Management</a:t>
            </a:r>
            <a:endParaRPr/>
          </a:p>
          <a:p>
            <a:pPr indent="-285750" lvl="1" marL="742950" rtl="0" algn="just">
              <a:spcBef>
                <a:spcPts val="518"/>
              </a:spcBef>
              <a:spcAft>
                <a:spcPts val="0"/>
              </a:spcAft>
              <a:buClr>
                <a:schemeClr val="dk1"/>
              </a:buClr>
              <a:buSzPct val="100000"/>
              <a:buFont typeface="Tahoma"/>
              <a:buChar char="–"/>
            </a:pPr>
            <a:r>
              <a:rPr lang="en-US"/>
              <a:t>Change Management</a:t>
            </a:r>
            <a:endParaRPr/>
          </a:p>
          <a:p>
            <a:pPr indent="-285750" lvl="1" marL="742950" rtl="0" algn="just">
              <a:spcBef>
                <a:spcPts val="518"/>
              </a:spcBef>
              <a:spcAft>
                <a:spcPts val="0"/>
              </a:spcAft>
              <a:buClr>
                <a:schemeClr val="dk1"/>
              </a:buClr>
              <a:buSzPct val="100000"/>
              <a:buFont typeface="Tahoma"/>
              <a:buChar char="–"/>
            </a:pPr>
            <a:r>
              <a:rPr lang="en-US"/>
              <a:t>Requirement Management</a:t>
            </a:r>
            <a:endParaRPr/>
          </a:p>
          <a:p>
            <a:pPr indent="-285750" lvl="1" marL="742950" rtl="0" algn="just">
              <a:spcBef>
                <a:spcPts val="518"/>
              </a:spcBef>
              <a:spcAft>
                <a:spcPts val="0"/>
              </a:spcAft>
              <a:buClr>
                <a:schemeClr val="dk1"/>
              </a:buClr>
              <a:buSzPct val="100000"/>
              <a:buFont typeface="Tahoma"/>
              <a:buChar char="–"/>
            </a:pPr>
            <a:r>
              <a:rPr lang="en-US"/>
              <a:t>Release Management</a:t>
            </a:r>
            <a:endParaRPr/>
          </a:p>
          <a:p>
            <a:pPr indent="-285750" lvl="1" marL="742950" rtl="0" algn="just">
              <a:spcBef>
                <a:spcPts val="518"/>
              </a:spcBef>
              <a:spcAft>
                <a:spcPts val="0"/>
              </a:spcAft>
              <a:buClr>
                <a:schemeClr val="dk1"/>
              </a:buClr>
              <a:buSzPct val="100000"/>
              <a:buFont typeface="Tahoma"/>
              <a:buChar char="–"/>
            </a:pPr>
            <a:r>
              <a:rPr lang="en-US"/>
              <a:t>Risk Management</a:t>
            </a:r>
            <a:endParaRPr/>
          </a:p>
          <a:p>
            <a:pPr indent="-285750" lvl="1" marL="742950" rtl="0" algn="just">
              <a:spcBef>
                <a:spcPts val="518"/>
              </a:spcBef>
              <a:spcAft>
                <a:spcPts val="0"/>
              </a:spcAft>
              <a:buClr>
                <a:schemeClr val="dk1"/>
              </a:buClr>
              <a:buSzPct val="100000"/>
              <a:buFont typeface="Tahoma"/>
              <a:buChar char="–"/>
            </a:pPr>
            <a:r>
              <a:rPr lang="en-US"/>
              <a:t>Scope Management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F6D5"/>
        </a:solidFill>
      </p:bgPr>
    </p:bg>
    <p:spTree>
      <p:nvGrpSpPr>
        <p:cNvPr id="556" name="Shape 556"/>
        <p:cNvGrpSpPr/>
        <p:nvPr/>
      </p:nvGrpSpPr>
      <p:grpSpPr>
        <a:xfrm>
          <a:off x="0" y="0"/>
          <a:ext cx="0" cy="0"/>
          <a:chOff x="0" y="0"/>
          <a:chExt cx="0" cy="0"/>
        </a:xfrm>
      </p:grpSpPr>
      <p:sp>
        <p:nvSpPr>
          <p:cNvPr id="557" name="Google Shape;557;p56"/>
          <p:cNvSpPr txBox="1"/>
          <p:nvPr>
            <p:ph idx="12" type="sldNum"/>
          </p:nvPr>
        </p:nvSpPr>
        <p:spPr>
          <a:xfrm>
            <a:off x="3352800" y="6324600"/>
            <a:ext cx="2286000" cy="381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lt1"/>
              </a:buClr>
              <a:buSzPts val="1400"/>
              <a:buFont typeface="Times New Roman"/>
              <a:buNone/>
            </a:pPr>
            <a:fld id="{00000000-1234-1234-1234-123412341234}" type="slidenum">
              <a:rPr lang="en-US" sz="1400">
                <a:solidFill>
                  <a:schemeClr val="lt1"/>
                </a:solidFill>
                <a:latin typeface="Times New Roman"/>
                <a:ea typeface="Times New Roman"/>
                <a:cs typeface="Times New Roman"/>
                <a:sym typeface="Times New Roman"/>
              </a:rPr>
              <a:t>‹#›</a:t>
            </a:fld>
            <a:endParaRPr sz="1400">
              <a:solidFill>
                <a:schemeClr val="lt1"/>
              </a:solidFill>
              <a:latin typeface="Times New Roman"/>
              <a:ea typeface="Times New Roman"/>
              <a:cs typeface="Times New Roman"/>
              <a:sym typeface="Times New Roman"/>
            </a:endParaRPr>
          </a:p>
        </p:txBody>
      </p:sp>
      <p:sp>
        <p:nvSpPr>
          <p:cNvPr id="558" name="Google Shape;558;p56"/>
          <p:cNvSpPr txBox="1"/>
          <p:nvPr>
            <p:ph type="title"/>
          </p:nvPr>
        </p:nvSpPr>
        <p:spPr>
          <a:xfrm>
            <a:off x="684213" y="18891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Key points in lecture</a:t>
            </a:r>
            <a:endParaRPr u="sng"/>
          </a:p>
        </p:txBody>
      </p:sp>
      <p:sp>
        <p:nvSpPr>
          <p:cNvPr id="559" name="Google Shape;559;p56"/>
          <p:cNvSpPr txBox="1"/>
          <p:nvPr>
            <p:ph idx="1" type="body"/>
          </p:nvPr>
        </p:nvSpPr>
        <p:spPr>
          <a:xfrm>
            <a:off x="395288" y="1412875"/>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Tahoma"/>
              <a:buChar char="•"/>
            </a:pPr>
            <a:r>
              <a:rPr lang="en-US" sz="2800"/>
              <a:t>Projects are non-routine - thus uncertain</a:t>
            </a:r>
            <a:endParaRPr sz="2800"/>
          </a:p>
          <a:p>
            <a:pPr indent="-342900" lvl="0" marL="342900" rtl="0" algn="l">
              <a:spcBef>
                <a:spcPts val="180"/>
              </a:spcBef>
              <a:spcAft>
                <a:spcPts val="0"/>
              </a:spcAft>
              <a:buClr>
                <a:schemeClr val="dk1"/>
              </a:buClr>
              <a:buSzPts val="900"/>
              <a:buFont typeface="Tahoma"/>
              <a:buNone/>
            </a:pPr>
            <a:r>
              <a:t/>
            </a:r>
            <a:endParaRPr sz="900"/>
          </a:p>
          <a:p>
            <a:pPr indent="-342900" lvl="0" marL="342900" rtl="0" algn="l">
              <a:spcBef>
                <a:spcPts val="560"/>
              </a:spcBef>
              <a:spcAft>
                <a:spcPts val="0"/>
              </a:spcAft>
              <a:buClr>
                <a:schemeClr val="dk1"/>
              </a:buClr>
              <a:buSzPts val="2800"/>
              <a:buFont typeface="Tahoma"/>
              <a:buChar char="•"/>
            </a:pPr>
            <a:r>
              <a:rPr lang="en-US" sz="2800"/>
              <a:t>The particular problems of projects e.g.  lack of visibility</a:t>
            </a:r>
            <a:endParaRPr sz="2800"/>
          </a:p>
          <a:p>
            <a:pPr indent="-342900" lvl="0" marL="342900" rtl="0" algn="l">
              <a:spcBef>
                <a:spcPts val="180"/>
              </a:spcBef>
              <a:spcAft>
                <a:spcPts val="0"/>
              </a:spcAft>
              <a:buClr>
                <a:schemeClr val="dk1"/>
              </a:buClr>
              <a:buSzPts val="900"/>
              <a:buFont typeface="Tahoma"/>
              <a:buNone/>
            </a:pPr>
            <a:r>
              <a:t/>
            </a:r>
            <a:endParaRPr sz="900"/>
          </a:p>
          <a:p>
            <a:pPr indent="-342900" lvl="0" marL="342900" rtl="0" algn="l">
              <a:spcBef>
                <a:spcPts val="560"/>
              </a:spcBef>
              <a:spcAft>
                <a:spcPts val="0"/>
              </a:spcAft>
              <a:buClr>
                <a:schemeClr val="dk1"/>
              </a:buClr>
              <a:buSzPts val="2800"/>
              <a:buFont typeface="Tahoma"/>
              <a:buChar char="•"/>
            </a:pPr>
            <a:r>
              <a:rPr lang="en-US" sz="2800"/>
              <a:t>Clear objectives are essential which can be objectively assessed</a:t>
            </a:r>
            <a:endParaRPr sz="2800"/>
          </a:p>
          <a:p>
            <a:pPr indent="-342900" lvl="0" marL="342900" rtl="0" algn="l">
              <a:spcBef>
                <a:spcPts val="180"/>
              </a:spcBef>
              <a:spcAft>
                <a:spcPts val="0"/>
              </a:spcAft>
              <a:buClr>
                <a:schemeClr val="dk1"/>
              </a:buClr>
              <a:buSzPts val="900"/>
              <a:buFont typeface="Tahoma"/>
              <a:buNone/>
            </a:pPr>
            <a:r>
              <a:t/>
            </a:r>
            <a:endParaRPr sz="900"/>
          </a:p>
          <a:p>
            <a:pPr indent="-342900" lvl="0" marL="342900" rtl="0" algn="l">
              <a:spcBef>
                <a:spcPts val="560"/>
              </a:spcBef>
              <a:spcAft>
                <a:spcPts val="0"/>
              </a:spcAft>
              <a:buClr>
                <a:schemeClr val="dk1"/>
              </a:buClr>
              <a:buSzPts val="2800"/>
              <a:buFont typeface="Tahoma"/>
              <a:buChar char="•"/>
            </a:pPr>
            <a:r>
              <a:rPr lang="en-US" sz="2800"/>
              <a:t>Stuff happens. Not usually possible to keep precisely plan – need for control</a:t>
            </a:r>
            <a:endParaRPr sz="2800"/>
          </a:p>
          <a:p>
            <a:pPr indent="-342900" lvl="0" marL="342900" rtl="0" algn="l">
              <a:spcBef>
                <a:spcPts val="180"/>
              </a:spcBef>
              <a:spcAft>
                <a:spcPts val="0"/>
              </a:spcAft>
              <a:buClr>
                <a:schemeClr val="dk1"/>
              </a:buClr>
              <a:buSzPts val="900"/>
              <a:buFont typeface="Tahoma"/>
              <a:buNone/>
            </a:pPr>
            <a:r>
              <a:t/>
            </a:r>
            <a:endParaRPr sz="900"/>
          </a:p>
          <a:p>
            <a:pPr indent="-342900" lvl="0" marL="342900" rtl="0" algn="l">
              <a:spcBef>
                <a:spcPts val="560"/>
              </a:spcBef>
              <a:spcAft>
                <a:spcPts val="0"/>
              </a:spcAft>
              <a:buClr>
                <a:schemeClr val="dk1"/>
              </a:buClr>
              <a:buSzPts val="2800"/>
              <a:buFont typeface="Tahoma"/>
              <a:buChar char="•"/>
            </a:pPr>
            <a:r>
              <a:rPr lang="en-US" sz="2800"/>
              <a:t>Communicate, communicate, communicate!</a:t>
            </a:r>
            <a:endParaRPr sz="28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7"/>
          <p:cNvSpPr txBox="1"/>
          <p:nvPr>
            <p:ph type="title"/>
          </p:nvPr>
        </p:nvSpPr>
        <p:spPr>
          <a:xfrm>
            <a:off x="683895" y="332740"/>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u="sng"/>
              <a:t>Readings</a:t>
            </a:r>
            <a:endParaRPr u="sng"/>
          </a:p>
        </p:txBody>
      </p:sp>
      <p:sp>
        <p:nvSpPr>
          <p:cNvPr id="565" name="Google Shape;565;p57"/>
          <p:cNvSpPr txBox="1"/>
          <p:nvPr>
            <p:ph idx="1" type="body"/>
          </p:nvPr>
        </p:nvSpPr>
        <p:spPr>
          <a:xfrm>
            <a:off x="685800" y="1701165"/>
            <a:ext cx="7772400" cy="41148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Font typeface="Tahoma"/>
              <a:buChar char="•"/>
            </a:pPr>
            <a:r>
              <a:rPr lang="en-US"/>
              <a:t>[Chapter 1] Software Project Management by Bob Hughes and Mike Cotterell, McGraw-Hill Education; 6th Edition (2009). ISBN-10: 0077122798</a:t>
            </a:r>
            <a:endParaRPr/>
          </a:p>
          <a:p>
            <a:pPr indent="-342900" lvl="0" marL="342900" rtl="0" algn="just">
              <a:spcBef>
                <a:spcPts val="640"/>
              </a:spcBef>
              <a:spcAft>
                <a:spcPts val="0"/>
              </a:spcAft>
              <a:buClr>
                <a:schemeClr val="dk1"/>
              </a:buClr>
              <a:buSzPts val="3200"/>
              <a:buFont typeface="Tahoma"/>
              <a:buChar char="•"/>
            </a:pPr>
            <a:r>
              <a:rPr lang="en-US"/>
              <a:t>[1] F. P. Brooks (1987). “No silver Bullet: essence and accidents of software engineering ”. This essay has been icluded in </a:t>
            </a:r>
            <a:r>
              <a:rPr i="1" lang="en-US"/>
              <a:t>THE MYTHICAL MAN-MONTH</a:t>
            </a:r>
            <a:r>
              <a:rPr lang="en-US"/>
              <a:t>, Anniversarary Edition, Addison Wesely, 1995.</a:t>
            </a:r>
            <a:endParaRPr/>
          </a:p>
          <a:p>
            <a:pPr indent="-139700" lvl="0" marL="342900" rtl="0" algn="just">
              <a:spcBef>
                <a:spcPts val="640"/>
              </a:spcBef>
              <a:spcAft>
                <a:spcPts val="0"/>
              </a:spcAft>
              <a:buClr>
                <a:schemeClr val="dk1"/>
              </a:buClr>
              <a:buSzPts val="3200"/>
              <a:buFont typeface="Tahoma"/>
              <a:buNone/>
            </a:pPr>
            <a:r>
              <a:t/>
            </a:r>
            <a:endParaRPr/>
          </a:p>
          <a:p>
            <a:pPr indent="-139700" lvl="0" marL="342900" rtl="0" algn="just">
              <a:spcBef>
                <a:spcPts val="640"/>
              </a:spcBef>
              <a:spcAft>
                <a:spcPts val="0"/>
              </a:spcAft>
              <a:buClr>
                <a:schemeClr val="dk1"/>
              </a:buClr>
              <a:buSzPts val="3200"/>
              <a:buFont typeface="Tahoma"/>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McGraw-Hill Presentation for PowerPoint">
  <a:themeElements>
    <a:clrScheme name="">
      <a:dk1>
        <a:srgbClr val="000033"/>
      </a:dk1>
      <a:lt1>
        <a:srgbClr val="CCCCFF"/>
      </a:lt1>
      <a:dk2>
        <a:srgbClr val="000066"/>
      </a:dk2>
      <a:lt2>
        <a:srgbClr val="CCCCFF"/>
      </a:lt2>
      <a:accent1>
        <a:srgbClr val="003399"/>
      </a:accent1>
      <a:accent2>
        <a:srgbClr val="CCCCFF"/>
      </a:accent2>
      <a:accent3>
        <a:srgbClr val="AAAAB8"/>
      </a:accent3>
      <a:accent4>
        <a:srgbClr val="AEAEDA"/>
      </a:accent4>
      <a:accent5>
        <a:srgbClr val="AAADCA"/>
      </a:accent5>
      <a:accent6>
        <a:srgbClr val="B9B9E7"/>
      </a:accent6>
      <a:hlink>
        <a:srgbClr val="CCCCFF"/>
      </a:hlink>
      <a:folHlink>
        <a:srgbClr val="CCC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cGraw-Hill Presentation for PowerPoint">
  <a:themeElements>
    <a:clrScheme name="">
      <a:dk1>
        <a:srgbClr val="000033"/>
      </a:dk1>
      <a:lt1>
        <a:srgbClr val="CCCCFF"/>
      </a:lt1>
      <a:dk2>
        <a:srgbClr val="000066"/>
      </a:dk2>
      <a:lt2>
        <a:srgbClr val="CCCCFF"/>
      </a:lt2>
      <a:accent1>
        <a:srgbClr val="003399"/>
      </a:accent1>
      <a:accent2>
        <a:srgbClr val="CCCCFF"/>
      </a:accent2>
      <a:accent3>
        <a:srgbClr val="AAAAB8"/>
      </a:accent3>
      <a:accent4>
        <a:srgbClr val="AEAEDA"/>
      </a:accent4>
      <a:accent5>
        <a:srgbClr val="AAADCA"/>
      </a:accent5>
      <a:accent6>
        <a:srgbClr val="B9B9E7"/>
      </a:accent6>
      <a:hlink>
        <a:srgbClr val="CCCCFF"/>
      </a:hlink>
      <a:folHlink>
        <a:srgbClr val="CCC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2005-07-08T09:37:00Z</dcterms:created>
  <dc:creator>Bob Hughes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F511DCF155C94C349D5DAD205A2AF206_13</vt:lpwstr>
  </property>
  <property fmtid="{D5CDD505-2E9C-101B-9397-08002B2CF9AE}" pid="3" name="KSOProductBuildVer">
    <vt:lpwstr>1033-12.2.0.17562</vt:lpwstr>
  </property>
</Properties>
</file>