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YoWWE5zCDRcqKQVfDxvSO24Oy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enturyGothic-bold.fntdata"/><Relationship Id="rId6" Type="http://schemas.openxmlformats.org/officeDocument/2006/relationships/slide" Target="slides/slide2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8" name="Google Shape;38;p18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39" name="Google Shape;39;p1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6" name="Google Shape;46;p19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4" name="Google Shape;64;p2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3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3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23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24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8" name="Google Shape;78;p2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4" name="Google Shape;84;p2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6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0" name="Google Shape;90;p26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2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26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5" name="Google Shape;95;p26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7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7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28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6" name="Google Shape;106;p28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7" name="Google Shape;107;p28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08" name="Google Shape;108;p28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28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0" name="Google Shape;110;p28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28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8" name="Google Shape;118;p29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29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0" name="Google Shape;120;p29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1" name="Google Shape;121;p29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29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3" name="Google Shape;123;p29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4" name="Google Shape;124;p29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29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26" name="Google Shape;126;p29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29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2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31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3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7.xml"/><Relationship Id="rId23" Type="http://schemas.openxmlformats.org/officeDocument/2006/relationships/theme" Target="../theme/theme1.xml"/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4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4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4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4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4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1568402" y="2456405"/>
            <a:ext cx="9144000" cy="19451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</a:pPr>
            <a:r>
              <a:rPr b="1" i="1" lang="en-US" sz="3200"/>
              <a:t>CS2009-Design and Analysis of Algorithms</a:t>
            </a:r>
            <a:br>
              <a:rPr b="1" i="1" lang="en-US" sz="3200"/>
            </a:br>
            <a:r>
              <a:rPr b="1" i="1" lang="en-US" sz="3200"/>
              <a:t>Lecture 2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1111202" y="4537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COURSE SUPERVISOR: ANAUM HAMID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82902" y="1257685"/>
            <a:ext cx="57150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Suppose computers were infinitely fast and computer memory was free. Would you have any reason to study algorithms ?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161" name="Google Shape;161;p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Yes, because if no issue with time and space then what about correctness of algorithm to solve given problem !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167" name="Google Shape;167;p4"/>
          <p:cNvSpPr txBox="1"/>
          <p:nvPr>
            <p:ph idx="1" type="body"/>
          </p:nvPr>
        </p:nvSpPr>
        <p:spPr>
          <a:xfrm>
            <a:off x="2407298" y="2084459"/>
            <a:ext cx="7377404" cy="4241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Computers may be fast, but they are not infinitely fast. And memory may be inexpensive, but it is not free.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Computing time is, therefore, a bounded resource, and so is space in memory. You should use these resources wisely, and algorithms that are efficient in terms of time or space will help you do so.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173" name="Google Shape;173;p5"/>
          <p:cNvSpPr txBox="1"/>
          <p:nvPr>
            <p:ph idx="1" type="body"/>
          </p:nvPr>
        </p:nvSpPr>
        <p:spPr>
          <a:xfrm>
            <a:off x="2391747" y="2014194"/>
            <a:ext cx="7629331" cy="42510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 </a:t>
            </a:r>
            <a:r>
              <a:rPr lang="en-US" sz="2400"/>
              <a:t>Different algorithms devised to solve the same problem often differ dramatically in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their efficiency. These differences can be much more significant than differences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Char char="►"/>
            </a:pPr>
            <a:r>
              <a:rPr lang="en-US" sz="2400"/>
              <a:t>due to hardware and software.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 Example two different algorithms for sorting: Merge Sort and Insertion sort. Which is better in terms of time! Let’s discuss.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2400"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1259632" y="2208556"/>
            <a:ext cx="9672735" cy="2954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 </a:t>
            </a:r>
            <a:r>
              <a:rPr lang="en-US" sz="2400"/>
              <a:t>Suppose Insertion Sort takes time =   (c1 x n x n) = ( c1 x n^2 )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 Suppose Merge Sort takes time = ( c2 x n x log n )</a:t>
            </a:r>
            <a:endParaRPr/>
          </a:p>
          <a:p>
            <a:pPr indent="-22098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920"/>
              <a:buFont typeface="Noto Sans Symbols"/>
              <a:buChar char="❖"/>
            </a:pPr>
            <a:r>
              <a:rPr lang="en-US" sz="2400"/>
              <a:t>Which time is better ? Consider c1 &lt; c2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185" name="Google Shape;185;p7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 Then we see that where insertion sort has a factor of “n” in its running time, merge sort has a factor of “log n”, which is much smaller. (For example, when n = 1000, log n is approximately 10)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So merge sort is faster than insertion sort.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/>
              <a:t> Although insertion sort usually runs faster than merge sort for small input sizes, once the input size “n” becomes large enough, merge sort’s advantage of “log n”  vs. “ n” will more than compensate for the difference in constant factors. No matter how much smaller c1 is than c2, there will always be a crossover point beyond which merge sort is faster.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191" name="Google Shape;191;p8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Algorithm execution on Faster vs. Slower machine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 Let us put a faster computer (computer A) running insertion sort against a slower computer (computer B) running merge sort. They each must sort an array of 10 million numbers. (Although 10 million numbers might seem like a lot, if the numbers are eight-byte integers, then the input occupies about 80 megabytes, which fits in the memory of even an inexpensive laptop computer many times over)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197" name="Google Shape;197;p9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 Suppose that computer A executes 10 billion instructions per second (faster than any single sequential computer at the time of this writing) and computer B executes only 10 million instructions per second, so that computer A is 1000 times faster than computer B in raw computing power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To make the difference even more dramatic, suppose that the world’s craftiest programmer codes insertion sort in machine language for computer A, and the resulting code requires “2xn^2” instructions to sort n numbers. Suppose further that just an average programmer implements merge sort, using a high-level language with an inefficient compiler, with the resulting code taking “50 x n x log n” instructions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203" name="Google Shape;203;p1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 To sort 10 million numbers, computer A (faster computer) takes :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To sort 10 million numbers, computer B (slower computer) takes :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04" name="Google Shape;20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3493" y="2452919"/>
            <a:ext cx="5162550" cy="976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5880" y="4336779"/>
            <a:ext cx="5057775" cy="960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</a:pPr>
            <a:r>
              <a:rPr lang="en-US"/>
              <a:t>Algorithms as a Technology</a:t>
            </a:r>
            <a:endParaRPr/>
          </a:p>
        </p:txBody>
      </p:sp>
      <p:sp>
        <p:nvSpPr>
          <p:cNvPr id="211" name="Google Shape;211;p1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ct val="80000"/>
              <a:buFont typeface="Noto Sans Symbols"/>
              <a:buChar char="❖"/>
            </a:pPr>
            <a:r>
              <a:rPr lang="en-US"/>
              <a:t>  </a:t>
            </a:r>
            <a:r>
              <a:rPr lang="en-US" u="sng"/>
              <a:t>Result</a:t>
            </a:r>
            <a:r>
              <a:rPr lang="en-US"/>
              <a:t> 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By using an algorithm whose running time grows more slowly, even with a poor compiler, computer B (slower computer) runs more than 17 times faster than computer A!</a:t>
            </a:r>
            <a:endParaRPr/>
          </a:p>
          <a:p>
            <a:pPr indent="-248920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The advantage of merge sort is even more pronounced </a:t>
            </a:r>
            <a:r>
              <a:rPr b="1" lang="en-US"/>
              <a:t>when we sort 100 million numbers</a:t>
            </a:r>
            <a:r>
              <a:rPr lang="en-US"/>
              <a:t>: where </a:t>
            </a:r>
            <a:r>
              <a:rPr b="1" lang="en-US"/>
              <a:t>insertion sort takes more than 23 days</a:t>
            </a:r>
            <a:r>
              <a:rPr lang="en-US"/>
              <a:t>, </a:t>
            </a:r>
            <a:r>
              <a:rPr b="1" lang="en-US"/>
              <a:t>merge sort takes under 4 hours</a:t>
            </a:r>
            <a:r>
              <a:rPr lang="en-US"/>
              <a:t>. In general, as the problem size increases, so does the relative advantage of merge sort.</a:t>
            </a:r>
            <a:endParaRPr/>
          </a:p>
          <a:p>
            <a:pPr indent="-248920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US"/>
              <a:t>This is how slower machine can perform better than faster machine when algorithm running on slower machine is better than the algorithm running on faster machine for same problem.</a:t>
            </a:r>
            <a:endParaRPr/>
          </a:p>
          <a:p>
            <a:pPr indent="-248920" lvl="0" marL="342900" rtl="0" algn="l"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 txBox="1"/>
          <p:nvPr>
            <p:ph type="title"/>
          </p:nvPr>
        </p:nvSpPr>
        <p:spPr>
          <a:xfrm>
            <a:off x="7064082" y="642594"/>
            <a:ext cx="44729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Gothic"/>
              <a:buNone/>
            </a:pPr>
            <a:r>
              <a:rPr lang="en-US" sz="3000"/>
              <a:t>TASK: To be completed by next class</a:t>
            </a:r>
            <a:endParaRPr sz="3000"/>
          </a:p>
        </p:txBody>
      </p:sp>
      <p:sp>
        <p:nvSpPr>
          <p:cNvPr id="217" name="Google Shape;217;p12"/>
          <p:cNvSpPr txBox="1"/>
          <p:nvPr>
            <p:ph idx="1" type="body"/>
          </p:nvPr>
        </p:nvSpPr>
        <p:spPr>
          <a:xfrm>
            <a:off x="7064082" y="2103120"/>
            <a:ext cx="4472922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❖"/>
            </a:pPr>
            <a:r>
              <a:rPr lang="en-US"/>
              <a:t>  </a:t>
            </a:r>
            <a:r>
              <a:rPr lang="en-US" u="sng"/>
              <a:t>Comparison of running times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600"/>
              <a:buChar char="►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For each function f (n) and time t in the following table, determine the largest size n of a problem that can be solved in time t, if the algorithm to solve the problem takes f(n) microseconds.</a:t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241300" lvl="0" marL="34290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pic>
        <p:nvPicPr>
          <p:cNvPr id="218" name="Google Shape;2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654" y="2100321"/>
            <a:ext cx="5367165" cy="2670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9025" y="970876"/>
            <a:ext cx="9834300" cy="47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2020-08-30T07:35:06Z</dcterms:created>
  <dc:creator>sohail afzal</dc:creator>
</cp:coreProperties>
</file>