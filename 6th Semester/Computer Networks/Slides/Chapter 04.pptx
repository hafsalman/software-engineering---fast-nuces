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76"/>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195" r:id="rId14"/>
    <p:sldId id="1199" r:id="rId15"/>
    <p:sldId id="1200" r:id="rId16"/>
    <p:sldId id="1201" r:id="rId17"/>
    <p:sldId id="1202" r:id="rId18"/>
    <p:sldId id="1061" r:id="rId19"/>
    <p:sldId id="1076" r:id="rId20"/>
    <p:sldId id="1077" r:id="rId21"/>
    <p:sldId id="1078" r:id="rId22"/>
    <p:sldId id="1079" r:id="rId23"/>
    <p:sldId id="1080" r:id="rId24"/>
    <p:sldId id="1215" r:id="rId25"/>
    <p:sldId id="1241" r:id="rId26"/>
    <p:sldId id="1081" r:id="rId27"/>
    <p:sldId id="1213" r:id="rId28"/>
    <p:sldId id="1082" r:id="rId29"/>
    <p:sldId id="1083" r:id="rId30"/>
    <p:sldId id="1084" r:id="rId31"/>
    <p:sldId id="1085" r:id="rId32"/>
    <p:sldId id="1086" r:id="rId33"/>
    <p:sldId id="1087" r:id="rId34"/>
    <p:sldId id="1088" r:id="rId35"/>
    <p:sldId id="1089" r:id="rId36"/>
    <p:sldId id="1090" r:id="rId37"/>
    <p:sldId id="1091" r:id="rId38"/>
    <p:sldId id="1093" r:id="rId39"/>
    <p:sldId id="1092" r:id="rId40"/>
    <p:sldId id="1095" r:id="rId41"/>
    <p:sldId id="1096" r:id="rId42"/>
    <p:sldId id="1098" r:id="rId43"/>
    <p:sldId id="1214" r:id="rId44"/>
    <p:sldId id="1097" r:id="rId45"/>
    <p:sldId id="1104" r:id="rId46"/>
    <p:sldId id="1099" r:id="rId47"/>
    <p:sldId id="1100" r:id="rId48"/>
    <p:sldId id="1102" r:id="rId49"/>
    <p:sldId id="1101" r:id="rId50"/>
    <p:sldId id="1103" r:id="rId51"/>
    <p:sldId id="1105" r:id="rId52"/>
    <p:sldId id="1107" r:id="rId53"/>
    <p:sldId id="1108" r:id="rId54"/>
    <p:sldId id="1109" r:id="rId55"/>
    <p:sldId id="1218" r:id="rId56"/>
    <p:sldId id="1216" r:id="rId57"/>
    <p:sldId id="1239" r:id="rId58"/>
    <p:sldId id="1240" r:id="rId59"/>
    <p:sldId id="1111" r:id="rId60"/>
    <p:sldId id="1112" r:id="rId61"/>
    <p:sldId id="1113" r:id="rId62"/>
    <p:sldId id="1114" r:id="rId63"/>
    <p:sldId id="1115" r:id="rId64"/>
    <p:sldId id="1116" r:id="rId65"/>
    <p:sldId id="1117" r:id="rId66"/>
    <p:sldId id="1118" r:id="rId67"/>
    <p:sldId id="1194" r:id="rId68"/>
    <p:sldId id="1119" r:id="rId69"/>
    <p:sldId id="1192" r:id="rId70"/>
    <p:sldId id="1220" r:id="rId71"/>
    <p:sldId id="1120" r:id="rId72"/>
    <p:sldId id="1121" r:id="rId73"/>
    <p:sldId id="1221" r:id="rId74"/>
    <p:sldId id="1222" r:id="rId7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9252"/>
    <p:restoredTop sz="94364" autoAdjust="0"/>
  </p:normalViewPr>
  <p:slideViewPr>
    <p:cSldViewPr snapToGrid="0" snapToObjects="1">
      <p:cViewPr varScale="1">
        <p:scale>
          <a:sx n="68" d="100"/>
          <a:sy n="68" d="100"/>
        </p:scale>
        <p:origin x="234" y="72"/>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16" Type="http://schemas.openxmlformats.org/officeDocument/2006/relationships/slide" Target="slides/slide1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theme" Target="theme/theme1.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1/25/2025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middleboxes (and Internet arch), Net neutrality, buffering …</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8.2 (July 2023), changes from 8.0:</a:t>
            </a:r>
          </a:p>
          <a:p>
            <a:pPr marL="171450" indent="-171450">
              <a:buFont typeface="Arial" panose="020B0604020202020204" pitchFamily="34" charset="0"/>
              <a:buChar char="•"/>
            </a:pPr>
            <a:r>
              <a:rPr lang="en-US" dirty="0"/>
              <a:t>some minor updates (e.g., IPv6 stats updated) but not much has changed.</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a:t>
            </a:fld>
            <a:endParaRPr lang="en-US" dirty="0"/>
          </a:p>
        </p:txBody>
      </p:sp>
    </p:spTree>
    <p:extLst>
      <p:ext uri="{BB962C8B-B14F-4D97-AF65-F5344CB8AC3E}">
        <p14:creationId xmlns:p14="http://schemas.microsoft.com/office/powerpoint/2010/main" val="291036230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a:t>
            </a:fld>
            <a:endParaRPr lang="en-US" dirty="0"/>
          </a:p>
        </p:txBody>
      </p:sp>
    </p:spTree>
    <p:extLst>
      <p:ext uri="{BB962C8B-B14F-4D97-AF65-F5344CB8AC3E}">
        <p14:creationId xmlns:p14="http://schemas.microsoft.com/office/powerpoint/2010/main" val="333428369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a:t>
            </a:fld>
            <a:endParaRPr lang="en-US" dirty="0"/>
          </a:p>
        </p:txBody>
      </p:sp>
    </p:spTree>
    <p:extLst>
      <p:ext uri="{BB962C8B-B14F-4D97-AF65-F5344CB8AC3E}">
        <p14:creationId xmlns:p14="http://schemas.microsoft.com/office/powerpoint/2010/main" val="156474343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45</a:t>
            </a:fld>
            <a:endParaRPr lang="en-US" dirty="0"/>
          </a:p>
        </p:txBody>
      </p:sp>
    </p:spTree>
    <p:extLst>
      <p:ext uri="{BB962C8B-B14F-4D97-AF65-F5344CB8AC3E}">
        <p14:creationId xmlns:p14="http://schemas.microsoft.com/office/powerpoint/2010/main" val="257439433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59</a:t>
            </a:fld>
            <a:endParaRPr lang="en-US" dirty="0"/>
          </a:p>
        </p:txBody>
      </p:sp>
    </p:spTree>
    <p:extLst>
      <p:ext uri="{BB962C8B-B14F-4D97-AF65-F5344CB8AC3E}">
        <p14:creationId xmlns:p14="http://schemas.microsoft.com/office/powerpoint/2010/main" val="224179991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70</a:t>
            </a:fld>
            <a:endParaRPr lang="en-US" dirty="0"/>
          </a:p>
        </p:txBody>
      </p:sp>
    </p:spTree>
    <p:extLst>
      <p:ext uri="{BB962C8B-B14F-4D97-AF65-F5344CB8AC3E}">
        <p14:creationId xmlns:p14="http://schemas.microsoft.com/office/powerpoint/2010/main" val="156977969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3.xml"/><Relationship Id="rId1" Type="http://schemas.openxmlformats.org/officeDocument/2006/relationships/slideLayout" Target="../slideLayouts/slideLayout3.xml"/><Relationship Id="rId5" Type="http://schemas.openxmlformats.org/officeDocument/2006/relationships/image" Target="../media/image30.png"/><Relationship Id="rId4" Type="http://schemas.openxmlformats.org/officeDocument/2006/relationships/image" Target="../media/image29.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2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31.png"/><Relationship Id="rId7" Type="http://schemas.openxmlformats.org/officeDocument/2006/relationships/image" Target="../media/image9.png"/><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3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4.xml"/><Relationship Id="rId1" Type="http://schemas.openxmlformats.org/officeDocument/2006/relationships/slideLayout" Target="../slideLayouts/slideLayout2.xml"/><Relationship Id="rId4" Type="http://schemas.openxmlformats.org/officeDocument/2006/relationships/image" Target="../media/image35.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6.xml"/><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3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7.xml"/><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5.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6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6.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r>
              <a:rPr lang="en-US" altLang="en-US" sz="3200" dirty="0">
                <a:ea typeface="ＭＳ Ｐゴシック" panose="020B0600070205080204" pitchFamily="34" charset="-128"/>
                <a:cs typeface="ＭＳ Ｐゴシック" panose="020B0600070205080204" pitchFamily="34" charset="-128"/>
              </a:rPr>
              <a:t>Generalized Forwarding, SDN</a:t>
            </a:r>
          </a:p>
          <a:p>
            <a:pPr lvl="1">
              <a:spcBef>
                <a:spcPts val="0"/>
              </a:spcBef>
            </a:pPr>
            <a:r>
              <a:rPr lang="en-US" altLang="en-US" sz="2800" dirty="0">
                <a:ea typeface="ＭＳ Ｐゴシック" panose="020B0600070205080204" pitchFamily="34" charset="-128"/>
              </a:rPr>
              <a:t>Match+action</a:t>
            </a:r>
          </a:p>
          <a:p>
            <a:pPr lvl="1">
              <a:spcBef>
                <a:spcPts val="0"/>
              </a:spcBef>
            </a:pPr>
            <a:r>
              <a:rPr lang="en-US" altLang="en-US" sz="2800" dirty="0">
                <a:ea typeface="ＭＳ Ｐゴシック" panose="020B0600070205080204" pitchFamily="34" charset="-128"/>
              </a:rPr>
              <a:t>OpenFlow: match+action in action</a:t>
            </a:r>
          </a:p>
          <a:p>
            <a:pPr marL="407988" indent="-277813">
              <a:spcBef>
                <a:spcPts val="600"/>
              </a:spcBef>
            </a:pPr>
            <a:r>
              <a:rPr lang="en-US" altLang="en-US" sz="3200" dirty="0">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a:t>
            </a:r>
          </a:p>
          <a:p>
            <a:pPr lvl="1">
              <a:spcBef>
                <a:spcPts val="0"/>
              </a:spcBef>
            </a:pPr>
            <a:r>
              <a:rPr lang="en-US" altLang="en-US" sz="2800" dirty="0">
                <a:ea typeface="ＭＳ Ｐゴシック" panose="020B0600070205080204" pitchFamily="34" charset="-128"/>
                <a:cs typeface="Arial" panose="020B0604020202020204" pitchFamily="34" charset="0"/>
              </a:rPr>
              <a:t>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msec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22</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57422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23</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1055232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2" name="Content Placeholder 3">
            <a:extLst>
              <a:ext uri="{FF2B5EF4-FFF2-40B4-BE49-F238E27FC236}">
                <a16:creationId xmlns:a16="http://schemas.microsoft.com/office/drawing/2014/main" id="{3FB6CE70-05A6-7C11-5670-397D45F035A1}"/>
              </a:ext>
            </a:extLst>
          </p:cNvPr>
          <p:cNvSpPr>
            <a:spLocks noGrp="1" noChangeArrowheads="1"/>
          </p:cNvSpPr>
          <p:nvPr>
            <p:ph sz="half" idx="2"/>
          </p:nvPr>
        </p:nvSpPr>
        <p:spPr/>
        <p:txBody>
          <a:bodyPr/>
          <a:lstStyle/>
          <a:p>
            <a:endParaRPr lang="en-US" altLang="en-US"/>
          </a:p>
        </p:txBody>
      </p:sp>
      <p:pic>
        <p:nvPicPr>
          <p:cNvPr id="27653" name="Picture 4">
            <a:extLst>
              <a:ext uri="{FF2B5EF4-FFF2-40B4-BE49-F238E27FC236}">
                <a16:creationId xmlns:a16="http://schemas.microsoft.com/office/drawing/2014/main" id="{1EBBBDE9-A93F-CDB7-1B16-D5D87D9BFE6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1795463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00" name="Content Placeholder 3">
            <a:extLst>
              <a:ext uri="{FF2B5EF4-FFF2-40B4-BE49-F238E27FC236}">
                <a16:creationId xmlns:a16="http://schemas.microsoft.com/office/drawing/2014/main" id="{EB6920AD-42C1-7DE7-7784-82945421E2C5}"/>
              </a:ext>
            </a:extLst>
          </p:cNvPr>
          <p:cNvSpPr>
            <a:spLocks noGrp="1" noChangeArrowheads="1"/>
          </p:cNvSpPr>
          <p:nvPr>
            <p:ph sz="half" idx="2"/>
          </p:nvPr>
        </p:nvSpPr>
        <p:spPr/>
        <p:txBody>
          <a:bodyPr/>
          <a:lstStyle/>
          <a:p>
            <a:endParaRPr lang="en-US" altLang="en-US"/>
          </a:p>
        </p:txBody>
      </p:sp>
      <p:pic>
        <p:nvPicPr>
          <p:cNvPr id="29701" name="Picture 4">
            <a:extLst>
              <a:ext uri="{FF2B5EF4-FFF2-40B4-BE49-F238E27FC236}">
                <a16:creationId xmlns:a16="http://schemas.microsoft.com/office/drawing/2014/main" id="{2EF3395A-396B-77DA-0240-5390720AA93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7575352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IPv6 </a:t>
            </a:r>
            <a:r>
              <a:rPr lang="en-US" altLang="en-US" sz="2000" dirty="0">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pic>
        <p:nvPicPr>
          <p:cNvPr id="6" name="Picture 5">
            <a:extLst>
              <a:ext uri="{FF2B5EF4-FFF2-40B4-BE49-F238E27FC236}">
                <a16:creationId xmlns:a16="http://schemas.microsoft.com/office/drawing/2014/main" id="{9851BFC3-ED64-D83C-CAD7-8F394FCE4735}"/>
              </a:ext>
            </a:extLst>
          </p:cNvPr>
          <p:cNvPicPr>
            <a:picLocks noChangeAspect="1"/>
          </p:cNvPicPr>
          <p:nvPr/>
        </p:nvPicPr>
        <p:blipFill>
          <a:blip r:embed="rId3"/>
          <a:stretch>
            <a:fillRect/>
          </a:stretch>
        </p:blipFill>
        <p:spPr>
          <a:xfrm>
            <a:off x="2209800" y="2433109"/>
            <a:ext cx="7772400" cy="4194374"/>
          </a:xfrm>
          <a:prstGeom prst="rect">
            <a:avLst/>
          </a:prstGeom>
        </p:spPr>
      </p:pic>
    </p:spTree>
    <p:extLst>
      <p:ext uri="{BB962C8B-B14F-4D97-AF65-F5344CB8AC3E}">
        <p14:creationId xmlns:p14="http://schemas.microsoft.com/office/powerpoint/2010/main" val="22127214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a:t>
            </a:r>
            <a:r>
              <a:rPr kumimoji="0" lang="en-US" altLang="en-US" sz="3200" b="0" i="0" u="none" strike="noStrike" kern="1200" cap="none" spc="0" normalizeH="0" baseline="0" noProof="0" dirty="0">
                <a:ln>
                  <a:noFill/>
                </a:ln>
                <a:solidFill>
                  <a:prstClr val="black"/>
                </a:solidFill>
                <a:effectLst/>
                <a:uLnTx/>
                <a:uFillTx/>
                <a:ea typeface="ＭＳ Ｐゴシック" panose="020B0600070205080204" pitchFamily="34" charset="-128"/>
                <a:cs typeface="ＭＳ Ｐゴシック" panose="020B0600070205080204" pitchFamily="34" charset="-128"/>
              </a:rPr>
              <a:t>IPv6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17374842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a:ea typeface="ＭＳ Ｐゴシック" panose="020B0600070205080204" pitchFamily="34" charset="-128"/>
              </a:rPr>
              <a:t>Match+action</a:t>
            </a:r>
          </a:p>
          <a:p>
            <a:pPr lvl="1">
              <a:lnSpc>
                <a:spcPct val="100000"/>
              </a:lnSpc>
              <a:spcBef>
                <a:spcPts val="0"/>
              </a:spcBef>
            </a:pPr>
            <a:r>
              <a:rPr lang="en-US" altLang="en-US" sz="2800" dirty="0">
                <a:ea typeface="ＭＳ Ｐゴシック" panose="020B0600070205080204" pitchFamily="34" charset="-128"/>
              </a:rPr>
              <a:t>OpenFlow: match+action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generalized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dest.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match+action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src=10.1.2.3, dest=*.*.*.*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src=1.2.*.*, dest=*.*.*.*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 = *.*.*.*, dest=3.4.*.*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Src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Dst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Src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Dst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(ssh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a:solidFill>
                  <a:srgbClr val="C00000"/>
                </a:solidFill>
                <a:latin typeface="Calibri" panose="020F0502020204030204" pitchFamily="34" charset="0"/>
              </a:rPr>
              <a:t>match+action: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Middleboxes everywhere!</a:t>
            </a:r>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“whitebox”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match+action</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Tree>
    <p:extLst>
      <p:ext uri="{BB962C8B-B14F-4D97-AF65-F5344CB8AC3E}">
        <p14:creationId xmlns:p14="http://schemas.microsoft.com/office/powerpoint/2010/main" val="3430021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17172</TotalTime>
  <Words>6205</Words>
  <Application>Microsoft Office PowerPoint</Application>
  <PresentationFormat>Widescreen</PresentationFormat>
  <Paragraphs>1918</Paragraphs>
  <Slides>74</Slides>
  <Notes>70</Notes>
  <HiddenSlides>0</HiddenSlides>
  <MMClips>0</MMClips>
  <ScaleCrop>false</ScaleCrop>
  <HeadingPairs>
    <vt:vector size="6" baseType="variant">
      <vt:variant>
        <vt:lpstr>Fonts Used</vt:lpstr>
      </vt:variant>
      <vt:variant>
        <vt:i4>11</vt:i4>
      </vt:variant>
      <vt:variant>
        <vt:lpstr>Theme</vt:lpstr>
      </vt:variant>
      <vt:variant>
        <vt:i4>1</vt:i4>
      </vt:variant>
      <vt:variant>
        <vt:lpstr>Slide Titles</vt:lpstr>
      </vt:variant>
      <vt:variant>
        <vt:i4>74</vt:i4>
      </vt:variant>
    </vt:vector>
  </HeadingPairs>
  <TitlesOfParts>
    <vt:vector size="86" baseType="lpstr">
      <vt:lpstr>Arial</vt:lpstr>
      <vt:lpstr>Calibri</vt:lpstr>
      <vt:lpstr>Calibri Light</vt:lpstr>
      <vt:lpstr>Comic Sans MS</vt:lpstr>
      <vt:lpstr>Courier New</vt:lpstr>
      <vt:lpstr>Gill Sans MT</vt:lpstr>
      <vt:lpstr>Tahoma</vt:lpstr>
      <vt:lpstr>Times</vt:lpstr>
      <vt:lpstr>Times New Roman</vt:lpstr>
      <vt:lpstr>Wingdings</vt:lpstr>
      <vt:lpstr>ZapfDingbats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Destination-based forwarding</vt:lpstr>
      <vt:lpstr>Longest prefix matching</vt:lpstr>
      <vt:lpstr>Longest prefix matching</vt:lpstr>
      <vt:lpstr>Longest prefix matching</vt:lpstr>
      <vt:lpstr>Longest prefix matching</vt:lpstr>
      <vt:lpstr>Longest prefix matching</vt:lpstr>
      <vt:lpstr>Network layer: “data plane” roadmap</vt:lpstr>
      <vt:lpstr>Network Layer: Internet</vt:lpstr>
      <vt:lpstr>IP Datagram format</vt:lpstr>
      <vt:lpstr>IP fragmentation/reassembly</vt:lpstr>
      <vt:lpstr>IP fragmentation/reassembly</vt:lpstr>
      <vt:lpstr>PowerPoint Presentation</vt:lpstr>
      <vt:lpstr>PowerPoint Presentation</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Chapter 4: done!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lenovo</cp:lastModifiedBy>
  <cp:revision>527</cp:revision>
  <dcterms:created xsi:type="dcterms:W3CDTF">2020-01-18T07:24:59Z</dcterms:created>
  <dcterms:modified xsi:type="dcterms:W3CDTF">2025-01-24T19:25:43Z</dcterms:modified>
</cp:coreProperties>
</file>