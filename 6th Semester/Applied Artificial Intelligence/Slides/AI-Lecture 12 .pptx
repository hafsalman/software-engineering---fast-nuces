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6858000" cy="9144000"/>
  <p:embeddedFontLst>
    <p:embeddedFont>
      <p:font typeface="Robot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9" roundtripDataSignature="AMtx7mg4h2UmSYZCF+9ckch2/hIBQ+rE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FB7648-5AB3-4517-A31A-3DF8D1FCE0E4}">
  <a:tblStyle styleId="{62FB7648-5AB3-4517-A31A-3DF8D1FCE0E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Roboto-regular.fntdata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Roboto-italic.fntdata"/><Relationship Id="rId14" Type="http://schemas.openxmlformats.org/officeDocument/2006/relationships/slide" Target="slides/slide8.xml"/><Relationship Id="rId36" Type="http://schemas.openxmlformats.org/officeDocument/2006/relationships/font" Target="fonts/Roboto-bold.fntdata"/><Relationship Id="rId17" Type="http://schemas.openxmlformats.org/officeDocument/2006/relationships/slide" Target="slides/slide11.xml"/><Relationship Id="rId39" Type="http://customschemas.google.com/relationships/presentationmetadata" Target="metadata"/><Relationship Id="rId16" Type="http://schemas.openxmlformats.org/officeDocument/2006/relationships/slide" Target="slides/slide10.xml"/><Relationship Id="rId38" Type="http://schemas.openxmlformats.org/officeDocument/2006/relationships/font" Target="fonts/Roboto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0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0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30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3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" name="Google Shape;17;p3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3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2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2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3" name="Google Shape;23;p3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3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" name="Google Shape;27;p3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2" name="Google Shape;32;p34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34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3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5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5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9" name="Google Shape;39;p3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6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6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6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4" name="Google Shape;44;p36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3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7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8" name="Google Shape;48;p3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8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8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38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4" name="Google Shape;54;p3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p3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9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9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9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60" name="Google Shape;60;p3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2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2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Artificial Intelligence (AI-2002)</a:t>
            </a:r>
            <a:endParaRPr/>
          </a:p>
        </p:txBody>
      </p:sp>
      <p:sp>
        <p:nvSpPr>
          <p:cNvPr id="68" name="Google Shape;68;p1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300"/>
              <a:t>Lecture 12: Backtracking Search for CSPs</a:t>
            </a:r>
            <a:endParaRPr sz="2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300"/>
          </a:p>
        </p:txBody>
      </p:sp>
      <p:sp>
        <p:nvSpPr>
          <p:cNvPr id="69" name="Google Shape;69;p1"/>
          <p:cNvSpPr txBox="1"/>
          <p:nvPr>
            <p:ph idx="1" type="subTitle"/>
          </p:nvPr>
        </p:nvSpPr>
        <p:spPr>
          <a:xfrm>
            <a:off x="390525" y="33987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Mr. Saif ur Rehman (Lecturer – AI &amp; DS)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70" name="Google Shape;70;p1"/>
          <p:cNvSpPr txBox="1"/>
          <p:nvPr>
            <p:ph idx="1" type="subTitle"/>
          </p:nvPr>
        </p:nvSpPr>
        <p:spPr>
          <a:xfrm>
            <a:off x="390525" y="38559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saifurrehman@nu.edu.pk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"/>
          <p:cNvSpPr txBox="1"/>
          <p:nvPr>
            <p:ph idx="1" type="body"/>
          </p:nvPr>
        </p:nvSpPr>
        <p:spPr>
          <a:xfrm>
            <a:off x="460950" y="1381650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What is the Constraint Propagation: Inference in CSPs?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Can constant propagation eliminate redundant computations? How?</a:t>
            </a:r>
            <a:endParaRPr sz="2200"/>
          </a:p>
        </p:txBody>
      </p:sp>
      <p:pic>
        <p:nvPicPr>
          <p:cNvPr id="76" name="Google Shape;7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8150" y="2682450"/>
            <a:ext cx="2057175" cy="20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300"/>
              <a:t>Backtracking Search for CSPs</a:t>
            </a:r>
            <a:endParaRPr/>
          </a:p>
        </p:txBody>
      </p:sp>
      <p:sp>
        <p:nvSpPr>
          <p:cNvPr id="82" name="Google Shape;82;p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Sometimes, constraint propagation alone can solve the entire problem without requiring a search.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Sometimes we can finish the constraint propagation process and still have variables with multiple possible values.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In that case we have to search for a solution.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A Backtracking Search Algorithm is a general algorithmic technique used for solving constraint satisfaction problems (CSPs).</a:t>
            </a:r>
            <a:endParaRPr sz="2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300"/>
              <a:t>Backtracking Search for CSPs</a:t>
            </a:r>
            <a:endParaRPr/>
          </a:p>
        </p:txBody>
      </p:sp>
      <p:sp>
        <p:nvSpPr>
          <p:cNvPr id="88" name="Google Shape;88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Consider how a standard depth-limited search could solve CSPs.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A state would be a partial assignment, and an action would extend the assignment.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For a CSP with n variables of domain size d we would end up with a search tree where all the complete assignments (and thus all the solutions) are leaf nodes at depth n.</a:t>
            </a:r>
            <a:endParaRPr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300"/>
              <a:t>Backtracking Search for CSPs</a:t>
            </a:r>
            <a:endParaRPr/>
          </a:p>
        </p:txBody>
      </p:sp>
      <p:pic>
        <p:nvPicPr>
          <p:cNvPr id="94" name="Google Shape;9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7025" y="1568975"/>
            <a:ext cx="5007001" cy="33322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5"/>
          <p:cNvSpPr txBox="1"/>
          <p:nvPr/>
        </p:nvSpPr>
        <p:spPr>
          <a:xfrm>
            <a:off x="253025" y="1813500"/>
            <a:ext cx="37140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b="0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Branching factor at the top level would be nd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b="0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 the next level, the branching factor is (n − 1)d, and so on for n levels.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b="0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 the tree has n!·     leaves.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9175" y="3345250"/>
            <a:ext cx="295275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300"/>
              <a:t>Backtracking Search for CSPs</a:t>
            </a:r>
            <a:endParaRPr/>
          </a:p>
        </p:txBody>
      </p:sp>
      <p:sp>
        <p:nvSpPr>
          <p:cNvPr id="102" name="Google Shape;102;p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We can get back that factor of n! by recognizing a crucial property of CSPs: </a:t>
            </a:r>
            <a:r>
              <a:rPr b="1" lang="en" sz="2100"/>
              <a:t>commutativity</a:t>
            </a:r>
            <a:r>
              <a:rPr lang="en" sz="2100"/>
              <a:t>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A problem is commutative if the order of application of any given set of actions does Commutativity not matter.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In CSPs, it makes no difference if we first assign NSW = red and then SA = blue, or the other way around.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With this restriction, the number of leaves is      .</a:t>
            </a:r>
            <a:endParaRPr sz="2100"/>
          </a:p>
        </p:txBody>
      </p:sp>
      <p:pic>
        <p:nvPicPr>
          <p:cNvPr id="103" name="Google Shape;10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53500" y="4279700"/>
            <a:ext cx="295275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300"/>
              <a:t> Backtracking Algorithm</a:t>
            </a:r>
            <a:endParaRPr/>
          </a:p>
        </p:txBody>
      </p:sp>
      <p:pic>
        <p:nvPicPr>
          <p:cNvPr id="109" name="Google Shape;10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950" y="1037425"/>
            <a:ext cx="6487451" cy="410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300"/>
              <a:t>Backtracking Algorithm</a:t>
            </a:r>
            <a:endParaRPr/>
          </a:p>
        </p:txBody>
      </p:sp>
      <p:graphicFrame>
        <p:nvGraphicFramePr>
          <p:cNvPr id="115" name="Google Shape;115;p8"/>
          <p:cNvGraphicFramePr/>
          <p:nvPr/>
        </p:nvGraphicFramePr>
        <p:xfrm>
          <a:off x="2570600" y="213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{62FB7648-5AB3-4517-A31A-3DF8D1FCE0E4}</a:tableStyleId>
              </a:tblPr>
              <a:tblGrid>
                <a:gridCol w="1000700"/>
                <a:gridCol w="1000700"/>
                <a:gridCol w="1000700"/>
                <a:gridCol w="10007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A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B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C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D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6" name="Google Shape;116;p8"/>
          <p:cNvSpPr txBox="1"/>
          <p:nvPr/>
        </p:nvSpPr>
        <p:spPr>
          <a:xfrm>
            <a:off x="78175" y="1992575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4-Queens Problem</a:t>
            </a:r>
            <a:endParaRPr b="1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300"/>
              <a:t>Backtracking Search for CSPs</a:t>
            </a:r>
            <a:endParaRPr/>
          </a:p>
        </p:txBody>
      </p:sp>
      <p:graphicFrame>
        <p:nvGraphicFramePr>
          <p:cNvPr id="122" name="Google Shape;122;p9"/>
          <p:cNvGraphicFramePr/>
          <p:nvPr/>
        </p:nvGraphicFramePr>
        <p:xfrm>
          <a:off x="2570600" y="213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{62FB7648-5AB3-4517-A31A-3DF8D1FCE0E4}</a:tableStyleId>
              </a:tblPr>
              <a:tblGrid>
                <a:gridCol w="1000700"/>
                <a:gridCol w="1000700"/>
                <a:gridCol w="1000700"/>
                <a:gridCol w="10007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A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B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C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D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Q1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300"/>
              <a:t>Backtracking Search for CSPs</a:t>
            </a:r>
            <a:endParaRPr/>
          </a:p>
        </p:txBody>
      </p:sp>
      <p:graphicFrame>
        <p:nvGraphicFramePr>
          <p:cNvPr id="128" name="Google Shape;128;p10"/>
          <p:cNvGraphicFramePr/>
          <p:nvPr/>
        </p:nvGraphicFramePr>
        <p:xfrm>
          <a:off x="2570600" y="213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{62FB7648-5AB3-4517-A31A-3DF8D1FCE0E4}</a:tableStyleId>
              </a:tblPr>
              <a:tblGrid>
                <a:gridCol w="1000700"/>
                <a:gridCol w="1000700"/>
                <a:gridCol w="1000700"/>
                <a:gridCol w="10007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A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B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C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D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Q1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Q2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300"/>
              <a:t>Backtracking Search for CSPs</a:t>
            </a:r>
            <a:endParaRPr/>
          </a:p>
        </p:txBody>
      </p:sp>
      <p:graphicFrame>
        <p:nvGraphicFramePr>
          <p:cNvPr id="134" name="Google Shape;134;p11"/>
          <p:cNvGraphicFramePr/>
          <p:nvPr/>
        </p:nvGraphicFramePr>
        <p:xfrm>
          <a:off x="2570600" y="213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{62FB7648-5AB3-4517-A31A-3DF8D1FCE0E4}</a:tableStyleId>
              </a:tblPr>
              <a:tblGrid>
                <a:gridCol w="1000700"/>
                <a:gridCol w="1000700"/>
                <a:gridCol w="1000700"/>
                <a:gridCol w="10007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A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B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C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D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Q1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Q2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300"/>
              <a:t>Backtracking Search for CSPs</a:t>
            </a:r>
            <a:endParaRPr/>
          </a:p>
        </p:txBody>
      </p:sp>
      <p:graphicFrame>
        <p:nvGraphicFramePr>
          <p:cNvPr id="140" name="Google Shape;140;p12"/>
          <p:cNvGraphicFramePr/>
          <p:nvPr/>
        </p:nvGraphicFramePr>
        <p:xfrm>
          <a:off x="2570600" y="213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{62FB7648-5AB3-4517-A31A-3DF8D1FCE0E4}</a:tableStyleId>
              </a:tblPr>
              <a:tblGrid>
                <a:gridCol w="1000700"/>
                <a:gridCol w="1000700"/>
                <a:gridCol w="1000700"/>
                <a:gridCol w="10007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A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B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C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D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Q1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Q2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1" name="Google Shape;141;p12"/>
          <p:cNvSpPr/>
          <p:nvPr/>
        </p:nvSpPr>
        <p:spPr>
          <a:xfrm rot="-10608339">
            <a:off x="4243590" y="4133992"/>
            <a:ext cx="656821" cy="625569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3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300"/>
              <a:t>Backtracking Search for CSPs</a:t>
            </a:r>
            <a:endParaRPr/>
          </a:p>
        </p:txBody>
      </p:sp>
      <p:graphicFrame>
        <p:nvGraphicFramePr>
          <p:cNvPr id="147" name="Google Shape;147;p13"/>
          <p:cNvGraphicFramePr/>
          <p:nvPr/>
        </p:nvGraphicFramePr>
        <p:xfrm>
          <a:off x="2570600" y="213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{62FB7648-5AB3-4517-A31A-3DF8D1FCE0E4}</a:tableStyleId>
              </a:tblPr>
              <a:tblGrid>
                <a:gridCol w="1000700"/>
                <a:gridCol w="1000700"/>
                <a:gridCol w="1000700"/>
                <a:gridCol w="10007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A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B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C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D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Q1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Q2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300"/>
              <a:t>Backtracking Search for CSPs</a:t>
            </a:r>
            <a:endParaRPr/>
          </a:p>
        </p:txBody>
      </p:sp>
      <p:graphicFrame>
        <p:nvGraphicFramePr>
          <p:cNvPr id="153" name="Google Shape;153;p14"/>
          <p:cNvGraphicFramePr/>
          <p:nvPr/>
        </p:nvGraphicFramePr>
        <p:xfrm>
          <a:off x="2570600" y="213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{62FB7648-5AB3-4517-A31A-3DF8D1FCE0E4}</a:tableStyleId>
              </a:tblPr>
              <a:tblGrid>
                <a:gridCol w="1000700"/>
                <a:gridCol w="1000700"/>
                <a:gridCol w="1000700"/>
                <a:gridCol w="10007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A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B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C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D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Q1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Q3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Q2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300"/>
              <a:t>Backtracking Search for CSPs</a:t>
            </a:r>
            <a:endParaRPr/>
          </a:p>
        </p:txBody>
      </p:sp>
      <p:graphicFrame>
        <p:nvGraphicFramePr>
          <p:cNvPr id="159" name="Google Shape;159;p15"/>
          <p:cNvGraphicFramePr/>
          <p:nvPr/>
        </p:nvGraphicFramePr>
        <p:xfrm>
          <a:off x="2570600" y="213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{62FB7648-5AB3-4517-A31A-3DF8D1FCE0E4}</a:tableStyleId>
              </a:tblPr>
              <a:tblGrid>
                <a:gridCol w="1000700"/>
                <a:gridCol w="1000700"/>
                <a:gridCol w="1000700"/>
                <a:gridCol w="10007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A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B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C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D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Q1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Q3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Q2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6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300"/>
              <a:t>Backtracking Search for CSPs</a:t>
            </a:r>
            <a:endParaRPr/>
          </a:p>
        </p:txBody>
      </p:sp>
      <p:graphicFrame>
        <p:nvGraphicFramePr>
          <p:cNvPr id="165" name="Google Shape;165;p16"/>
          <p:cNvGraphicFramePr/>
          <p:nvPr/>
        </p:nvGraphicFramePr>
        <p:xfrm>
          <a:off x="2570600" y="213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{62FB7648-5AB3-4517-A31A-3DF8D1FCE0E4}</a:tableStyleId>
              </a:tblPr>
              <a:tblGrid>
                <a:gridCol w="1000700"/>
                <a:gridCol w="1000700"/>
                <a:gridCol w="1000700"/>
                <a:gridCol w="10007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A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B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C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D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Q1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Q3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Q2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6" name="Google Shape;166;p16"/>
          <p:cNvSpPr/>
          <p:nvPr/>
        </p:nvSpPr>
        <p:spPr>
          <a:xfrm rot="10800000">
            <a:off x="5242500" y="4116175"/>
            <a:ext cx="719100" cy="5673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7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300"/>
              <a:t>Backtracking Search for CSPs</a:t>
            </a:r>
            <a:endParaRPr/>
          </a:p>
        </p:txBody>
      </p:sp>
      <p:graphicFrame>
        <p:nvGraphicFramePr>
          <p:cNvPr id="172" name="Google Shape;172;p17"/>
          <p:cNvGraphicFramePr/>
          <p:nvPr/>
        </p:nvGraphicFramePr>
        <p:xfrm>
          <a:off x="2570600" y="213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{62FB7648-5AB3-4517-A31A-3DF8D1FCE0E4}</a:tableStyleId>
              </a:tblPr>
              <a:tblGrid>
                <a:gridCol w="1000700"/>
                <a:gridCol w="1000700"/>
                <a:gridCol w="1000700"/>
                <a:gridCol w="10007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A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B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C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D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Q1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Q2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300"/>
              <a:t>Backtracking Search for CSPs</a:t>
            </a:r>
            <a:endParaRPr/>
          </a:p>
        </p:txBody>
      </p:sp>
      <p:graphicFrame>
        <p:nvGraphicFramePr>
          <p:cNvPr id="178" name="Google Shape;178;p18"/>
          <p:cNvGraphicFramePr/>
          <p:nvPr/>
        </p:nvGraphicFramePr>
        <p:xfrm>
          <a:off x="2570600" y="213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{62FB7648-5AB3-4517-A31A-3DF8D1FCE0E4}</a:tableStyleId>
              </a:tblPr>
              <a:tblGrid>
                <a:gridCol w="1000700"/>
                <a:gridCol w="1000700"/>
                <a:gridCol w="1000700"/>
                <a:gridCol w="10007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A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B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C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D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Q1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Q2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9" name="Google Shape;179;p18"/>
          <p:cNvSpPr/>
          <p:nvPr/>
        </p:nvSpPr>
        <p:spPr>
          <a:xfrm rot="-10449114">
            <a:off x="4195184" y="4215900"/>
            <a:ext cx="609472" cy="625442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300"/>
              <a:t>Backtracking Search for CSPs</a:t>
            </a:r>
            <a:endParaRPr/>
          </a:p>
        </p:txBody>
      </p:sp>
      <p:graphicFrame>
        <p:nvGraphicFramePr>
          <p:cNvPr id="185" name="Google Shape;185;p19"/>
          <p:cNvGraphicFramePr/>
          <p:nvPr/>
        </p:nvGraphicFramePr>
        <p:xfrm>
          <a:off x="2570600" y="213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{62FB7648-5AB3-4517-A31A-3DF8D1FCE0E4}</a:tableStyleId>
              </a:tblPr>
              <a:tblGrid>
                <a:gridCol w="1000700"/>
                <a:gridCol w="1000700"/>
                <a:gridCol w="1000700"/>
                <a:gridCol w="10007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A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B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C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D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Q1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6" name="Google Shape;186;p19"/>
          <p:cNvSpPr/>
          <p:nvPr/>
        </p:nvSpPr>
        <p:spPr>
          <a:xfrm rot="-10449114">
            <a:off x="3194609" y="4145600"/>
            <a:ext cx="609472" cy="625442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300"/>
              <a:t>Backtracking Search for CSPs</a:t>
            </a:r>
            <a:endParaRPr/>
          </a:p>
        </p:txBody>
      </p:sp>
      <p:graphicFrame>
        <p:nvGraphicFramePr>
          <p:cNvPr id="192" name="Google Shape;192;p20"/>
          <p:cNvGraphicFramePr/>
          <p:nvPr/>
        </p:nvGraphicFramePr>
        <p:xfrm>
          <a:off x="2570600" y="213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{62FB7648-5AB3-4517-A31A-3DF8D1FCE0E4}</a:tableStyleId>
              </a:tblPr>
              <a:tblGrid>
                <a:gridCol w="1000700"/>
                <a:gridCol w="1000700"/>
                <a:gridCol w="1000700"/>
                <a:gridCol w="10007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A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B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C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D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Q1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300"/>
              <a:t>Backtracking Search for CSPs</a:t>
            </a:r>
            <a:endParaRPr/>
          </a:p>
        </p:txBody>
      </p:sp>
      <p:graphicFrame>
        <p:nvGraphicFramePr>
          <p:cNvPr id="198" name="Google Shape;198;p21"/>
          <p:cNvGraphicFramePr/>
          <p:nvPr/>
        </p:nvGraphicFramePr>
        <p:xfrm>
          <a:off x="2570600" y="213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{62FB7648-5AB3-4517-A31A-3DF8D1FCE0E4}</a:tableStyleId>
              </a:tblPr>
              <a:tblGrid>
                <a:gridCol w="1000700"/>
                <a:gridCol w="1000700"/>
                <a:gridCol w="1000700"/>
                <a:gridCol w="10007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A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B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C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D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Q1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Q2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300"/>
              <a:t>Backtracking Search for CSPs</a:t>
            </a:r>
            <a:endParaRPr/>
          </a:p>
        </p:txBody>
      </p:sp>
      <p:graphicFrame>
        <p:nvGraphicFramePr>
          <p:cNvPr id="204" name="Google Shape;204;p22"/>
          <p:cNvGraphicFramePr/>
          <p:nvPr/>
        </p:nvGraphicFramePr>
        <p:xfrm>
          <a:off x="2570600" y="213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{62FB7648-5AB3-4517-A31A-3DF8D1FCE0E4}</a:tableStyleId>
              </a:tblPr>
              <a:tblGrid>
                <a:gridCol w="1000700"/>
                <a:gridCol w="1000700"/>
                <a:gridCol w="1000700"/>
                <a:gridCol w="10007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A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B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C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D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Q3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Q1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Q2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3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300"/>
              <a:t>Backtracking Search for CSPs</a:t>
            </a:r>
            <a:endParaRPr/>
          </a:p>
        </p:txBody>
      </p:sp>
      <p:graphicFrame>
        <p:nvGraphicFramePr>
          <p:cNvPr id="210" name="Google Shape;210;p23"/>
          <p:cNvGraphicFramePr/>
          <p:nvPr/>
        </p:nvGraphicFramePr>
        <p:xfrm>
          <a:off x="2570600" y="213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{62FB7648-5AB3-4517-A31A-3DF8D1FCE0E4}</a:tableStyleId>
              </a:tblPr>
              <a:tblGrid>
                <a:gridCol w="1000700"/>
                <a:gridCol w="1000700"/>
                <a:gridCol w="1000700"/>
                <a:gridCol w="10007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A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B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C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D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Q3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Q1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Q4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Q2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1" name="Google Shape;211;p23"/>
          <p:cNvSpPr txBox="1"/>
          <p:nvPr/>
        </p:nvSpPr>
        <p:spPr>
          <a:xfrm>
            <a:off x="458600" y="2590000"/>
            <a:ext cx="17979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Solution:</a:t>
            </a:r>
            <a:endParaRPr b="1" i="0" sz="22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4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300"/>
              <a:t>Backtracking Search for CSPs</a:t>
            </a:r>
            <a:endParaRPr/>
          </a:p>
        </p:txBody>
      </p:sp>
      <p:sp>
        <p:nvSpPr>
          <p:cNvPr id="217" name="Google Shape;217;p24"/>
          <p:cNvSpPr txBox="1"/>
          <p:nvPr/>
        </p:nvSpPr>
        <p:spPr>
          <a:xfrm>
            <a:off x="1657175" y="2126175"/>
            <a:ext cx="63681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Now extend the algorithm for the 8-queens problem.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5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300"/>
              <a:t>Variable and value ordering</a:t>
            </a:r>
            <a:endParaRPr/>
          </a:p>
        </p:txBody>
      </p:sp>
      <p:pic>
        <p:nvPicPr>
          <p:cNvPr id="223" name="Google Shape;22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950" y="1940250"/>
            <a:ext cx="6381750" cy="8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5"/>
          <p:cNvSpPr txBox="1"/>
          <p:nvPr/>
        </p:nvSpPr>
        <p:spPr>
          <a:xfrm>
            <a:off x="460950" y="2826075"/>
            <a:ext cx="80334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b="0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simplest strategy for SELECT-UNASSIGNED-VARIABLE is static ordering.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b="0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Choose the variables in order or randomly.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b="0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Neither strategy is optimal.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300"/>
              <a:t>Variable and value ordering: minimum-remaining-values (MRV) heuristic.</a:t>
            </a:r>
            <a:endParaRPr/>
          </a:p>
        </p:txBody>
      </p:sp>
      <p:sp>
        <p:nvSpPr>
          <p:cNvPr id="230" name="Google Shape;230;p26"/>
          <p:cNvSpPr txBox="1"/>
          <p:nvPr/>
        </p:nvSpPr>
        <p:spPr>
          <a:xfrm>
            <a:off x="460950" y="1894500"/>
            <a:ext cx="80334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b="0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intuitive idea—choosing the variable with the fewest “legal” values—is called the minimum-remaining-values (MRV) heuristic.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b="0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It also has been called the “most constrained variable” or “fail-first” heuristic.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2075" y="2998025"/>
            <a:ext cx="2311575" cy="214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7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300"/>
              <a:t>Variable and value ordering: degree heuristic</a:t>
            </a:r>
            <a:endParaRPr/>
          </a:p>
        </p:txBody>
      </p:sp>
      <p:sp>
        <p:nvSpPr>
          <p:cNvPr id="237" name="Google Shape;237;p27"/>
          <p:cNvSpPr txBox="1"/>
          <p:nvPr/>
        </p:nvSpPr>
        <p:spPr>
          <a:xfrm>
            <a:off x="460950" y="1894500"/>
            <a:ext cx="80334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b="0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MRV heuristic doesn’t help at all in choosing the first region to color in Australia map.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b="0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this case, the degree heuristic comes Degree heuristic in handy.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2075" y="2998025"/>
            <a:ext cx="2311575" cy="214547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7"/>
          <p:cNvSpPr txBox="1"/>
          <p:nvPr/>
        </p:nvSpPr>
        <p:spPr>
          <a:xfrm>
            <a:off x="488600" y="2860975"/>
            <a:ext cx="48516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b="0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Selecting the variable that is involved in the largest number of constraints on other unassigned variables.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b="0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 is the variable with highest degree, 5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8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300"/>
              <a:t>Variable and value ordering: least-constraining-value heuristic</a:t>
            </a:r>
            <a:endParaRPr/>
          </a:p>
        </p:txBody>
      </p:sp>
      <p:sp>
        <p:nvSpPr>
          <p:cNvPr id="245" name="Google Shape;245;p28"/>
          <p:cNvSpPr txBox="1"/>
          <p:nvPr/>
        </p:nvSpPr>
        <p:spPr>
          <a:xfrm>
            <a:off x="460950" y="1894500"/>
            <a:ext cx="80334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b="0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Once a variable has been selected, the algorithm must decide on the order in which to examine its values.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b="0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least-constraining-value heuristic is effective for this.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6" name="Google Shape;24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2075" y="2998025"/>
            <a:ext cx="2311575" cy="214547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8"/>
          <p:cNvSpPr txBox="1"/>
          <p:nvPr/>
        </p:nvSpPr>
        <p:spPr>
          <a:xfrm>
            <a:off x="488600" y="2860975"/>
            <a:ext cx="48516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b="0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prefers the value that rules out the fewest choices for the neighboring variables in the constraint graph.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